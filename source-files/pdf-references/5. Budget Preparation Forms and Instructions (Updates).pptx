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3" r:id="rId2"/>
    <p:sldId id="264" r:id="rId3"/>
    <p:sldId id="265" r:id="rId4"/>
    <p:sldId id="266" r:id="rId5"/>
    <p:sldId id="267" r:id="rId6"/>
    <p:sldId id="301" r:id="rId7"/>
    <p:sldId id="273" r:id="rId8"/>
    <p:sldId id="274" r:id="rId9"/>
    <p:sldId id="275" r:id="rId10"/>
    <p:sldId id="277" r:id="rId11"/>
    <p:sldId id="281" r:id="rId12"/>
    <p:sldId id="278" r:id="rId13"/>
    <p:sldId id="282" r:id="rId14"/>
    <p:sldId id="283" r:id="rId15"/>
    <p:sldId id="272" r:id="rId16"/>
    <p:sldId id="286" r:id="rId17"/>
    <p:sldId id="287" r:id="rId18"/>
    <p:sldId id="288" r:id="rId19"/>
    <p:sldId id="293" r:id="rId20"/>
    <p:sldId id="294" r:id="rId21"/>
    <p:sldId id="295" r:id="rId22"/>
    <p:sldId id="296" r:id="rId23"/>
    <p:sldId id="297" r:id="rId24"/>
    <p:sldId id="298" r:id="rId25"/>
    <p:sldId id="299" r:id="rId26"/>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CC00"/>
    <a:srgbClr val="F3D625"/>
    <a:srgbClr val="F7ED21"/>
    <a:srgbClr val="000000"/>
    <a:srgbClr val="FFD319"/>
    <a:srgbClr val="AA8300"/>
    <a:srgbClr val="FF6600"/>
    <a:srgbClr val="FF9900"/>
    <a:srgbClr val="7D27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1808" autoAdjust="0"/>
  </p:normalViewPr>
  <p:slideViewPr>
    <p:cSldViewPr snapToGrid="0">
      <p:cViewPr varScale="1">
        <p:scale>
          <a:sx n="51" d="100"/>
          <a:sy n="51" d="100"/>
        </p:scale>
        <p:origin x="18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2949787" cy="498693"/>
          </a:xfrm>
          <a:prstGeom prst="rect">
            <a:avLst/>
          </a:prstGeom>
        </p:spPr>
        <p:txBody>
          <a:bodyPr vert="horz" lIns="95638" tIns="47818" rIns="95638" bIns="47818" rtlCol="0"/>
          <a:lstStyle>
            <a:lvl1pPr algn="l">
              <a:defRPr sz="1200"/>
            </a:lvl1pPr>
          </a:lstStyle>
          <a:p>
            <a:endParaRPr lang="en-PH"/>
          </a:p>
        </p:txBody>
      </p:sp>
      <p:sp>
        <p:nvSpPr>
          <p:cNvPr id="3" name="Date Placeholder 2"/>
          <p:cNvSpPr>
            <a:spLocks noGrp="1"/>
          </p:cNvSpPr>
          <p:nvPr>
            <p:ph type="dt" idx="1"/>
          </p:nvPr>
        </p:nvSpPr>
        <p:spPr>
          <a:xfrm>
            <a:off x="3855839" y="0"/>
            <a:ext cx="2949787" cy="498693"/>
          </a:xfrm>
          <a:prstGeom prst="rect">
            <a:avLst/>
          </a:prstGeom>
        </p:spPr>
        <p:txBody>
          <a:bodyPr vert="horz" lIns="95638" tIns="47818" rIns="95638" bIns="47818" rtlCol="0"/>
          <a:lstStyle>
            <a:lvl1pPr algn="r">
              <a:defRPr sz="1200"/>
            </a:lvl1pPr>
          </a:lstStyle>
          <a:p>
            <a:fld id="{DCEBA939-1ACE-4907-A91F-8073EAFBD714}" type="datetimeFigureOut">
              <a:rPr lang="en-PH" smtClean="0"/>
              <a:t>28/01/2026</a:t>
            </a:fld>
            <a:endParaRPr lang="en-PH"/>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5638" tIns="47818" rIns="95638" bIns="47818" rtlCol="0" anchor="ctr"/>
          <a:lstStyle/>
          <a:p>
            <a:endParaRPr lang="en-PH"/>
          </a:p>
        </p:txBody>
      </p:sp>
      <p:sp>
        <p:nvSpPr>
          <p:cNvPr id="5" name="Notes Placeholder 4"/>
          <p:cNvSpPr>
            <a:spLocks noGrp="1"/>
          </p:cNvSpPr>
          <p:nvPr>
            <p:ph type="body" sz="quarter" idx="3"/>
          </p:nvPr>
        </p:nvSpPr>
        <p:spPr>
          <a:xfrm>
            <a:off x="680720" y="4783309"/>
            <a:ext cx="5445760" cy="3913614"/>
          </a:xfrm>
          <a:prstGeom prst="rect">
            <a:avLst/>
          </a:prstGeom>
        </p:spPr>
        <p:txBody>
          <a:bodyPr vert="horz" lIns="95638" tIns="47818" rIns="95638" bIns="4781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2" y="9440646"/>
            <a:ext cx="2949787" cy="498692"/>
          </a:xfrm>
          <a:prstGeom prst="rect">
            <a:avLst/>
          </a:prstGeom>
        </p:spPr>
        <p:txBody>
          <a:bodyPr vert="horz" lIns="95638" tIns="47818" rIns="95638" bIns="47818" rtlCol="0" anchor="b"/>
          <a:lstStyle>
            <a:lvl1pPr algn="l">
              <a:defRPr sz="1200"/>
            </a:lvl1pPr>
          </a:lstStyle>
          <a:p>
            <a:endParaRPr lang="en-PH"/>
          </a:p>
        </p:txBody>
      </p:sp>
      <p:sp>
        <p:nvSpPr>
          <p:cNvPr id="7" name="Slide Number Placeholder 6"/>
          <p:cNvSpPr>
            <a:spLocks noGrp="1"/>
          </p:cNvSpPr>
          <p:nvPr>
            <p:ph type="sldNum" sz="quarter" idx="5"/>
          </p:nvPr>
        </p:nvSpPr>
        <p:spPr>
          <a:xfrm>
            <a:off x="3855839" y="9440646"/>
            <a:ext cx="2949787" cy="498692"/>
          </a:xfrm>
          <a:prstGeom prst="rect">
            <a:avLst/>
          </a:prstGeom>
        </p:spPr>
        <p:txBody>
          <a:bodyPr vert="horz" lIns="95638" tIns="47818" rIns="95638" bIns="47818" rtlCol="0" anchor="b"/>
          <a:lstStyle>
            <a:lvl1pPr algn="r">
              <a:defRPr sz="1200"/>
            </a:lvl1pPr>
          </a:lstStyle>
          <a:p>
            <a:fld id="{F02B7118-161F-4A10-89BB-0B0DC35CA8C8}" type="slidenum">
              <a:rPr lang="en-PH" smtClean="0"/>
              <a:t>‹#›</a:t>
            </a:fld>
            <a:endParaRPr lang="en-PH"/>
          </a:p>
        </p:txBody>
      </p:sp>
    </p:spTree>
    <p:extLst>
      <p:ext uri="{BB962C8B-B14F-4D97-AF65-F5344CB8AC3E}">
        <p14:creationId xmlns:p14="http://schemas.microsoft.com/office/powerpoint/2010/main" val="2899389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56370"/>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1</a:t>
            </a:fld>
            <a:endParaRPr lang="en-PH"/>
          </a:p>
        </p:txBody>
      </p:sp>
    </p:spTree>
    <p:extLst>
      <p:ext uri="{BB962C8B-B14F-4D97-AF65-F5344CB8AC3E}">
        <p14:creationId xmlns:p14="http://schemas.microsoft.com/office/powerpoint/2010/main" val="2696145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2</a:t>
            </a:fld>
            <a:endParaRPr lang="en-PH"/>
          </a:p>
        </p:txBody>
      </p:sp>
    </p:spTree>
    <p:extLst>
      <p:ext uri="{BB962C8B-B14F-4D97-AF65-F5344CB8AC3E}">
        <p14:creationId xmlns:p14="http://schemas.microsoft.com/office/powerpoint/2010/main" val="4204908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3</a:t>
            </a:fld>
            <a:endParaRPr lang="en-PH"/>
          </a:p>
        </p:txBody>
      </p:sp>
    </p:spTree>
    <p:extLst>
      <p:ext uri="{BB962C8B-B14F-4D97-AF65-F5344CB8AC3E}">
        <p14:creationId xmlns:p14="http://schemas.microsoft.com/office/powerpoint/2010/main" val="431695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4</a:t>
            </a:fld>
            <a:endParaRPr lang="en-PH"/>
          </a:p>
        </p:txBody>
      </p:sp>
    </p:spTree>
    <p:extLst>
      <p:ext uri="{BB962C8B-B14F-4D97-AF65-F5344CB8AC3E}">
        <p14:creationId xmlns:p14="http://schemas.microsoft.com/office/powerpoint/2010/main" val="3727598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5</a:t>
            </a:fld>
            <a:endParaRPr lang="en-PH"/>
          </a:p>
        </p:txBody>
      </p:sp>
    </p:spTree>
    <p:extLst>
      <p:ext uri="{BB962C8B-B14F-4D97-AF65-F5344CB8AC3E}">
        <p14:creationId xmlns:p14="http://schemas.microsoft.com/office/powerpoint/2010/main" val="301012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DE4DE-3056-922C-A5B4-D494D6BCE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A8A13-5A2F-D8EE-7410-C3EFDBE54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E407D-A434-0B1E-8CA7-8F6D01F4FF6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7CF409F-1BDC-91AC-9FE8-33E22CB2081E}"/>
              </a:ext>
            </a:extLst>
          </p:cNvPr>
          <p:cNvSpPr>
            <a:spLocks noGrp="1"/>
          </p:cNvSpPr>
          <p:nvPr>
            <p:ph type="sldNum" sz="quarter" idx="5"/>
          </p:nvPr>
        </p:nvSpPr>
        <p:spPr/>
        <p:txBody>
          <a:bodyPr/>
          <a:lstStyle/>
          <a:p>
            <a:fld id="{F02B7118-161F-4A10-89BB-0B0DC35CA8C8}" type="slidenum">
              <a:rPr lang="en-PH" smtClean="0"/>
              <a:t>6</a:t>
            </a:fld>
            <a:endParaRPr lang="en-PH"/>
          </a:p>
        </p:txBody>
      </p:sp>
    </p:spTree>
    <p:extLst>
      <p:ext uri="{BB962C8B-B14F-4D97-AF65-F5344CB8AC3E}">
        <p14:creationId xmlns:p14="http://schemas.microsoft.com/office/powerpoint/2010/main" val="1540778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b="1" dirty="0"/>
          </a:p>
        </p:txBody>
      </p:sp>
      <p:sp>
        <p:nvSpPr>
          <p:cNvPr id="4" name="Slide Number Placeholder 3"/>
          <p:cNvSpPr>
            <a:spLocks noGrp="1"/>
          </p:cNvSpPr>
          <p:nvPr>
            <p:ph type="sldNum" sz="quarter" idx="5"/>
          </p:nvPr>
        </p:nvSpPr>
        <p:spPr/>
        <p:txBody>
          <a:bodyPr/>
          <a:lstStyle/>
          <a:p>
            <a:fld id="{F02B7118-161F-4A10-89BB-0B0DC35CA8C8}" type="slidenum">
              <a:rPr lang="en-PH" smtClean="0"/>
              <a:t>7</a:t>
            </a:fld>
            <a:endParaRPr lang="en-PH"/>
          </a:p>
        </p:txBody>
      </p:sp>
    </p:spTree>
    <p:extLst>
      <p:ext uri="{BB962C8B-B14F-4D97-AF65-F5344CB8AC3E}">
        <p14:creationId xmlns:p14="http://schemas.microsoft.com/office/powerpoint/2010/main" val="2255830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8</a:t>
            </a:fld>
            <a:endParaRPr lang="en-PH"/>
          </a:p>
        </p:txBody>
      </p:sp>
    </p:spTree>
    <p:extLst>
      <p:ext uri="{BB962C8B-B14F-4D97-AF65-F5344CB8AC3E}">
        <p14:creationId xmlns:p14="http://schemas.microsoft.com/office/powerpoint/2010/main" val="1367940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56370"/>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9</a:t>
            </a:fld>
            <a:endParaRPr lang="en-PH"/>
          </a:p>
        </p:txBody>
      </p:sp>
    </p:spTree>
    <p:extLst>
      <p:ext uri="{BB962C8B-B14F-4D97-AF65-F5344CB8AC3E}">
        <p14:creationId xmlns:p14="http://schemas.microsoft.com/office/powerpoint/2010/main" val="2431762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b="0" dirty="0"/>
          </a:p>
        </p:txBody>
      </p:sp>
      <p:sp>
        <p:nvSpPr>
          <p:cNvPr id="4" name="Slide Number Placeholder 3"/>
          <p:cNvSpPr>
            <a:spLocks noGrp="1"/>
          </p:cNvSpPr>
          <p:nvPr>
            <p:ph type="sldNum" sz="quarter" idx="5"/>
          </p:nvPr>
        </p:nvSpPr>
        <p:spPr/>
        <p:txBody>
          <a:bodyPr/>
          <a:lstStyle/>
          <a:p>
            <a:fld id="{F02B7118-161F-4A10-89BB-0B0DC35CA8C8}" type="slidenum">
              <a:rPr lang="en-PH" smtClean="0"/>
              <a:t>10</a:t>
            </a:fld>
            <a:endParaRPr lang="en-PH"/>
          </a:p>
        </p:txBody>
      </p:sp>
    </p:spTree>
    <p:extLst>
      <p:ext uri="{BB962C8B-B14F-4D97-AF65-F5344CB8AC3E}">
        <p14:creationId xmlns:p14="http://schemas.microsoft.com/office/powerpoint/2010/main" val="4221152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11</a:t>
            </a:fld>
            <a:endParaRPr lang="en-PH"/>
          </a:p>
        </p:txBody>
      </p:sp>
    </p:spTree>
    <p:extLst>
      <p:ext uri="{BB962C8B-B14F-4D97-AF65-F5344CB8AC3E}">
        <p14:creationId xmlns:p14="http://schemas.microsoft.com/office/powerpoint/2010/main" val="1186379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12</a:t>
            </a:fld>
            <a:endParaRPr lang="en-PH"/>
          </a:p>
        </p:txBody>
      </p:sp>
    </p:spTree>
    <p:extLst>
      <p:ext uri="{BB962C8B-B14F-4D97-AF65-F5344CB8AC3E}">
        <p14:creationId xmlns:p14="http://schemas.microsoft.com/office/powerpoint/2010/main" val="1827745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13</a:t>
            </a:fld>
            <a:endParaRPr lang="en-PH"/>
          </a:p>
        </p:txBody>
      </p:sp>
    </p:spTree>
    <p:extLst>
      <p:ext uri="{BB962C8B-B14F-4D97-AF65-F5344CB8AC3E}">
        <p14:creationId xmlns:p14="http://schemas.microsoft.com/office/powerpoint/2010/main" val="3683343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14</a:t>
            </a:fld>
            <a:endParaRPr lang="en-PH"/>
          </a:p>
        </p:txBody>
      </p:sp>
    </p:spTree>
    <p:extLst>
      <p:ext uri="{BB962C8B-B14F-4D97-AF65-F5344CB8AC3E}">
        <p14:creationId xmlns:p14="http://schemas.microsoft.com/office/powerpoint/2010/main" val="1829255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None/>
            </a:pPr>
            <a:endParaRPr lang="en-US" b="1" dirty="0"/>
          </a:p>
        </p:txBody>
      </p:sp>
      <p:sp>
        <p:nvSpPr>
          <p:cNvPr id="4" name="Slide Number Placeholder 3"/>
          <p:cNvSpPr>
            <a:spLocks noGrp="1"/>
          </p:cNvSpPr>
          <p:nvPr>
            <p:ph type="sldNum" sz="quarter" idx="5"/>
          </p:nvPr>
        </p:nvSpPr>
        <p:spPr/>
        <p:txBody>
          <a:bodyPr/>
          <a:lstStyle/>
          <a:p>
            <a:fld id="{F02B7118-161F-4A10-89BB-0B0DC35CA8C8}" type="slidenum">
              <a:rPr lang="en-PH" smtClean="0"/>
              <a:t>15</a:t>
            </a:fld>
            <a:endParaRPr lang="en-PH"/>
          </a:p>
        </p:txBody>
      </p:sp>
    </p:spTree>
    <p:extLst>
      <p:ext uri="{BB962C8B-B14F-4D97-AF65-F5344CB8AC3E}">
        <p14:creationId xmlns:p14="http://schemas.microsoft.com/office/powerpoint/2010/main" val="33492201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56370"/>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16</a:t>
            </a:fld>
            <a:endParaRPr lang="en-PH"/>
          </a:p>
        </p:txBody>
      </p:sp>
    </p:spTree>
    <p:extLst>
      <p:ext uri="{BB962C8B-B14F-4D97-AF65-F5344CB8AC3E}">
        <p14:creationId xmlns:p14="http://schemas.microsoft.com/office/powerpoint/2010/main" val="357100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sz="1100" dirty="0"/>
          </a:p>
        </p:txBody>
      </p:sp>
      <p:sp>
        <p:nvSpPr>
          <p:cNvPr id="4" name="Slide Number Placeholder 3"/>
          <p:cNvSpPr>
            <a:spLocks noGrp="1"/>
          </p:cNvSpPr>
          <p:nvPr>
            <p:ph type="sldNum" sz="quarter" idx="5"/>
          </p:nvPr>
        </p:nvSpPr>
        <p:spPr/>
        <p:txBody>
          <a:bodyPr/>
          <a:lstStyle/>
          <a:p>
            <a:fld id="{F02B7118-161F-4A10-89BB-0B0DC35CA8C8}" type="slidenum">
              <a:rPr lang="en-PH" smtClean="0"/>
              <a:t>17</a:t>
            </a:fld>
            <a:endParaRPr lang="en-PH"/>
          </a:p>
        </p:txBody>
      </p:sp>
    </p:spTree>
    <p:extLst>
      <p:ext uri="{BB962C8B-B14F-4D97-AF65-F5344CB8AC3E}">
        <p14:creationId xmlns:p14="http://schemas.microsoft.com/office/powerpoint/2010/main" val="2786081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18</a:t>
            </a:fld>
            <a:endParaRPr lang="en-PH"/>
          </a:p>
        </p:txBody>
      </p:sp>
    </p:spTree>
    <p:extLst>
      <p:ext uri="{BB962C8B-B14F-4D97-AF65-F5344CB8AC3E}">
        <p14:creationId xmlns:p14="http://schemas.microsoft.com/office/powerpoint/2010/main" val="1276778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b="0" dirty="0"/>
          </a:p>
        </p:txBody>
      </p:sp>
      <p:sp>
        <p:nvSpPr>
          <p:cNvPr id="4" name="Slide Number Placeholder 3"/>
          <p:cNvSpPr>
            <a:spLocks noGrp="1"/>
          </p:cNvSpPr>
          <p:nvPr>
            <p:ph type="sldNum" sz="quarter" idx="5"/>
          </p:nvPr>
        </p:nvSpPr>
        <p:spPr/>
        <p:txBody>
          <a:bodyPr/>
          <a:lstStyle/>
          <a:p>
            <a:fld id="{F02B7118-161F-4A10-89BB-0B0DC35CA8C8}" type="slidenum">
              <a:rPr lang="en-PH" smtClean="0"/>
              <a:t>19</a:t>
            </a:fld>
            <a:endParaRPr lang="en-PH"/>
          </a:p>
        </p:txBody>
      </p:sp>
    </p:spTree>
    <p:extLst>
      <p:ext uri="{BB962C8B-B14F-4D97-AF65-F5344CB8AC3E}">
        <p14:creationId xmlns:p14="http://schemas.microsoft.com/office/powerpoint/2010/main" val="3361618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20</a:t>
            </a:fld>
            <a:endParaRPr lang="en-PH"/>
          </a:p>
        </p:txBody>
      </p:sp>
    </p:spTree>
    <p:extLst>
      <p:ext uri="{BB962C8B-B14F-4D97-AF65-F5344CB8AC3E}">
        <p14:creationId xmlns:p14="http://schemas.microsoft.com/office/powerpoint/2010/main" val="2447099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21</a:t>
            </a:fld>
            <a:endParaRPr lang="en-PH"/>
          </a:p>
        </p:txBody>
      </p:sp>
    </p:spTree>
    <p:extLst>
      <p:ext uri="{BB962C8B-B14F-4D97-AF65-F5344CB8AC3E}">
        <p14:creationId xmlns:p14="http://schemas.microsoft.com/office/powerpoint/2010/main" val="26013056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22</a:t>
            </a:fld>
            <a:endParaRPr lang="en-PH"/>
          </a:p>
        </p:txBody>
      </p:sp>
    </p:spTree>
    <p:extLst>
      <p:ext uri="{BB962C8B-B14F-4D97-AF65-F5344CB8AC3E}">
        <p14:creationId xmlns:p14="http://schemas.microsoft.com/office/powerpoint/2010/main" val="3855241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23</a:t>
            </a:fld>
            <a:endParaRPr lang="en-PH"/>
          </a:p>
        </p:txBody>
      </p:sp>
    </p:spTree>
    <p:extLst>
      <p:ext uri="{BB962C8B-B14F-4D97-AF65-F5344CB8AC3E}">
        <p14:creationId xmlns:p14="http://schemas.microsoft.com/office/powerpoint/2010/main" val="1800945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US" dirty="0"/>
          </a:p>
        </p:txBody>
      </p:sp>
      <p:sp>
        <p:nvSpPr>
          <p:cNvPr id="4" name="Slide Number Placeholder 3"/>
          <p:cNvSpPr>
            <a:spLocks noGrp="1"/>
          </p:cNvSpPr>
          <p:nvPr>
            <p:ph type="sldNum" sz="quarter" idx="5"/>
          </p:nvPr>
        </p:nvSpPr>
        <p:spPr/>
        <p:txBody>
          <a:bodyPr/>
          <a:lstStyle/>
          <a:p>
            <a:fld id="{F02B7118-161F-4A10-89BB-0B0DC35CA8C8}" type="slidenum">
              <a:rPr lang="en-PH" smtClean="0"/>
              <a:t>24</a:t>
            </a:fld>
            <a:endParaRPr lang="en-PH"/>
          </a:p>
        </p:txBody>
      </p:sp>
    </p:spTree>
    <p:extLst>
      <p:ext uri="{BB962C8B-B14F-4D97-AF65-F5344CB8AC3E}">
        <p14:creationId xmlns:p14="http://schemas.microsoft.com/office/powerpoint/2010/main" val="29316159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02B7118-161F-4A10-89BB-0B0DC35CA8C8}" type="slidenum">
              <a:rPr lang="en-PH" smtClean="0"/>
              <a:t>25</a:t>
            </a:fld>
            <a:endParaRPr lang="en-PH"/>
          </a:p>
        </p:txBody>
      </p:sp>
    </p:spTree>
    <p:extLst>
      <p:ext uri="{BB962C8B-B14F-4D97-AF65-F5344CB8AC3E}">
        <p14:creationId xmlns:p14="http://schemas.microsoft.com/office/powerpoint/2010/main" val="21903366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79563-B7B3-FD7D-119B-76FE8D556D6D}"/>
              </a:ext>
            </a:extLst>
          </p:cNvPr>
          <p:cNvSpPr>
            <a:spLocks noGrp="1"/>
          </p:cNvSpPr>
          <p:nvPr>
            <p:ph type="ctrTitle"/>
          </p:nvPr>
        </p:nvSpPr>
        <p:spPr>
          <a:xfrm>
            <a:off x="838199" y="2847975"/>
            <a:ext cx="10525125" cy="714375"/>
          </a:xfrm>
          <a:prstGeom prst="rect">
            <a:avLst/>
          </a:prstGeom>
        </p:spPr>
        <p:txBody>
          <a:bodyPr anchor="t"/>
          <a:lstStyle>
            <a:lvl1pPr algn="l">
              <a:defRPr sz="5000" b="0">
                <a:solidFill>
                  <a:schemeClr val="bg1"/>
                </a:solidFill>
                <a:latin typeface="Futura PT Bold" panose="020B0902020204020203" pitchFamily="34" charset="0"/>
                <a:ea typeface="Tahoma" panose="020B0604030504040204" pitchFamily="34" charset="0"/>
                <a:cs typeface="Arial" panose="020B0604020202020204" pitchFamily="34" charset="0"/>
              </a:defRPr>
            </a:lvl1pPr>
          </a:lstStyle>
          <a:p>
            <a:r>
              <a:rPr lang="en-US"/>
              <a:t>Click to edit Master title style</a:t>
            </a:r>
            <a:endParaRPr lang="en-PH" dirty="0"/>
          </a:p>
        </p:txBody>
      </p:sp>
      <p:sp>
        <p:nvSpPr>
          <p:cNvPr id="3" name="Subtitle 2">
            <a:extLst>
              <a:ext uri="{FF2B5EF4-FFF2-40B4-BE49-F238E27FC236}">
                <a16:creationId xmlns:a16="http://schemas.microsoft.com/office/drawing/2014/main" id="{1ECBB6B8-6A56-FF41-1DC9-479754BF5C15}"/>
              </a:ext>
            </a:extLst>
          </p:cNvPr>
          <p:cNvSpPr>
            <a:spLocks noGrp="1"/>
          </p:cNvSpPr>
          <p:nvPr>
            <p:ph type="subTitle" idx="1"/>
          </p:nvPr>
        </p:nvSpPr>
        <p:spPr>
          <a:xfrm>
            <a:off x="838199" y="4143375"/>
            <a:ext cx="10525125" cy="438150"/>
          </a:xfrm>
          <a:prstGeom prst="rect">
            <a:avLst/>
          </a:prstGeom>
        </p:spPr>
        <p:txBody>
          <a:bodyPr/>
          <a:lstStyle>
            <a:lvl1pPr marL="0" indent="0" algn="l">
              <a:buNone/>
              <a:defRPr sz="2400">
                <a:solidFill>
                  <a:schemeClr val="bg1"/>
                </a:solidFill>
                <a:latin typeface="Futura PT Demi" panose="020B07020202040203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dirty="0"/>
          </a:p>
        </p:txBody>
      </p:sp>
      <p:pic>
        <p:nvPicPr>
          <p:cNvPr id="5" name="Picture 4" descr="A logo of a department of budget management&#10;&#10;AI-generated content may be incorrect.">
            <a:extLst>
              <a:ext uri="{FF2B5EF4-FFF2-40B4-BE49-F238E27FC236}">
                <a16:creationId xmlns:a16="http://schemas.microsoft.com/office/drawing/2014/main" id="{824F8945-FF9F-8F50-F006-6171741EF6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8200" y="790575"/>
            <a:ext cx="1476375" cy="1476375"/>
          </a:xfrm>
          <a:prstGeom prst="rect">
            <a:avLst/>
          </a:prstGeom>
        </p:spPr>
      </p:pic>
    </p:spTree>
    <p:extLst>
      <p:ext uri="{BB962C8B-B14F-4D97-AF65-F5344CB8AC3E}">
        <p14:creationId xmlns:p14="http://schemas.microsoft.com/office/powerpoint/2010/main" val="3471379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2E272-FBB4-6647-4E18-7D0B6B52DC55}"/>
              </a:ext>
            </a:extLst>
          </p:cNvPr>
          <p:cNvSpPr>
            <a:spLocks noGrp="1"/>
          </p:cNvSpPr>
          <p:nvPr>
            <p:ph type="title"/>
          </p:nvPr>
        </p:nvSpPr>
        <p:spPr>
          <a:xfrm>
            <a:off x="839788" y="552450"/>
            <a:ext cx="10515600" cy="561975"/>
          </a:xfrm>
          <a:prstGeom prst="rect">
            <a:avLst/>
          </a:prstGeom>
        </p:spPr>
        <p:txBody>
          <a:bodyPr/>
          <a:lstStyle>
            <a:lvl1pPr>
              <a:defRPr sz="4000" b="0">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4" name="Content Placeholder 2">
            <a:extLst>
              <a:ext uri="{FF2B5EF4-FFF2-40B4-BE49-F238E27FC236}">
                <a16:creationId xmlns:a16="http://schemas.microsoft.com/office/drawing/2014/main" id="{A206A022-1782-D6AE-E341-18160211E7DB}"/>
              </a:ext>
            </a:extLst>
          </p:cNvPr>
          <p:cNvSpPr>
            <a:spLocks noGrp="1"/>
          </p:cNvSpPr>
          <p:nvPr>
            <p:ph idx="1"/>
          </p:nvPr>
        </p:nvSpPr>
        <p:spPr>
          <a:xfrm>
            <a:off x="838200" y="1390650"/>
            <a:ext cx="10515600" cy="465772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675724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9C673-DF75-A6F1-A808-2AB62F3CF8ED}"/>
              </a:ext>
            </a:extLst>
          </p:cNvPr>
          <p:cNvSpPr>
            <a:spLocks noGrp="1"/>
          </p:cNvSpPr>
          <p:nvPr>
            <p:ph type="title"/>
          </p:nvPr>
        </p:nvSpPr>
        <p:spPr>
          <a:xfrm>
            <a:off x="495300" y="2752725"/>
            <a:ext cx="10852150" cy="828675"/>
          </a:xfrm>
          <a:prstGeom prst="rect">
            <a:avLst/>
          </a:prstGeom>
        </p:spPr>
        <p:txBody>
          <a:bodyPr anchor="t"/>
          <a:lstStyle>
            <a:lvl1pPr>
              <a:defRPr sz="5500" b="0">
                <a:solidFill>
                  <a:schemeClr val="bg1"/>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3" name="Text Placeholder 2">
            <a:extLst>
              <a:ext uri="{FF2B5EF4-FFF2-40B4-BE49-F238E27FC236}">
                <a16:creationId xmlns:a16="http://schemas.microsoft.com/office/drawing/2014/main" id="{D04FC9AE-7D14-DE75-F299-B76D693275C5}"/>
              </a:ext>
            </a:extLst>
          </p:cNvPr>
          <p:cNvSpPr>
            <a:spLocks noGrp="1"/>
          </p:cNvSpPr>
          <p:nvPr>
            <p:ph type="body" idx="1"/>
          </p:nvPr>
        </p:nvSpPr>
        <p:spPr>
          <a:xfrm>
            <a:off x="495300" y="3800476"/>
            <a:ext cx="10852150" cy="361949"/>
          </a:xfrm>
          <a:prstGeom prst="rect">
            <a:avLst/>
          </a:prstGeom>
        </p:spPr>
        <p:txBody>
          <a:bodyPr/>
          <a:lstStyle>
            <a:lvl1pPr marL="0" indent="0">
              <a:buNone/>
              <a:defRPr sz="2400">
                <a:solidFill>
                  <a:schemeClr val="bg1"/>
                </a:solidFill>
                <a:latin typeface="Futura PT Demi" panose="020B0702020204020303" pitchFamily="34" charset="0"/>
                <a:cs typeface="Arial" panose="020B0604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890734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F45F-1FFA-E5B9-0400-5E3C69B414E9}"/>
              </a:ext>
            </a:extLst>
          </p:cNvPr>
          <p:cNvSpPr>
            <a:spLocks noGrp="1"/>
          </p:cNvSpPr>
          <p:nvPr>
            <p:ph type="title"/>
          </p:nvPr>
        </p:nvSpPr>
        <p:spPr>
          <a:xfrm>
            <a:off x="447674" y="709613"/>
            <a:ext cx="10906125" cy="509588"/>
          </a:xfrm>
          <a:prstGeom prst="rect">
            <a:avLst/>
          </a:prstGeom>
        </p:spPr>
        <p:txBody>
          <a:bodyPr/>
          <a:lstStyle>
            <a:lvl1pPr>
              <a:defRPr sz="4000" b="1">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3" name="Content Placeholder 2">
            <a:extLst>
              <a:ext uri="{FF2B5EF4-FFF2-40B4-BE49-F238E27FC236}">
                <a16:creationId xmlns:a16="http://schemas.microsoft.com/office/drawing/2014/main" id="{6B916C70-88F1-6ADE-FACA-6F6669234266}"/>
              </a:ext>
            </a:extLst>
          </p:cNvPr>
          <p:cNvSpPr>
            <a:spLocks noGrp="1"/>
          </p:cNvSpPr>
          <p:nvPr>
            <p:ph sz="half" idx="1"/>
          </p:nvPr>
        </p:nvSpPr>
        <p:spPr>
          <a:xfrm>
            <a:off x="838200" y="1825625"/>
            <a:ext cx="5181600" cy="421322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4" name="Content Placeholder 3">
            <a:extLst>
              <a:ext uri="{FF2B5EF4-FFF2-40B4-BE49-F238E27FC236}">
                <a16:creationId xmlns:a16="http://schemas.microsoft.com/office/drawing/2014/main" id="{E6221421-52CB-21E6-B76E-1F2489928176}"/>
              </a:ext>
            </a:extLst>
          </p:cNvPr>
          <p:cNvSpPr>
            <a:spLocks noGrp="1"/>
          </p:cNvSpPr>
          <p:nvPr>
            <p:ph sz="half" idx="2"/>
          </p:nvPr>
        </p:nvSpPr>
        <p:spPr>
          <a:xfrm>
            <a:off x="6172200" y="1825625"/>
            <a:ext cx="5181600" cy="421322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4066861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8F8B1-A55E-EDAE-3C0F-AEB14B0D8656}"/>
              </a:ext>
            </a:extLst>
          </p:cNvPr>
          <p:cNvSpPr>
            <a:spLocks noGrp="1"/>
          </p:cNvSpPr>
          <p:nvPr>
            <p:ph type="title"/>
          </p:nvPr>
        </p:nvSpPr>
        <p:spPr>
          <a:xfrm>
            <a:off x="839788" y="552450"/>
            <a:ext cx="10515600" cy="561975"/>
          </a:xfrm>
          <a:prstGeom prst="rect">
            <a:avLst/>
          </a:prstGeom>
        </p:spPr>
        <p:txBody>
          <a:bodyPr/>
          <a:lstStyle>
            <a:lvl1pPr>
              <a:defRPr sz="4000" b="0">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
        <p:nvSpPr>
          <p:cNvPr id="3" name="Text Placeholder 2">
            <a:extLst>
              <a:ext uri="{FF2B5EF4-FFF2-40B4-BE49-F238E27FC236}">
                <a16:creationId xmlns:a16="http://schemas.microsoft.com/office/drawing/2014/main" id="{BFE9D0A2-E35A-3E32-B524-A1CC777192CC}"/>
              </a:ext>
            </a:extLst>
          </p:cNvPr>
          <p:cNvSpPr>
            <a:spLocks noGrp="1"/>
          </p:cNvSpPr>
          <p:nvPr>
            <p:ph type="body" idx="1"/>
          </p:nvPr>
        </p:nvSpPr>
        <p:spPr>
          <a:xfrm>
            <a:off x="839788" y="1528763"/>
            <a:ext cx="5157787" cy="376237"/>
          </a:xfrm>
          <a:prstGeom prst="rect">
            <a:avLst/>
          </a:prstGeom>
        </p:spPr>
        <p:txBody>
          <a:bodyPr anchor="t"/>
          <a:lstStyle>
            <a:lvl1pPr marL="0" indent="0">
              <a:buNone/>
              <a:defRPr sz="2400" b="0">
                <a:solidFill>
                  <a:srgbClr val="AA8300"/>
                </a:solidFill>
                <a:latin typeface="Futura PT Bold" panose="020B0902020204020203"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89ED76-2F58-7048-BF67-08525527B5D1}"/>
              </a:ext>
            </a:extLst>
          </p:cNvPr>
          <p:cNvSpPr>
            <a:spLocks noGrp="1"/>
          </p:cNvSpPr>
          <p:nvPr>
            <p:ph sz="half" idx="2"/>
          </p:nvPr>
        </p:nvSpPr>
        <p:spPr>
          <a:xfrm>
            <a:off x="839788" y="2085974"/>
            <a:ext cx="5157787" cy="391477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
        <p:nvSpPr>
          <p:cNvPr id="5" name="Text Placeholder 4">
            <a:extLst>
              <a:ext uri="{FF2B5EF4-FFF2-40B4-BE49-F238E27FC236}">
                <a16:creationId xmlns:a16="http://schemas.microsoft.com/office/drawing/2014/main" id="{EDE38021-4511-E9C1-2564-54249AA4B88F}"/>
              </a:ext>
            </a:extLst>
          </p:cNvPr>
          <p:cNvSpPr>
            <a:spLocks noGrp="1"/>
          </p:cNvSpPr>
          <p:nvPr>
            <p:ph type="body" sz="quarter" idx="3"/>
          </p:nvPr>
        </p:nvSpPr>
        <p:spPr>
          <a:xfrm>
            <a:off x="6172200" y="1528763"/>
            <a:ext cx="5183188" cy="376237"/>
          </a:xfrm>
          <a:prstGeom prst="rect">
            <a:avLst/>
          </a:prstGeom>
        </p:spPr>
        <p:txBody>
          <a:bodyPr anchor="t"/>
          <a:lstStyle>
            <a:lvl1pPr marL="0" indent="0">
              <a:buNone/>
              <a:defRPr sz="2400" b="0">
                <a:solidFill>
                  <a:srgbClr val="AA8300"/>
                </a:solidFill>
                <a:latin typeface="Futura PT Bold" panose="020B0902020204020203"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8F88D6-1541-F980-6ABE-C5BD8BED2798}"/>
              </a:ext>
            </a:extLst>
          </p:cNvPr>
          <p:cNvSpPr>
            <a:spLocks noGrp="1"/>
          </p:cNvSpPr>
          <p:nvPr>
            <p:ph sz="quarter" idx="4"/>
          </p:nvPr>
        </p:nvSpPr>
        <p:spPr>
          <a:xfrm>
            <a:off x="6172200" y="2085974"/>
            <a:ext cx="5183188" cy="3914775"/>
          </a:xfrm>
          <a:prstGeom prst="rect">
            <a:avLst/>
          </a:prstGeom>
        </p:spPr>
        <p:txBody>
          <a:bodyPr/>
          <a:lstStyle>
            <a:lvl1pPr>
              <a:defRPr>
                <a:solidFill>
                  <a:schemeClr val="bg2">
                    <a:lumMod val="10000"/>
                  </a:schemeClr>
                </a:solidFill>
                <a:latin typeface="Futura PT Demi" panose="020B0702020204020303" pitchFamily="34" charset="0"/>
                <a:cs typeface="Arial" panose="020B0604020202020204" pitchFamily="34" charset="0"/>
              </a:defRPr>
            </a:lvl1pPr>
            <a:lvl2pPr>
              <a:defRPr>
                <a:solidFill>
                  <a:schemeClr val="bg2">
                    <a:lumMod val="10000"/>
                  </a:schemeClr>
                </a:solidFill>
                <a:latin typeface="Futura PT Demi" panose="020B0702020204020303" pitchFamily="34" charset="0"/>
                <a:cs typeface="Arial" panose="020B0604020202020204" pitchFamily="34" charset="0"/>
              </a:defRPr>
            </a:lvl2pPr>
            <a:lvl3pPr>
              <a:defRPr>
                <a:solidFill>
                  <a:schemeClr val="bg2">
                    <a:lumMod val="10000"/>
                  </a:schemeClr>
                </a:solidFill>
                <a:latin typeface="Futura PT Demi" panose="020B0702020204020303" pitchFamily="34" charset="0"/>
                <a:cs typeface="Arial" panose="020B0604020202020204" pitchFamily="34" charset="0"/>
              </a:defRPr>
            </a:lvl3pPr>
            <a:lvl4pPr>
              <a:defRPr>
                <a:solidFill>
                  <a:schemeClr val="bg2">
                    <a:lumMod val="10000"/>
                  </a:schemeClr>
                </a:solidFill>
                <a:latin typeface="Futura PT Demi" panose="020B0702020204020303" pitchFamily="34" charset="0"/>
                <a:cs typeface="Arial" panose="020B0604020202020204" pitchFamily="34" charset="0"/>
              </a:defRPr>
            </a:lvl4pPr>
            <a:lvl5pPr>
              <a:defRPr>
                <a:solidFill>
                  <a:schemeClr val="bg2">
                    <a:lumMod val="10000"/>
                  </a:schemeClr>
                </a:solidFill>
                <a:latin typeface="Futura PT Demi" panose="020B07020202040203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dirty="0"/>
          </a:p>
        </p:txBody>
      </p:sp>
    </p:spTree>
    <p:extLst>
      <p:ext uri="{BB962C8B-B14F-4D97-AF65-F5344CB8AC3E}">
        <p14:creationId xmlns:p14="http://schemas.microsoft.com/office/powerpoint/2010/main" val="2269186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519F0E0-C7B7-A49B-3FB3-92782EF22C1E}"/>
              </a:ext>
            </a:extLst>
          </p:cNvPr>
          <p:cNvSpPr>
            <a:spLocks noGrp="1"/>
          </p:cNvSpPr>
          <p:nvPr>
            <p:ph type="title"/>
          </p:nvPr>
        </p:nvSpPr>
        <p:spPr>
          <a:xfrm>
            <a:off x="839788" y="552450"/>
            <a:ext cx="10515600" cy="561975"/>
          </a:xfrm>
          <a:prstGeom prst="rect">
            <a:avLst/>
          </a:prstGeom>
        </p:spPr>
        <p:txBody>
          <a:bodyPr/>
          <a:lstStyle>
            <a:lvl1pPr>
              <a:defRPr sz="4000" b="0">
                <a:solidFill>
                  <a:srgbClr val="AA8300"/>
                </a:solidFill>
                <a:latin typeface="Futura PT Bold" panose="020B0902020204020203" pitchFamily="34" charset="0"/>
                <a:cs typeface="Arial" panose="020B0604020202020204" pitchFamily="34" charset="0"/>
              </a:defRPr>
            </a:lvl1pPr>
          </a:lstStyle>
          <a:p>
            <a:r>
              <a:rPr lang="en-US"/>
              <a:t>Click to edit Master title style</a:t>
            </a:r>
            <a:endParaRPr lang="en-PH" dirty="0"/>
          </a:p>
        </p:txBody>
      </p:sp>
    </p:spTree>
    <p:extLst>
      <p:ext uri="{BB962C8B-B14F-4D97-AF65-F5344CB8AC3E}">
        <p14:creationId xmlns:p14="http://schemas.microsoft.com/office/powerpoint/2010/main" val="3935794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0908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0016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EC59D-4310-E835-031E-714CFE6A7C29}"/>
              </a:ext>
            </a:extLst>
          </p:cNvPr>
          <p:cNvSpPr>
            <a:spLocks noGrp="1"/>
          </p:cNvSpPr>
          <p:nvPr>
            <p:ph type="ctrTitle"/>
          </p:nvPr>
        </p:nvSpPr>
        <p:spPr>
          <a:xfrm>
            <a:off x="711946" y="2362625"/>
            <a:ext cx="10525125" cy="714375"/>
          </a:xfrm>
        </p:spPr>
        <p:txBody>
          <a:bodyPr/>
          <a:lstStyle/>
          <a:p>
            <a:r>
              <a:rPr lang="en-PH" b="1" dirty="0">
                <a:solidFill>
                  <a:schemeClr val="tx1"/>
                </a:solidFill>
              </a:rPr>
              <a:t>Budget Preparation Forms </a:t>
            </a:r>
            <a:br>
              <a:rPr lang="en-PH" b="1" dirty="0">
                <a:solidFill>
                  <a:schemeClr val="tx1"/>
                </a:solidFill>
              </a:rPr>
            </a:br>
            <a:r>
              <a:rPr lang="en-PH" b="1" dirty="0">
                <a:solidFill>
                  <a:schemeClr val="tx1"/>
                </a:solidFill>
              </a:rPr>
              <a:t>and Instructions (Updates)</a:t>
            </a:r>
          </a:p>
        </p:txBody>
      </p:sp>
      <p:sp>
        <p:nvSpPr>
          <p:cNvPr id="3" name="Subtitle 2">
            <a:extLst>
              <a:ext uri="{FF2B5EF4-FFF2-40B4-BE49-F238E27FC236}">
                <a16:creationId xmlns:a16="http://schemas.microsoft.com/office/drawing/2014/main" id="{CB09376E-F8D5-C2A8-27BD-4465D20F8F44}"/>
              </a:ext>
            </a:extLst>
          </p:cNvPr>
          <p:cNvSpPr>
            <a:spLocks noGrp="1"/>
          </p:cNvSpPr>
          <p:nvPr>
            <p:ph type="subTitle" idx="1"/>
          </p:nvPr>
        </p:nvSpPr>
        <p:spPr>
          <a:xfrm>
            <a:off x="711946" y="3885759"/>
            <a:ext cx="5463283" cy="582180"/>
          </a:xfrm>
        </p:spPr>
        <p:txBody>
          <a:bodyPr/>
          <a:lstStyle/>
          <a:p>
            <a:r>
              <a:rPr lang="en-PH" sz="3200" dirty="0">
                <a:solidFill>
                  <a:schemeClr val="tx1"/>
                </a:solidFill>
              </a:rPr>
              <a:t>FY 2027 BUDGET FORUM</a:t>
            </a:r>
            <a:endParaRPr lang="en-PH" sz="2800" dirty="0">
              <a:solidFill>
                <a:schemeClr val="tx1"/>
              </a:solidFill>
            </a:endParaRPr>
          </a:p>
        </p:txBody>
      </p:sp>
      <p:sp>
        <p:nvSpPr>
          <p:cNvPr id="4" name="Subtitle 2">
            <a:extLst>
              <a:ext uri="{FF2B5EF4-FFF2-40B4-BE49-F238E27FC236}">
                <a16:creationId xmlns:a16="http://schemas.microsoft.com/office/drawing/2014/main" id="{D67D8A96-4571-1447-5C07-70943546E739}"/>
              </a:ext>
            </a:extLst>
          </p:cNvPr>
          <p:cNvSpPr txBox="1">
            <a:spLocks/>
          </p:cNvSpPr>
          <p:nvPr/>
        </p:nvSpPr>
        <p:spPr>
          <a:xfrm>
            <a:off x="711946" y="5858878"/>
            <a:ext cx="7346754" cy="99912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Futura PT Demi" panose="020B0702020204020303"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H" dirty="0">
                <a:solidFill>
                  <a:schemeClr val="tx1"/>
                </a:solidFill>
              </a:rPr>
              <a:t>Acting Assistant Director </a:t>
            </a:r>
            <a:r>
              <a:rPr lang="en-PH" b="1" dirty="0">
                <a:solidFill>
                  <a:schemeClr val="tx1"/>
                </a:solidFill>
              </a:rPr>
              <a:t>Junaid Ibne M. Karim</a:t>
            </a:r>
          </a:p>
          <a:p>
            <a:r>
              <a:rPr lang="en-PH" dirty="0">
                <a:solidFill>
                  <a:schemeClr val="tx1"/>
                </a:solidFill>
              </a:rPr>
              <a:t>DBM Budget and Management Bureau - E</a:t>
            </a:r>
          </a:p>
          <a:p>
            <a:endParaRPr lang="en-PH" dirty="0">
              <a:solidFill>
                <a:schemeClr val="tx1"/>
              </a:solidFill>
            </a:endParaRPr>
          </a:p>
          <a:p>
            <a:endParaRPr lang="en-PH" dirty="0">
              <a:solidFill>
                <a:schemeClr val="tx1"/>
              </a:solidFill>
            </a:endParaRPr>
          </a:p>
          <a:p>
            <a:endParaRPr lang="en-PH" dirty="0">
              <a:solidFill>
                <a:schemeClr val="tx1"/>
              </a:solidFill>
            </a:endParaRPr>
          </a:p>
          <a:p>
            <a:endParaRPr lang="en-PH" dirty="0">
              <a:solidFill>
                <a:schemeClr val="tx1"/>
              </a:solidFill>
            </a:endParaRPr>
          </a:p>
        </p:txBody>
      </p:sp>
    </p:spTree>
    <p:extLst>
      <p:ext uri="{BB962C8B-B14F-4D97-AF65-F5344CB8AC3E}">
        <p14:creationId xmlns:p14="http://schemas.microsoft.com/office/powerpoint/2010/main" val="3149022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A2F2-25FA-9818-55B4-121F69AEBE31}"/>
              </a:ext>
            </a:extLst>
          </p:cNvPr>
          <p:cNvSpPr>
            <a:spLocks noGrp="1"/>
          </p:cNvSpPr>
          <p:nvPr>
            <p:ph type="title"/>
          </p:nvPr>
        </p:nvSpPr>
        <p:spPr>
          <a:xfrm>
            <a:off x="477675" y="767321"/>
            <a:ext cx="10906125" cy="509588"/>
          </a:xfrm>
        </p:spPr>
        <p:txBody>
          <a:bodyPr/>
          <a:lstStyle/>
          <a:p>
            <a:r>
              <a:rPr lang="en-US" sz="4400" dirty="0">
                <a:ln>
                  <a:solidFill>
                    <a:schemeClr val="tx1"/>
                  </a:solidFill>
                </a:ln>
              </a:rPr>
              <a:t>Outline of Presentation</a:t>
            </a:r>
            <a:br>
              <a:rPr lang="en-US" sz="4400" dirty="0">
                <a:ln>
                  <a:solidFill>
                    <a:schemeClr val="tx1"/>
                  </a:solidFill>
                </a:ln>
              </a:rPr>
            </a:br>
            <a:endParaRPr lang="en-US" sz="4400" dirty="0">
              <a:ln>
                <a:solidFill>
                  <a:schemeClr val="tx1"/>
                </a:solidFill>
              </a:ln>
            </a:endParaRPr>
          </a:p>
        </p:txBody>
      </p:sp>
      <p:sp>
        <p:nvSpPr>
          <p:cNvPr id="3" name="Content Placeholder 2">
            <a:extLst>
              <a:ext uri="{FF2B5EF4-FFF2-40B4-BE49-F238E27FC236}">
                <a16:creationId xmlns:a16="http://schemas.microsoft.com/office/drawing/2014/main" id="{56B204C0-5165-1A5B-507A-E1BC30929B0F}"/>
              </a:ext>
            </a:extLst>
          </p:cNvPr>
          <p:cNvSpPr>
            <a:spLocks noGrp="1"/>
          </p:cNvSpPr>
          <p:nvPr>
            <p:ph sz="half" idx="1"/>
          </p:nvPr>
        </p:nvSpPr>
        <p:spPr>
          <a:xfrm>
            <a:off x="1959634" y="2294384"/>
            <a:ext cx="8182849" cy="767794"/>
          </a:xfrm>
        </p:spPr>
        <p:txBody>
          <a:bodyPr anchor="ctr"/>
          <a:lstStyle/>
          <a:p>
            <a:pPr marL="0" indent="0">
              <a:buNone/>
            </a:pPr>
            <a:r>
              <a:rPr lang="en-US" sz="2900" b="1" dirty="0"/>
              <a:t>BP Forms and Instructions (with Changes)</a:t>
            </a:r>
          </a:p>
          <a:p>
            <a:pPr lvl="1"/>
            <a:r>
              <a:rPr lang="en-US" sz="2800" b="1" dirty="0"/>
              <a:t>Major</a:t>
            </a:r>
          </a:p>
          <a:p>
            <a:pPr lvl="1"/>
            <a:r>
              <a:rPr lang="en-US" sz="2800" b="1" dirty="0"/>
              <a:t>Minor</a:t>
            </a:r>
          </a:p>
        </p:txBody>
      </p:sp>
      <p:sp>
        <p:nvSpPr>
          <p:cNvPr id="7" name="Rectangle 6">
            <a:extLst>
              <a:ext uri="{FF2B5EF4-FFF2-40B4-BE49-F238E27FC236}">
                <a16:creationId xmlns:a16="http://schemas.microsoft.com/office/drawing/2014/main" id="{3E62EF7E-4BD4-E164-F4DD-5CAD9732B237}"/>
              </a:ext>
            </a:extLst>
          </p:cNvPr>
          <p:cNvSpPr/>
          <p:nvPr/>
        </p:nvSpPr>
        <p:spPr>
          <a:xfrm>
            <a:off x="984848" y="1987717"/>
            <a:ext cx="767751" cy="509588"/>
          </a:xfrm>
          <a:prstGeom prst="rect">
            <a:avLst/>
          </a:prstGeom>
          <a:solidFill>
            <a:schemeClr val="bg1"/>
          </a:solidFill>
          <a:ln>
            <a:solidFill>
              <a:srgbClr val="FFCC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PH"/>
          </a:p>
        </p:txBody>
      </p:sp>
      <p:sp>
        <p:nvSpPr>
          <p:cNvPr id="9" name="Content Placeholder 2">
            <a:extLst>
              <a:ext uri="{FF2B5EF4-FFF2-40B4-BE49-F238E27FC236}">
                <a16:creationId xmlns:a16="http://schemas.microsoft.com/office/drawing/2014/main" id="{8E34369E-6005-1F4B-B303-11277DE9FAB5}"/>
              </a:ext>
            </a:extLst>
          </p:cNvPr>
          <p:cNvSpPr txBox="1">
            <a:spLocks/>
          </p:cNvSpPr>
          <p:nvPr/>
        </p:nvSpPr>
        <p:spPr>
          <a:xfrm>
            <a:off x="1959635" y="3575291"/>
            <a:ext cx="10705380" cy="76779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Futura PT Demi" panose="020B0702020204020303"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Futura PT Demi" panose="020B0702020204020303"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Futura PT Demi" panose="020B0702020204020303"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Futura PT Demi" panose="020B0702020204020303"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Futura PT Demi" panose="020B0702020204020303"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900" b="1" dirty="0"/>
              <a:t>Required Supporting Documents to Budget Proposals</a:t>
            </a:r>
          </a:p>
        </p:txBody>
      </p:sp>
      <p:sp>
        <p:nvSpPr>
          <p:cNvPr id="10" name="Rectangle 9">
            <a:extLst>
              <a:ext uri="{FF2B5EF4-FFF2-40B4-BE49-F238E27FC236}">
                <a16:creationId xmlns:a16="http://schemas.microsoft.com/office/drawing/2014/main" id="{FD66D9CF-A9FC-1BF8-5A99-00DFD72E81CA}"/>
              </a:ext>
            </a:extLst>
          </p:cNvPr>
          <p:cNvSpPr/>
          <p:nvPr/>
        </p:nvSpPr>
        <p:spPr>
          <a:xfrm>
            <a:off x="984848" y="3695767"/>
            <a:ext cx="767751" cy="509588"/>
          </a:xfrm>
          <a:prstGeom prst="rect">
            <a:avLst/>
          </a:prstGeom>
          <a:solidFill>
            <a:schemeClr val="bg1"/>
          </a:solidFill>
          <a:ln>
            <a:solidFill>
              <a:srgbClr val="FFCC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PH"/>
          </a:p>
        </p:txBody>
      </p:sp>
      <p:sp>
        <p:nvSpPr>
          <p:cNvPr id="13" name="Content Placeholder 2">
            <a:extLst>
              <a:ext uri="{FF2B5EF4-FFF2-40B4-BE49-F238E27FC236}">
                <a16:creationId xmlns:a16="http://schemas.microsoft.com/office/drawing/2014/main" id="{01FECEBE-30E2-AB3A-5552-E2FD1EFBBB25}"/>
              </a:ext>
            </a:extLst>
          </p:cNvPr>
          <p:cNvSpPr txBox="1">
            <a:spLocks/>
          </p:cNvSpPr>
          <p:nvPr/>
        </p:nvSpPr>
        <p:spPr>
          <a:xfrm>
            <a:off x="1959633" y="4601518"/>
            <a:ext cx="8813469" cy="767794"/>
          </a:xfrm>
          <a:prstGeom prst="rect">
            <a:avLst/>
          </a:prstGeom>
        </p:spPr>
        <p:txBody>
          <a:bodyPr anchor="ct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Futura PT Demi" panose="020B0702020204020303"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Futura PT Demi" panose="020B0702020204020303"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Futura PT Demi" panose="020B0702020204020303"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Futura PT Demi" panose="020B0702020204020303"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Futura PT Demi" panose="020B0702020204020303"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900" b="1" dirty="0"/>
              <a:t>Updates in Annex B of the National Budget Call</a:t>
            </a:r>
          </a:p>
        </p:txBody>
      </p:sp>
      <p:sp>
        <p:nvSpPr>
          <p:cNvPr id="14" name="Rectangle 13">
            <a:extLst>
              <a:ext uri="{FF2B5EF4-FFF2-40B4-BE49-F238E27FC236}">
                <a16:creationId xmlns:a16="http://schemas.microsoft.com/office/drawing/2014/main" id="{CCCC9A29-3934-7F4C-B7FE-5BC60F7512FD}"/>
              </a:ext>
            </a:extLst>
          </p:cNvPr>
          <p:cNvSpPr/>
          <p:nvPr/>
        </p:nvSpPr>
        <p:spPr>
          <a:xfrm>
            <a:off x="984848" y="4773753"/>
            <a:ext cx="767751" cy="509588"/>
          </a:xfrm>
          <a:prstGeom prst="rect">
            <a:avLst/>
          </a:prstGeom>
          <a:solidFill>
            <a:schemeClr val="bg1"/>
          </a:solidFill>
          <a:ln>
            <a:solidFill>
              <a:srgbClr val="FFCC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1930279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EE7D3-AA77-3351-3FF3-BE045A44FAFE}"/>
              </a:ext>
            </a:extLst>
          </p:cNvPr>
          <p:cNvSpPr>
            <a:spLocks noGrp="1"/>
          </p:cNvSpPr>
          <p:nvPr>
            <p:ph type="title"/>
          </p:nvPr>
        </p:nvSpPr>
        <p:spPr>
          <a:xfrm>
            <a:off x="2554462" y="2796125"/>
            <a:ext cx="10852150" cy="828675"/>
          </a:xfrm>
        </p:spPr>
        <p:txBody>
          <a:bodyPr/>
          <a:lstStyle/>
          <a:p>
            <a:r>
              <a:rPr lang="en-US" dirty="0">
                <a:solidFill>
                  <a:schemeClr val="tx1"/>
                </a:solidFill>
              </a:rPr>
              <a:t>BP Forms and Instructions</a:t>
            </a:r>
            <a:br>
              <a:rPr lang="en-US" dirty="0">
                <a:solidFill>
                  <a:schemeClr val="tx1"/>
                </a:solidFill>
              </a:rPr>
            </a:br>
            <a:endParaRPr lang="en-US" dirty="0">
              <a:solidFill>
                <a:schemeClr val="tx1"/>
              </a:solidFill>
            </a:endParaRPr>
          </a:p>
        </p:txBody>
      </p:sp>
      <p:sp>
        <p:nvSpPr>
          <p:cNvPr id="6" name="Rectangle 5">
            <a:extLst>
              <a:ext uri="{FF2B5EF4-FFF2-40B4-BE49-F238E27FC236}">
                <a16:creationId xmlns:a16="http://schemas.microsoft.com/office/drawing/2014/main" id="{8A27AE9F-ECCB-708C-45D3-2B694F076802}"/>
              </a:ext>
            </a:extLst>
          </p:cNvPr>
          <p:cNvSpPr/>
          <p:nvPr/>
        </p:nvSpPr>
        <p:spPr>
          <a:xfrm>
            <a:off x="941717" y="2568199"/>
            <a:ext cx="1361537" cy="1284528"/>
          </a:xfrm>
          <a:prstGeom prst="rect">
            <a:avLst/>
          </a:prstGeom>
          <a:ln>
            <a:solidFill>
              <a:srgbClr val="FF66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PH" sz="6000" b="1" dirty="0">
                <a:ln>
                  <a:solidFill>
                    <a:srgbClr val="FFCC00"/>
                  </a:solidFill>
                </a:ln>
                <a:solidFill>
                  <a:schemeClr val="tx1"/>
                </a:solidFill>
              </a:rPr>
              <a:t>✓</a:t>
            </a:r>
            <a:endParaRPr lang="en-PH" sz="19900" dirty="0">
              <a:ln>
                <a:solidFill>
                  <a:srgbClr val="FFCC00"/>
                </a:solidFill>
              </a:ln>
              <a:solidFill>
                <a:schemeClr val="tx1"/>
              </a:solidFill>
            </a:endParaRPr>
          </a:p>
        </p:txBody>
      </p:sp>
    </p:spTree>
    <p:extLst>
      <p:ext uri="{BB962C8B-B14F-4D97-AF65-F5344CB8AC3E}">
        <p14:creationId xmlns:p14="http://schemas.microsoft.com/office/powerpoint/2010/main" val="1180520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6363-5F69-59F7-43C1-F200DF66389F}"/>
              </a:ext>
            </a:extLst>
          </p:cNvPr>
          <p:cNvSpPr>
            <a:spLocks noGrp="1"/>
          </p:cNvSpPr>
          <p:nvPr>
            <p:ph type="title"/>
          </p:nvPr>
        </p:nvSpPr>
        <p:spPr>
          <a:xfrm>
            <a:off x="8288398" y="1186775"/>
            <a:ext cx="3741940" cy="5028520"/>
          </a:xfrm>
        </p:spPr>
        <p:txBody>
          <a:bodyPr/>
          <a:lstStyle/>
          <a:p>
            <a:pPr algn="ctr"/>
            <a:r>
              <a:rPr lang="en-US" sz="4800" b="1" dirty="0">
                <a:ln>
                  <a:solidFill>
                    <a:srgbClr val="FFCC00"/>
                  </a:solidFill>
                </a:ln>
                <a:solidFill>
                  <a:schemeClr val="tx1"/>
                </a:solidFill>
              </a:rPr>
              <a:t>FY 2027 Budget Preparation (BP) Forms and Instructions </a:t>
            </a:r>
          </a:p>
        </p:txBody>
      </p:sp>
      <p:sp>
        <p:nvSpPr>
          <p:cNvPr id="88" name="Rectangle 87">
            <a:extLst>
              <a:ext uri="{FF2B5EF4-FFF2-40B4-BE49-F238E27FC236}">
                <a16:creationId xmlns:a16="http://schemas.microsoft.com/office/drawing/2014/main" id="{93474E0D-BB7E-B12C-BD30-00C5859ACB9F}"/>
              </a:ext>
            </a:extLst>
          </p:cNvPr>
          <p:cNvSpPr/>
          <p:nvPr/>
        </p:nvSpPr>
        <p:spPr>
          <a:xfrm>
            <a:off x="161662" y="164790"/>
            <a:ext cx="7934960" cy="6390640"/>
          </a:xfrm>
          <a:prstGeom prst="rect">
            <a:avLst/>
          </a:prstGeom>
          <a:ln>
            <a:solidFill>
              <a:srgbClr val="FFCC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PH" dirty="0"/>
          </a:p>
        </p:txBody>
      </p:sp>
      <p:pic>
        <p:nvPicPr>
          <p:cNvPr id="85" name="Graphic 84" descr="Advertising with solid fill">
            <a:extLst>
              <a:ext uri="{FF2B5EF4-FFF2-40B4-BE49-F238E27FC236}">
                <a16:creationId xmlns:a16="http://schemas.microsoft.com/office/drawing/2014/main" id="{4D31D611-E8DC-2937-7478-F7639F5A43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071" y="0"/>
            <a:ext cx="4162426" cy="4162426"/>
          </a:xfrm>
          <a:prstGeom prst="rect">
            <a:avLst/>
          </a:prstGeom>
        </p:spPr>
      </p:pic>
      <p:pic>
        <p:nvPicPr>
          <p:cNvPr id="87" name="Graphic 86" descr="Advertising outline">
            <a:extLst>
              <a:ext uri="{FF2B5EF4-FFF2-40B4-BE49-F238E27FC236}">
                <a16:creationId xmlns:a16="http://schemas.microsoft.com/office/drawing/2014/main" id="{DC4384FE-3797-B979-6D94-9CE319E2F6A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34196" y="2459145"/>
            <a:ext cx="4162426" cy="4162426"/>
          </a:xfrm>
          <a:prstGeom prst="rect">
            <a:avLst/>
          </a:prstGeom>
        </p:spPr>
      </p:pic>
      <p:sp>
        <p:nvSpPr>
          <p:cNvPr id="89" name="TextBox 88">
            <a:extLst>
              <a:ext uri="{FF2B5EF4-FFF2-40B4-BE49-F238E27FC236}">
                <a16:creationId xmlns:a16="http://schemas.microsoft.com/office/drawing/2014/main" id="{B954E6A2-01BD-EBD0-3D2F-05F60E7331C9}"/>
              </a:ext>
            </a:extLst>
          </p:cNvPr>
          <p:cNvSpPr txBox="1"/>
          <p:nvPr/>
        </p:nvSpPr>
        <p:spPr>
          <a:xfrm>
            <a:off x="511487" y="901208"/>
            <a:ext cx="3422709" cy="1384995"/>
          </a:xfrm>
          <a:prstGeom prst="rect">
            <a:avLst/>
          </a:prstGeom>
          <a:noFill/>
        </p:spPr>
        <p:txBody>
          <a:bodyPr wrap="square" rtlCol="0">
            <a:spAutoFit/>
          </a:bodyPr>
          <a:lstStyle/>
          <a:p>
            <a:pPr algn="ctr"/>
            <a:r>
              <a:rPr lang="en-US" sz="2800" dirty="0">
                <a:latin typeface="Futura PT Bold" panose="020B0902020204020203"/>
              </a:rPr>
              <a:t>Total Number of </a:t>
            </a:r>
          </a:p>
          <a:p>
            <a:pPr algn="ctr"/>
            <a:r>
              <a:rPr lang="en-US" sz="2800" dirty="0">
                <a:latin typeface="Futura PT Bold" panose="020B0902020204020203"/>
              </a:rPr>
              <a:t>BP Forms</a:t>
            </a:r>
          </a:p>
          <a:p>
            <a:pPr algn="ctr"/>
            <a:r>
              <a:rPr lang="en-US" sz="2800" b="1" dirty="0">
                <a:latin typeface="Futura PT Bold" panose="020B0902020204020203"/>
              </a:rPr>
              <a:t>-22-</a:t>
            </a:r>
          </a:p>
        </p:txBody>
      </p:sp>
      <p:sp>
        <p:nvSpPr>
          <p:cNvPr id="92" name="TextBox 91">
            <a:extLst>
              <a:ext uri="{FF2B5EF4-FFF2-40B4-BE49-F238E27FC236}">
                <a16:creationId xmlns:a16="http://schemas.microsoft.com/office/drawing/2014/main" id="{018E08C8-8044-D00B-67C7-68B97393D251}"/>
              </a:ext>
            </a:extLst>
          </p:cNvPr>
          <p:cNvSpPr txBox="1"/>
          <p:nvPr/>
        </p:nvSpPr>
        <p:spPr>
          <a:xfrm>
            <a:off x="4332284" y="3562261"/>
            <a:ext cx="3366250" cy="1200329"/>
          </a:xfrm>
          <a:prstGeom prst="rect">
            <a:avLst/>
          </a:prstGeom>
          <a:noFill/>
        </p:spPr>
        <p:txBody>
          <a:bodyPr wrap="square" rtlCol="0">
            <a:spAutoFit/>
          </a:bodyPr>
          <a:lstStyle/>
          <a:p>
            <a:pPr algn="ctr"/>
            <a:r>
              <a:rPr lang="en-US" sz="2400" dirty="0">
                <a:latin typeface="Futura PT Bold" panose="020B0902020204020203"/>
              </a:rPr>
              <a:t>Number of BP Forms with Changes</a:t>
            </a:r>
          </a:p>
          <a:p>
            <a:pPr algn="ctr"/>
            <a:r>
              <a:rPr lang="en-US" sz="2400" b="1" dirty="0">
                <a:latin typeface="Futura PT Bold" panose="020B0902020204020203"/>
              </a:rPr>
              <a:t>-6-</a:t>
            </a:r>
          </a:p>
        </p:txBody>
      </p:sp>
    </p:spTree>
    <p:extLst>
      <p:ext uri="{BB962C8B-B14F-4D97-AF65-F5344CB8AC3E}">
        <p14:creationId xmlns:p14="http://schemas.microsoft.com/office/powerpoint/2010/main" val="3107849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able 30">
            <a:extLst>
              <a:ext uri="{FF2B5EF4-FFF2-40B4-BE49-F238E27FC236}">
                <a16:creationId xmlns:a16="http://schemas.microsoft.com/office/drawing/2014/main" id="{5BF5D191-B116-0AF2-5401-E0E3A81AE89D}"/>
              </a:ext>
            </a:extLst>
          </p:cNvPr>
          <p:cNvGraphicFramePr>
            <a:graphicFrameLocks noGrp="1"/>
          </p:cNvGraphicFramePr>
          <p:nvPr>
            <p:extLst>
              <p:ext uri="{D42A27DB-BD31-4B8C-83A1-F6EECF244321}">
                <p14:modId xmlns:p14="http://schemas.microsoft.com/office/powerpoint/2010/main" val="2283205458"/>
              </p:ext>
            </p:extLst>
          </p:nvPr>
        </p:nvGraphicFramePr>
        <p:xfrm>
          <a:off x="142240" y="101600"/>
          <a:ext cx="11938000" cy="6636342"/>
        </p:xfrm>
        <a:graphic>
          <a:graphicData uri="http://schemas.openxmlformats.org/drawingml/2006/table">
            <a:tbl>
              <a:tblPr firstRow="1" firstCol="1" bandRow="1">
                <a:tableStyleId>{284E427A-3D55-4303-BF80-6455036E1DE7}</a:tableStyleId>
              </a:tblPr>
              <a:tblGrid>
                <a:gridCol w="1824701">
                  <a:extLst>
                    <a:ext uri="{9D8B030D-6E8A-4147-A177-3AD203B41FA5}">
                      <a16:colId xmlns:a16="http://schemas.microsoft.com/office/drawing/2014/main" val="20000"/>
                    </a:ext>
                  </a:extLst>
                </a:gridCol>
                <a:gridCol w="8330760">
                  <a:extLst>
                    <a:ext uri="{9D8B030D-6E8A-4147-A177-3AD203B41FA5}">
                      <a16:colId xmlns:a16="http://schemas.microsoft.com/office/drawing/2014/main" val="20001"/>
                    </a:ext>
                  </a:extLst>
                </a:gridCol>
                <a:gridCol w="1782539">
                  <a:extLst>
                    <a:ext uri="{9D8B030D-6E8A-4147-A177-3AD203B41FA5}">
                      <a16:colId xmlns:a16="http://schemas.microsoft.com/office/drawing/2014/main" val="739431323"/>
                    </a:ext>
                  </a:extLst>
                </a:gridCol>
              </a:tblGrid>
              <a:tr h="335721">
                <a:tc>
                  <a:txBody>
                    <a:bodyPr/>
                    <a:lstStyle/>
                    <a:p>
                      <a:pPr algn="ctr">
                        <a:lnSpc>
                          <a:spcPct val="115000"/>
                        </a:lnSpc>
                        <a:spcAft>
                          <a:spcPts val="0"/>
                        </a:spcAft>
                      </a:pPr>
                      <a:r>
                        <a:rPr lang="en-PH" sz="1700" b="1" dirty="0">
                          <a:ln>
                            <a:solidFill>
                              <a:schemeClr val="tx1"/>
                            </a:solidFill>
                          </a:ln>
                          <a:solidFill>
                            <a:schemeClr val="tx1"/>
                          </a:solidFill>
                          <a:effectLst/>
                        </a:rPr>
                        <a:t>BP Form (22)</a:t>
                      </a:r>
                      <a:endParaRPr lang="en-PH" sz="1700" b="1"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250190" algn="ctr">
                        <a:lnSpc>
                          <a:spcPct val="50000"/>
                        </a:lnSpc>
                        <a:spcAft>
                          <a:spcPts val="0"/>
                        </a:spcAft>
                      </a:pPr>
                      <a:endParaRPr lang="en-PH" sz="1700" b="1" dirty="0">
                        <a:ln>
                          <a:solidFill>
                            <a:schemeClr val="tx1"/>
                          </a:solidFill>
                        </a:ln>
                        <a:solidFill>
                          <a:schemeClr val="tx1"/>
                        </a:solidFill>
                        <a:effectLst/>
                      </a:endParaRPr>
                    </a:p>
                    <a:p>
                      <a:pPr indent="250190" algn="ctr">
                        <a:lnSpc>
                          <a:spcPct val="50000"/>
                        </a:lnSpc>
                        <a:spcAft>
                          <a:spcPts val="0"/>
                        </a:spcAft>
                      </a:pPr>
                      <a:r>
                        <a:rPr lang="en-PH" sz="1700" b="1" dirty="0">
                          <a:ln>
                            <a:solidFill>
                              <a:schemeClr val="tx1"/>
                            </a:solidFill>
                          </a:ln>
                          <a:solidFill>
                            <a:schemeClr val="tx1"/>
                          </a:solidFill>
                          <a:effectLst/>
                        </a:rPr>
                        <a:t>Title</a:t>
                      </a:r>
                      <a:endParaRPr lang="en-PH" sz="1700" b="1"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lnSpc>
                          <a:spcPct val="115000"/>
                        </a:lnSpc>
                        <a:spcAft>
                          <a:spcPts val="0"/>
                        </a:spcAft>
                      </a:pPr>
                      <a:r>
                        <a:rPr lang="en-PH" sz="1700" b="1" dirty="0">
                          <a:ln>
                            <a:solidFill>
                              <a:schemeClr val="tx1"/>
                            </a:solidFill>
                          </a:ln>
                          <a:solidFill>
                            <a:schemeClr val="tx1"/>
                          </a:solidFill>
                          <a:effectLst/>
                        </a:rPr>
                        <a:t>With Changes</a:t>
                      </a:r>
                      <a:endParaRPr lang="en-PH" sz="1700" b="1"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A</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Program Budget Matrix</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B</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Agency Performance Measures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sym typeface="Wingdings" panose="05000000000000000000" pitchFamily="2" charset="2"/>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54404">
                <a:tc>
                  <a:txBody>
                    <a:bodyPr/>
                    <a:lstStyle/>
                    <a:p>
                      <a:pPr algn="ctr">
                        <a:lnSpc>
                          <a:spcPct val="115000"/>
                        </a:lnSpc>
                        <a:spcAft>
                          <a:spcPts val="0"/>
                        </a:spcAft>
                      </a:pPr>
                      <a:r>
                        <a:rPr lang="en-PH" sz="1700" b="0" dirty="0">
                          <a:ln>
                            <a:solidFill>
                              <a:schemeClr val="tx1"/>
                            </a:solidFill>
                          </a:ln>
                          <a:solidFill>
                            <a:schemeClr val="tx1"/>
                          </a:solidFill>
                          <a:effectLst/>
                          <a:highlight>
                            <a:srgbClr val="FFFF00"/>
                          </a:highlight>
                        </a:rPr>
                        <a:t>C</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highlight>
                            <a:srgbClr val="FFFF00"/>
                          </a:highlight>
                        </a:rPr>
                        <a:t>Summary of RDC Inputs and Recommendations on Agency Programs and Projects</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rPr>
                        <a:t> </a:t>
                      </a:r>
                      <a:r>
                        <a:rPr lang="en-PH" sz="1700" b="0" dirty="0">
                          <a:ln>
                            <a:solidFill>
                              <a:schemeClr val="tx1"/>
                            </a:solidFill>
                          </a:ln>
                          <a:solidFill>
                            <a:schemeClr val="tx1"/>
                          </a:solidFill>
                          <a:effectLst/>
                          <a:sym typeface="Wingdings" panose="05000000000000000000" pitchFamily="2" charset="2"/>
                        </a:rPr>
                        <a:t></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D</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Report of CSO’s Inputs on Ongoing and New Spending Projects and Activities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82802">
                <a:tc>
                  <a:txBody>
                    <a:bodyPr/>
                    <a:lstStyle/>
                    <a:p>
                      <a:pPr algn="ctr">
                        <a:lnSpc>
                          <a:spcPct val="115000"/>
                        </a:lnSpc>
                        <a:spcAft>
                          <a:spcPts val="0"/>
                        </a:spcAft>
                      </a:pPr>
                      <a:r>
                        <a:rPr lang="en-PH" sz="1700" b="0" dirty="0">
                          <a:ln>
                            <a:solidFill>
                              <a:schemeClr val="tx1"/>
                            </a:solidFill>
                          </a:ln>
                          <a:solidFill>
                            <a:schemeClr val="tx1"/>
                          </a:solidFill>
                          <a:effectLst/>
                          <a:highlight>
                            <a:srgbClr val="FFFF00"/>
                          </a:highlight>
                        </a:rPr>
                        <a:t>100</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highlight>
                            <a:srgbClr val="FFFF00"/>
                          </a:highlight>
                        </a:rPr>
                        <a:t>Statement of Revenues (General Fund)</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sym typeface="Wingdings" panose="05000000000000000000" pitchFamily="2" charset="2"/>
                        </a:rPr>
                        <a:t> </a:t>
                      </a: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82802">
                <a:tc>
                  <a:txBody>
                    <a:bodyPr/>
                    <a:lstStyle/>
                    <a:p>
                      <a:pPr algn="ctr">
                        <a:lnSpc>
                          <a:spcPct val="115000"/>
                        </a:lnSpc>
                        <a:spcAft>
                          <a:spcPts val="0"/>
                        </a:spcAft>
                      </a:pPr>
                      <a:r>
                        <a:rPr lang="en-PH" sz="1700" b="0" dirty="0">
                          <a:ln>
                            <a:solidFill>
                              <a:schemeClr val="tx1"/>
                            </a:solidFill>
                          </a:ln>
                          <a:solidFill>
                            <a:schemeClr val="tx1"/>
                          </a:solidFill>
                          <a:effectLst/>
                          <a:highlight>
                            <a:srgbClr val="FFFF00"/>
                          </a:highlight>
                        </a:rPr>
                        <a:t>100-A</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highlight>
                            <a:srgbClr val="FFFF00"/>
                          </a:highlight>
                        </a:rPr>
                        <a:t>Statement of Revenues and Expenditures (Earmarked Revenues)</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sym typeface="Wingdings" panose="05000000000000000000" pitchFamily="2" charset="2"/>
                        </a:rPr>
                        <a:t> </a:t>
                      </a: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100-B</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Statement of Other Receipts/Expenditures (Off-Budgetary and Custodial Funds)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100-C</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Statement of Donations and Grants (In Cash or In Kind)</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200</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Comparison of Appropriations and Obligations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201</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Summary of Obligations and Proposed Programs/Projects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290177">
                <a:tc>
                  <a:txBody>
                    <a:bodyPr/>
                    <a:lstStyle/>
                    <a:p>
                      <a:pPr algn="ctr">
                        <a:lnSpc>
                          <a:spcPct val="115000"/>
                        </a:lnSpc>
                        <a:spcAft>
                          <a:spcPts val="0"/>
                        </a:spcAft>
                      </a:pPr>
                      <a:r>
                        <a:rPr lang="en-PH" sz="1700" b="0" dirty="0">
                          <a:ln>
                            <a:solidFill>
                              <a:schemeClr val="tx1"/>
                            </a:solidFill>
                          </a:ln>
                          <a:solidFill>
                            <a:schemeClr val="tx1"/>
                          </a:solidFill>
                          <a:effectLst/>
                        </a:rPr>
                        <a:t>201-A</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Obligations for Personnel Services (PS)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201-B</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Obligations for Maintenance and Other Operating Expenditure (MOOE)</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201-C</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Obligations for Financial Expenses (</a:t>
                      </a:r>
                      <a:r>
                        <a:rPr lang="en-PH" sz="1700" b="0" dirty="0" err="1">
                          <a:ln>
                            <a:solidFill>
                              <a:schemeClr val="tx1"/>
                            </a:solidFill>
                          </a:ln>
                          <a:solidFill>
                            <a:schemeClr val="tx1"/>
                          </a:solidFill>
                          <a:effectLst/>
                        </a:rPr>
                        <a:t>FinEx</a:t>
                      </a:r>
                      <a:r>
                        <a:rPr lang="en-PH" sz="1700" b="0" dirty="0">
                          <a:ln>
                            <a:solidFill>
                              <a:schemeClr val="tx1"/>
                            </a:solidFill>
                          </a:ln>
                          <a:solidFill>
                            <a:schemeClr val="tx1"/>
                          </a:solidFill>
                          <a:effectLst/>
                        </a:rPr>
                        <a:t>)</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201-D</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Obligations for Capital Outlays (CO)</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201-E</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Summary of Outyear Requirements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282802">
                <a:tc>
                  <a:txBody>
                    <a:bodyPr/>
                    <a:lstStyle/>
                    <a:p>
                      <a:pPr algn="ctr">
                        <a:lnSpc>
                          <a:spcPct val="115000"/>
                        </a:lnSpc>
                        <a:spcAft>
                          <a:spcPts val="0"/>
                        </a:spcAft>
                      </a:pPr>
                      <a:r>
                        <a:rPr lang="en-PH" sz="1700" b="0" dirty="0">
                          <a:ln>
                            <a:solidFill>
                              <a:schemeClr val="tx1"/>
                            </a:solidFill>
                          </a:ln>
                          <a:solidFill>
                            <a:schemeClr val="tx1"/>
                          </a:solidFill>
                          <a:effectLst/>
                          <a:highlight>
                            <a:srgbClr val="FFFF00"/>
                          </a:highlight>
                        </a:rPr>
                        <a:t>202</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highlight>
                            <a:srgbClr val="FFFF00"/>
                          </a:highlight>
                        </a:rPr>
                        <a:t>Profile for Tier 2 Budget Proposals</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sym typeface="Wingdings" panose="05000000000000000000" pitchFamily="2" charset="2"/>
                        </a:rPr>
                        <a:t></a:t>
                      </a: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282802">
                <a:tc>
                  <a:txBody>
                    <a:bodyPr/>
                    <a:lstStyle/>
                    <a:p>
                      <a:pPr algn="ctr">
                        <a:lnSpc>
                          <a:spcPct val="115000"/>
                        </a:lnSpc>
                        <a:spcAft>
                          <a:spcPts val="0"/>
                        </a:spcAft>
                      </a:pPr>
                      <a:r>
                        <a:rPr lang="en-PH" sz="1700" b="0" dirty="0">
                          <a:ln>
                            <a:solidFill>
                              <a:schemeClr val="tx1"/>
                            </a:solidFill>
                          </a:ln>
                          <a:solidFill>
                            <a:schemeClr val="tx1"/>
                          </a:solidFill>
                          <a:effectLst/>
                          <a:highlight>
                            <a:srgbClr val="FFFF00"/>
                          </a:highlight>
                        </a:rPr>
                        <a:t>203</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highlight>
                            <a:srgbClr val="FFFF00"/>
                          </a:highlight>
                        </a:rPr>
                        <a:t>Profile for Foreign-Assisted Projects</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sym typeface="Wingdings" panose="05000000000000000000" pitchFamily="2" charset="2"/>
                        </a:rPr>
                        <a:t></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282802">
                <a:tc>
                  <a:txBody>
                    <a:bodyPr/>
                    <a:lstStyle/>
                    <a:p>
                      <a:pPr algn="ctr">
                        <a:lnSpc>
                          <a:spcPct val="115000"/>
                        </a:lnSpc>
                        <a:spcAft>
                          <a:spcPts val="0"/>
                        </a:spcAft>
                      </a:pPr>
                      <a:r>
                        <a:rPr lang="en-PH" sz="1700" b="0" dirty="0">
                          <a:ln>
                            <a:solidFill>
                              <a:schemeClr val="tx1"/>
                            </a:solidFill>
                          </a:ln>
                          <a:solidFill>
                            <a:schemeClr val="tx1"/>
                          </a:solidFill>
                          <a:effectLst/>
                          <a:highlight>
                            <a:srgbClr val="FFFF00"/>
                          </a:highlight>
                        </a:rPr>
                        <a:t>204</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highlight>
                            <a:srgbClr val="FFFF00"/>
                          </a:highlight>
                        </a:rPr>
                        <a:t>Staffing Summary of Non-Permanent Positions</a:t>
                      </a:r>
                      <a:endParaRPr lang="en-PH" sz="1700" b="0" dirty="0">
                        <a:ln>
                          <a:solidFill>
                            <a:schemeClr val="tx1"/>
                          </a:solidFill>
                        </a:ln>
                        <a:solidFill>
                          <a:schemeClr val="tx1"/>
                        </a:solidFill>
                        <a:effectLst/>
                        <a:highlight>
                          <a:srgbClr val="FFFF00"/>
                        </a:highligh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sym typeface="Wingdings" panose="05000000000000000000" pitchFamily="2" charset="2"/>
                        </a:rPr>
                        <a:t></a:t>
                      </a: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205</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List of Retirees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9"/>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206</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Convergence Programs and Projects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Tx/>
                        <a:buSzTx/>
                        <a:buFont typeface="Wingdings" panose="05000000000000000000" pitchFamily="2" charset="2"/>
                        <a:buNone/>
                        <a:tabLst/>
                        <a:defRPr/>
                      </a:pP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0"/>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207</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Climate Change Expenditures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15000"/>
                        </a:lnSpc>
                        <a:spcAft>
                          <a:spcPts val="0"/>
                        </a:spcAft>
                        <a:buFont typeface="Wingdings" panose="05000000000000000000" pitchFamily="2" charset="2"/>
                        <a:buNone/>
                      </a:pPr>
                      <a:r>
                        <a:rPr lang="en-PH" sz="1700" b="0" dirty="0">
                          <a:ln>
                            <a:solidFill>
                              <a:schemeClr val="tx1"/>
                            </a:solidFill>
                          </a:ln>
                          <a:solidFill>
                            <a:schemeClr val="tx1"/>
                          </a:solidFill>
                          <a:effectLst/>
                        </a:rPr>
                        <a:t> </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1"/>
                  </a:ext>
                </a:extLst>
              </a:tr>
              <a:tr h="282802">
                <a:tc>
                  <a:txBody>
                    <a:bodyPr/>
                    <a:lstStyle/>
                    <a:p>
                      <a:pPr algn="ctr">
                        <a:lnSpc>
                          <a:spcPct val="115000"/>
                        </a:lnSpc>
                        <a:spcAft>
                          <a:spcPts val="0"/>
                        </a:spcAft>
                      </a:pPr>
                      <a:r>
                        <a:rPr lang="en-PH" sz="1700" b="0" dirty="0">
                          <a:ln>
                            <a:solidFill>
                              <a:schemeClr val="tx1"/>
                            </a:solidFill>
                          </a:ln>
                          <a:solidFill>
                            <a:schemeClr val="tx1"/>
                          </a:solidFill>
                          <a:effectLst/>
                        </a:rPr>
                        <a:t>300</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r>
                        <a:rPr lang="en-PH" sz="1700" b="0" dirty="0">
                          <a:ln>
                            <a:solidFill>
                              <a:schemeClr val="tx1"/>
                            </a:solidFill>
                          </a:ln>
                          <a:solidFill>
                            <a:schemeClr val="tx1"/>
                          </a:solidFill>
                          <a:effectLst/>
                        </a:rPr>
                        <a:t>FY 2027 Proposed Provisions</a:t>
                      </a: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250190" algn="l">
                        <a:lnSpc>
                          <a:spcPct val="115000"/>
                        </a:lnSpc>
                        <a:spcAft>
                          <a:spcPts val="0"/>
                        </a:spcAft>
                      </a:pPr>
                      <a:endParaRPr lang="en-PH" sz="1700" b="0" dirty="0">
                        <a:ln>
                          <a:solidFill>
                            <a:schemeClr val="tx1"/>
                          </a:solidFill>
                        </a:ln>
                        <a:solidFill>
                          <a:schemeClr val="tx1"/>
                        </a:solidFill>
                        <a:effectLst/>
                        <a:latin typeface="Futura Std Book" panose="020B0502020204020303"/>
                        <a:ea typeface="Calibri" panose="020F0502020204030204" pitchFamily="34" charset="0"/>
                        <a:cs typeface="Times New Roman" panose="02020603050405020304" pitchFamily="18" charset="0"/>
                      </a:endParaRPr>
                    </a:p>
                  </a:txBody>
                  <a:tcPr marL="42440" marR="42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516566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0563-835C-B28E-10D7-E977A8E5E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78380-69A0-0817-EE70-EDE1747A667D}"/>
              </a:ext>
            </a:extLst>
          </p:cNvPr>
          <p:cNvSpPr>
            <a:spLocks noGrp="1"/>
          </p:cNvSpPr>
          <p:nvPr>
            <p:ph type="title"/>
          </p:nvPr>
        </p:nvSpPr>
        <p:spPr>
          <a:xfrm>
            <a:off x="2601354" y="2600325"/>
            <a:ext cx="10852150" cy="828675"/>
          </a:xfrm>
        </p:spPr>
        <p:txBody>
          <a:bodyPr/>
          <a:lstStyle/>
          <a:p>
            <a:r>
              <a:rPr lang="en-US" dirty="0">
                <a:solidFill>
                  <a:schemeClr val="tx1"/>
                </a:solidFill>
              </a:rPr>
              <a:t>BP Forms and Instructions</a:t>
            </a:r>
            <a:br>
              <a:rPr lang="en-US" dirty="0">
                <a:solidFill>
                  <a:schemeClr val="tx1"/>
                </a:solidFill>
              </a:rPr>
            </a:br>
            <a:r>
              <a:rPr lang="en-US" dirty="0">
                <a:solidFill>
                  <a:schemeClr val="tx1"/>
                </a:solidFill>
              </a:rPr>
              <a:t>(with Changes) </a:t>
            </a:r>
            <a:br>
              <a:rPr lang="en-US" dirty="0">
                <a:solidFill>
                  <a:schemeClr val="tx1"/>
                </a:solidFill>
              </a:rPr>
            </a:br>
            <a:endParaRPr lang="en-US" dirty="0">
              <a:solidFill>
                <a:schemeClr val="tx1"/>
              </a:solidFill>
            </a:endParaRPr>
          </a:p>
        </p:txBody>
      </p:sp>
      <p:sp>
        <p:nvSpPr>
          <p:cNvPr id="6" name="Rectangle 5">
            <a:extLst>
              <a:ext uri="{FF2B5EF4-FFF2-40B4-BE49-F238E27FC236}">
                <a16:creationId xmlns:a16="http://schemas.microsoft.com/office/drawing/2014/main" id="{C91851CE-8D47-576B-23FD-ED286018EB7B}"/>
              </a:ext>
            </a:extLst>
          </p:cNvPr>
          <p:cNvSpPr/>
          <p:nvPr/>
        </p:nvSpPr>
        <p:spPr>
          <a:xfrm>
            <a:off x="941717" y="2568199"/>
            <a:ext cx="1361537" cy="1284528"/>
          </a:xfrm>
          <a:prstGeom prst="rect">
            <a:avLst/>
          </a:prstGeom>
          <a:ln>
            <a:solidFill>
              <a:srgbClr val="FF66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PH" sz="6000" b="1" dirty="0">
                <a:ln>
                  <a:solidFill>
                    <a:srgbClr val="FFCC00"/>
                  </a:solidFill>
                </a:ln>
                <a:solidFill>
                  <a:schemeClr val="tx1"/>
                </a:solidFill>
              </a:rPr>
              <a:t>✓</a:t>
            </a:r>
            <a:endParaRPr lang="en-PH" sz="19900" dirty="0">
              <a:ln>
                <a:solidFill>
                  <a:srgbClr val="FFCC00"/>
                </a:solidFill>
              </a:ln>
              <a:solidFill>
                <a:schemeClr val="tx1"/>
              </a:solidFill>
            </a:endParaRPr>
          </a:p>
        </p:txBody>
      </p:sp>
    </p:spTree>
    <p:extLst>
      <p:ext uri="{BB962C8B-B14F-4D97-AF65-F5344CB8AC3E}">
        <p14:creationId xmlns:p14="http://schemas.microsoft.com/office/powerpoint/2010/main" val="213017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6971-FD5D-38E5-AC01-503F9F3C2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05C6D-C417-8FE7-C9D4-BC22821BDC6B}"/>
              </a:ext>
            </a:extLst>
          </p:cNvPr>
          <p:cNvSpPr>
            <a:spLocks noGrp="1"/>
          </p:cNvSpPr>
          <p:nvPr>
            <p:ph type="title"/>
          </p:nvPr>
        </p:nvSpPr>
        <p:spPr>
          <a:xfrm>
            <a:off x="1419828" y="249170"/>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47542DCA-A1C4-CF95-68F8-981A3CE7AC8F}"/>
              </a:ext>
            </a:extLst>
          </p:cNvPr>
          <p:cNvSpPr txBox="1">
            <a:spLocks/>
          </p:cNvSpPr>
          <p:nvPr/>
        </p:nvSpPr>
        <p:spPr>
          <a:xfrm>
            <a:off x="1130030" y="927596"/>
            <a:ext cx="9949774" cy="823383"/>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100</a:t>
            </a:r>
          </a:p>
          <a:p>
            <a:pPr algn="ctr"/>
            <a:r>
              <a:rPr lang="en-PH" sz="2400" dirty="0">
                <a:solidFill>
                  <a:schemeClr val="tx1"/>
                </a:solidFill>
                <a:latin typeface="Futura Std Book" panose="020B0502020204020303"/>
              </a:rPr>
              <a:t>STATEMENT OF REVENUES (GENERAL FUND)</a:t>
            </a:r>
            <a:endParaRPr lang="en-PH" sz="2400" b="0" dirty="0">
              <a:solidFill>
                <a:schemeClr val="tx1"/>
              </a:solidFill>
              <a:latin typeface="Futura Std Book" panose="020B0502020204020303"/>
            </a:endParaRPr>
          </a:p>
        </p:txBody>
      </p:sp>
      <p:sp>
        <p:nvSpPr>
          <p:cNvPr id="6" name="TextBox 5">
            <a:extLst>
              <a:ext uri="{FF2B5EF4-FFF2-40B4-BE49-F238E27FC236}">
                <a16:creationId xmlns:a16="http://schemas.microsoft.com/office/drawing/2014/main" id="{F4EEA329-A8C9-CB92-2382-3E9D22A392DF}"/>
              </a:ext>
            </a:extLst>
          </p:cNvPr>
          <p:cNvSpPr txBox="1"/>
          <p:nvPr/>
        </p:nvSpPr>
        <p:spPr>
          <a:xfrm>
            <a:off x="6641842" y="2028217"/>
            <a:ext cx="5113990" cy="4416594"/>
          </a:xfrm>
          <a:prstGeom prst="rect">
            <a:avLst/>
          </a:prstGeom>
          <a:noFill/>
        </p:spPr>
        <p:txBody>
          <a:bodyPr wrap="square">
            <a:spAutoFit/>
          </a:bodyPr>
          <a:lstStyle/>
          <a:p>
            <a:pPr algn="just">
              <a:buFont typeface="Wingdings" panose="05000000000000000000" pitchFamily="2" charset="2"/>
              <a:buChar char="q"/>
            </a:pPr>
            <a:r>
              <a:rPr lang="en-PH" sz="1700" b="1" dirty="0">
                <a:latin typeface="Futura PT Bold" panose="020B0902020204020203"/>
              </a:rPr>
              <a:t> Modified the Instructions for Column 11:</a:t>
            </a:r>
          </a:p>
          <a:p>
            <a:pPr algn="just"/>
            <a:endParaRPr lang="en-PH" sz="2000" b="1" dirty="0">
              <a:highlight>
                <a:srgbClr val="FFFF00"/>
              </a:highlight>
              <a:latin typeface="Futura PT Bold" panose="020B0902020204020203"/>
            </a:endParaRPr>
          </a:p>
          <a:p>
            <a:pPr marL="285750" indent="-285750" algn="just">
              <a:buFont typeface="Wingdings" panose="05000000000000000000" pitchFamily="2" charset="2"/>
              <a:buChar char="ü"/>
            </a:pPr>
            <a:r>
              <a:rPr lang="en-PH" sz="1400" b="1" dirty="0">
                <a:latin typeface="Futura PT Bold" panose="020B0902020204020203"/>
              </a:rPr>
              <a:t>From: </a:t>
            </a:r>
            <a:r>
              <a:rPr lang="en-US" sz="1400" dirty="0">
                <a:latin typeface="Futura PT Bold" panose="020B0902020204020203"/>
              </a:rPr>
              <a:t>Assumption/basis in the projection of income. Significant increase/decrease in the income projection for FYs 2027-2029 vis-a-vis prior and current year level must be fully justified. Reasons for material deviations of income realization in FY 2025 compared with the FY 2025 income estimate shall also be justified.</a:t>
            </a:r>
          </a:p>
          <a:p>
            <a:pPr algn="just"/>
            <a:endParaRPr lang="en-PH" sz="1400" dirty="0">
              <a:latin typeface="Futura PT Bold" panose="020B0902020204020203"/>
            </a:endParaRPr>
          </a:p>
          <a:p>
            <a:pPr marL="285750" indent="-285750" algn="just">
              <a:buFont typeface="Wingdings" panose="05000000000000000000" pitchFamily="2" charset="2"/>
              <a:buChar char="ü"/>
            </a:pPr>
            <a:r>
              <a:rPr lang="en-PH" sz="1400" b="1" dirty="0">
                <a:latin typeface="Futura PT Bold" panose="020B0902020204020203"/>
              </a:rPr>
              <a:t>To: </a:t>
            </a:r>
            <a:r>
              <a:rPr lang="en-US" sz="1400" dirty="0">
                <a:latin typeface="Futura PT Bold" panose="020B0902020204020203"/>
              </a:rPr>
              <a:t>Assumption/basis in the projection of income. </a:t>
            </a:r>
            <a:r>
              <a:rPr lang="en-US" sz="1400" b="1" dirty="0">
                <a:highlight>
                  <a:srgbClr val="FFFF00"/>
                </a:highlight>
                <a:latin typeface="Futura PT Bold" panose="020B0902020204020203"/>
              </a:rPr>
              <a:t>Any</a:t>
            </a:r>
            <a:r>
              <a:rPr lang="en-US" sz="1400" dirty="0">
                <a:latin typeface="Futura PT Bold" panose="020B0902020204020203"/>
              </a:rPr>
              <a:t> significant increase/decrease in the </a:t>
            </a:r>
            <a:r>
              <a:rPr lang="en-US" sz="1400" b="1" dirty="0">
                <a:highlight>
                  <a:srgbClr val="FFFF00"/>
                </a:highlight>
                <a:latin typeface="Futura PT Bold" panose="020B0902020204020203"/>
              </a:rPr>
              <a:t>updated</a:t>
            </a:r>
            <a:r>
              <a:rPr lang="en-US" sz="1400" dirty="0">
                <a:latin typeface="Futura PT Bold" panose="020B0902020204020203"/>
              </a:rPr>
              <a:t> income projections for FYs </a:t>
            </a:r>
            <a:r>
              <a:rPr lang="en-US" sz="1400" b="1" dirty="0">
                <a:highlight>
                  <a:srgbClr val="FFFF00"/>
                </a:highlight>
                <a:latin typeface="Futura PT Bold" panose="020B0902020204020203"/>
              </a:rPr>
              <a:t>2026</a:t>
            </a:r>
            <a:r>
              <a:rPr lang="en-US" sz="1400" dirty="0">
                <a:latin typeface="Futura PT Bold" panose="020B0902020204020203"/>
              </a:rPr>
              <a:t>-2029, vis-à-vis </a:t>
            </a:r>
            <a:r>
              <a:rPr lang="en-US" sz="1400" b="1" dirty="0">
                <a:highlight>
                  <a:srgbClr val="FFFF00"/>
                </a:highlight>
                <a:latin typeface="Futura PT Bold" panose="020B0902020204020203"/>
              </a:rPr>
              <a:t>the</a:t>
            </a:r>
            <a:r>
              <a:rPr lang="en-US" sz="1400" dirty="0">
                <a:latin typeface="Futura PT Bold" panose="020B0902020204020203"/>
              </a:rPr>
              <a:t> prior </a:t>
            </a:r>
            <a:r>
              <a:rPr lang="en-US" sz="1400" b="1" dirty="0">
                <a:highlight>
                  <a:srgbClr val="FFFF00"/>
                </a:highlight>
                <a:latin typeface="Futura PT Bold" panose="020B0902020204020203"/>
              </a:rPr>
              <a:t>year's level </a:t>
            </a:r>
            <a:r>
              <a:rPr lang="en-US" sz="1400" dirty="0">
                <a:latin typeface="Futura PT Bold" panose="020B0902020204020203"/>
              </a:rPr>
              <a:t>and </a:t>
            </a:r>
            <a:r>
              <a:rPr lang="en-US" sz="1400" b="1" dirty="0">
                <a:highlight>
                  <a:srgbClr val="FFFF00"/>
                </a:highlight>
                <a:latin typeface="Futura PT Bold" panose="020B0902020204020203"/>
              </a:rPr>
              <a:t>original estimates for the same fiscal years as reflected in the FY 2026 BESF, as applicable, </a:t>
            </a:r>
            <a:r>
              <a:rPr lang="en-US" sz="1400" dirty="0">
                <a:latin typeface="Futura PT Bold" panose="020B0902020204020203"/>
              </a:rPr>
              <a:t>must be fully justified. Reasons for material deviations of income realization in FY 2025 compared with the FY 2025 income estimate shall also be justified.</a:t>
            </a:r>
            <a:endParaRPr lang="en-PH" sz="1400" b="1" dirty="0">
              <a:latin typeface="Futura PT Bold" panose="020B0902020204020203"/>
            </a:endParaRPr>
          </a:p>
          <a:p>
            <a:pPr algn="just"/>
            <a:endParaRPr lang="en-PH" sz="2000" b="1" dirty="0">
              <a:latin typeface="Futura Std Book" panose="020B0502020204020303"/>
            </a:endParaRPr>
          </a:p>
        </p:txBody>
      </p:sp>
      <p:pic>
        <p:nvPicPr>
          <p:cNvPr id="7" name="Picture 6">
            <a:extLst>
              <a:ext uri="{FF2B5EF4-FFF2-40B4-BE49-F238E27FC236}">
                <a16:creationId xmlns:a16="http://schemas.microsoft.com/office/drawing/2014/main" id="{FDC2501F-B26B-10DB-AD57-DF442BFD7CC8}"/>
              </a:ext>
            </a:extLst>
          </p:cNvPr>
          <p:cNvPicPr>
            <a:picLocks noChangeAspect="1"/>
          </p:cNvPicPr>
          <p:nvPr/>
        </p:nvPicPr>
        <p:blipFill>
          <a:blip r:embed="rId3"/>
          <a:stretch>
            <a:fillRect/>
          </a:stretch>
        </p:blipFill>
        <p:spPr>
          <a:xfrm>
            <a:off x="436168" y="2028217"/>
            <a:ext cx="6174118" cy="4071025"/>
          </a:xfrm>
          <a:prstGeom prst="rect">
            <a:avLst/>
          </a:prstGeom>
          <a:ln w="12700">
            <a:solidFill>
              <a:schemeClr val="tx1"/>
            </a:solidFill>
          </a:ln>
        </p:spPr>
      </p:pic>
      <p:sp>
        <p:nvSpPr>
          <p:cNvPr id="8" name="Oval 7">
            <a:extLst>
              <a:ext uri="{FF2B5EF4-FFF2-40B4-BE49-F238E27FC236}">
                <a16:creationId xmlns:a16="http://schemas.microsoft.com/office/drawing/2014/main" id="{27F7DA61-CDF4-820B-009C-9642F0A1E685}"/>
              </a:ext>
            </a:extLst>
          </p:cNvPr>
          <p:cNvSpPr/>
          <p:nvPr/>
        </p:nvSpPr>
        <p:spPr>
          <a:xfrm>
            <a:off x="5596826" y="2962071"/>
            <a:ext cx="616405" cy="583661"/>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862943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18EE8-1C0A-999D-E946-D5471CC3D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B2B76-96F3-0DB8-0610-33045E0C5863}"/>
              </a:ext>
            </a:extLst>
          </p:cNvPr>
          <p:cNvSpPr>
            <a:spLocks noGrp="1"/>
          </p:cNvSpPr>
          <p:nvPr>
            <p:ph type="title"/>
          </p:nvPr>
        </p:nvSpPr>
        <p:spPr>
          <a:xfrm>
            <a:off x="1513613" y="268961"/>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89E52A5E-0577-CF03-470F-2C4FF2B92BC6}"/>
              </a:ext>
            </a:extLst>
          </p:cNvPr>
          <p:cNvSpPr txBox="1">
            <a:spLocks/>
          </p:cNvSpPr>
          <p:nvPr/>
        </p:nvSpPr>
        <p:spPr>
          <a:xfrm>
            <a:off x="1130030" y="927596"/>
            <a:ext cx="9969230" cy="1100621"/>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100-A</a:t>
            </a:r>
          </a:p>
          <a:p>
            <a:pPr algn="ctr"/>
            <a:r>
              <a:rPr lang="en-PH" sz="2400" dirty="0">
                <a:solidFill>
                  <a:schemeClr val="tx1"/>
                </a:solidFill>
                <a:latin typeface="Futura Std Book" panose="020B0502020204020303"/>
              </a:rPr>
              <a:t>STATEMENT OF REVENUES AND EXPENDITURES </a:t>
            </a:r>
          </a:p>
          <a:p>
            <a:pPr algn="ctr"/>
            <a:r>
              <a:rPr lang="en-PH" sz="2400" dirty="0">
                <a:solidFill>
                  <a:schemeClr val="tx1"/>
                </a:solidFill>
                <a:latin typeface="Futura Std Book" panose="020B0502020204020303"/>
              </a:rPr>
              <a:t>(EARMARKED REVENUES)</a:t>
            </a:r>
            <a:endParaRPr lang="en-PH" sz="2400" b="0" dirty="0">
              <a:solidFill>
                <a:schemeClr val="tx1"/>
              </a:solidFill>
              <a:latin typeface="Futura Std Book" panose="020B0502020204020303"/>
            </a:endParaRPr>
          </a:p>
        </p:txBody>
      </p:sp>
      <p:sp>
        <p:nvSpPr>
          <p:cNvPr id="6" name="TextBox 5">
            <a:extLst>
              <a:ext uri="{FF2B5EF4-FFF2-40B4-BE49-F238E27FC236}">
                <a16:creationId xmlns:a16="http://schemas.microsoft.com/office/drawing/2014/main" id="{54661F99-0AE3-5FE4-3CD5-620AB081DDA3}"/>
              </a:ext>
            </a:extLst>
          </p:cNvPr>
          <p:cNvSpPr txBox="1"/>
          <p:nvPr/>
        </p:nvSpPr>
        <p:spPr>
          <a:xfrm>
            <a:off x="6554293" y="2666537"/>
            <a:ext cx="4817341" cy="3231654"/>
          </a:xfrm>
          <a:prstGeom prst="rect">
            <a:avLst/>
          </a:prstGeom>
          <a:noFill/>
        </p:spPr>
        <p:txBody>
          <a:bodyPr wrap="square">
            <a:spAutoFit/>
          </a:bodyPr>
          <a:lstStyle/>
          <a:p>
            <a:pPr algn="just">
              <a:buFont typeface="Wingdings" panose="05000000000000000000" pitchFamily="2" charset="2"/>
              <a:buChar char="q"/>
            </a:pPr>
            <a:r>
              <a:rPr lang="en-PH" sz="2000" b="1" dirty="0">
                <a:latin typeface="Futura PT Bold" panose="020B0902020204020203"/>
              </a:rPr>
              <a:t> Modified the Instructions for Columns 9-10:</a:t>
            </a:r>
          </a:p>
          <a:p>
            <a:pPr algn="just"/>
            <a:endParaRPr lang="en-PH" sz="2000" b="1" dirty="0">
              <a:highlight>
                <a:srgbClr val="FFFF00"/>
              </a:highlight>
              <a:latin typeface="Futura PT Bold" panose="020B0902020204020203"/>
            </a:endParaRPr>
          </a:p>
          <a:p>
            <a:pPr marL="285750" indent="-285750" algn="just">
              <a:buFont typeface="Wingdings" panose="05000000000000000000" pitchFamily="2" charset="2"/>
              <a:buChar char="ü"/>
            </a:pPr>
            <a:r>
              <a:rPr lang="en-PH" sz="1600" b="1" dirty="0">
                <a:latin typeface="Futura PT Bold" panose="020B0902020204020203"/>
              </a:rPr>
              <a:t>From: </a:t>
            </a:r>
            <a:r>
              <a:rPr lang="en-US" sz="1600" dirty="0">
                <a:latin typeface="Futura PT Bold" panose="020B0902020204020203"/>
              </a:rPr>
              <a:t>FY 2026 BESF figures consistent with BP Form 100.</a:t>
            </a:r>
          </a:p>
          <a:p>
            <a:pPr algn="just"/>
            <a:endParaRPr lang="en-PH" sz="1600" dirty="0">
              <a:latin typeface="Futura PT Bold" panose="020B0902020204020203"/>
            </a:endParaRPr>
          </a:p>
          <a:p>
            <a:pPr marL="285750" indent="-285750" algn="just">
              <a:buFont typeface="Wingdings" panose="05000000000000000000" pitchFamily="2" charset="2"/>
              <a:buChar char="ü"/>
            </a:pPr>
            <a:r>
              <a:rPr lang="en-PH" sz="1600" b="1" dirty="0">
                <a:latin typeface="Futura PT Bold" panose="020B0902020204020203"/>
              </a:rPr>
              <a:t>To: </a:t>
            </a:r>
            <a:r>
              <a:rPr lang="en-US" sz="1600" b="1" dirty="0">
                <a:highlight>
                  <a:srgbClr val="FFFF00"/>
                </a:highlight>
                <a:latin typeface="Futura PT Bold" panose="020B0902020204020203"/>
              </a:rPr>
              <a:t>Revenues shall be based on </a:t>
            </a:r>
            <a:r>
              <a:rPr lang="en-US" sz="1600" dirty="0">
                <a:latin typeface="Futura PT Bold" panose="020B0902020204020203"/>
              </a:rPr>
              <a:t>FY 2026 BESF figures </a:t>
            </a:r>
            <a:r>
              <a:rPr lang="en-US" sz="1600" b="1" dirty="0">
                <a:highlight>
                  <a:srgbClr val="FFFF00"/>
                </a:highlight>
                <a:latin typeface="Futura PT Bold" panose="020B0902020204020203"/>
              </a:rPr>
              <a:t>or the </a:t>
            </a:r>
            <a:r>
              <a:rPr lang="en-US" sz="1600" dirty="0">
                <a:latin typeface="Futura PT Bold" panose="020B0902020204020203"/>
              </a:rPr>
              <a:t>BP Form 100 </a:t>
            </a:r>
            <a:r>
              <a:rPr lang="en-US" sz="1600" b="1" dirty="0">
                <a:highlight>
                  <a:srgbClr val="FFFF00"/>
                </a:highlight>
                <a:latin typeface="Futura PT Bold" panose="020B0902020204020203"/>
              </a:rPr>
              <a:t>updated estimates, if any, while expenditures shall be based on the approved level of Special Account, Automatic Appropriations consistent with the FY 2026 NEP.</a:t>
            </a:r>
            <a:endParaRPr lang="en-PH" sz="1600" b="1" dirty="0">
              <a:highlight>
                <a:srgbClr val="FFFF00"/>
              </a:highlight>
              <a:latin typeface="Futura Std Book" panose="020B0502020204020303"/>
            </a:endParaRPr>
          </a:p>
        </p:txBody>
      </p:sp>
      <p:pic>
        <p:nvPicPr>
          <p:cNvPr id="5" name="Picture 4">
            <a:extLst>
              <a:ext uri="{FF2B5EF4-FFF2-40B4-BE49-F238E27FC236}">
                <a16:creationId xmlns:a16="http://schemas.microsoft.com/office/drawing/2014/main" id="{B299CB8D-8930-BCFE-EBD0-E80070AA7136}"/>
              </a:ext>
            </a:extLst>
          </p:cNvPr>
          <p:cNvPicPr>
            <a:picLocks noChangeAspect="1"/>
          </p:cNvPicPr>
          <p:nvPr/>
        </p:nvPicPr>
        <p:blipFill>
          <a:blip r:embed="rId3"/>
          <a:stretch>
            <a:fillRect/>
          </a:stretch>
        </p:blipFill>
        <p:spPr>
          <a:xfrm>
            <a:off x="523717" y="2329487"/>
            <a:ext cx="5867355" cy="4097033"/>
          </a:xfrm>
          <a:prstGeom prst="rect">
            <a:avLst/>
          </a:prstGeom>
          <a:ln w="12700">
            <a:solidFill>
              <a:schemeClr val="tx1"/>
            </a:solidFill>
          </a:ln>
        </p:spPr>
      </p:pic>
      <p:sp>
        <p:nvSpPr>
          <p:cNvPr id="8" name="Oval 7">
            <a:extLst>
              <a:ext uri="{FF2B5EF4-FFF2-40B4-BE49-F238E27FC236}">
                <a16:creationId xmlns:a16="http://schemas.microsoft.com/office/drawing/2014/main" id="{10E199CF-9EE5-0B0E-632D-1268DE486E2E}"/>
              </a:ext>
            </a:extLst>
          </p:cNvPr>
          <p:cNvSpPr/>
          <p:nvPr/>
        </p:nvSpPr>
        <p:spPr>
          <a:xfrm>
            <a:off x="3748072" y="3137169"/>
            <a:ext cx="616405" cy="583661"/>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874562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B8F85-F2D0-90FE-366F-1EC9BCDA4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00201-59AA-7648-39CF-0C98A4EEBB5E}"/>
              </a:ext>
            </a:extLst>
          </p:cNvPr>
          <p:cNvSpPr>
            <a:spLocks noGrp="1"/>
          </p:cNvSpPr>
          <p:nvPr>
            <p:ph type="title"/>
          </p:nvPr>
        </p:nvSpPr>
        <p:spPr>
          <a:xfrm>
            <a:off x="1466721" y="219986"/>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A00FF252-4737-246A-5207-AAF30F2CC622}"/>
              </a:ext>
            </a:extLst>
          </p:cNvPr>
          <p:cNvSpPr txBox="1">
            <a:spLocks/>
          </p:cNvSpPr>
          <p:nvPr/>
        </p:nvSpPr>
        <p:spPr>
          <a:xfrm>
            <a:off x="1130029" y="927596"/>
            <a:ext cx="9978957" cy="803927"/>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202</a:t>
            </a:r>
          </a:p>
          <a:p>
            <a:pPr algn="ctr"/>
            <a:r>
              <a:rPr lang="en-PH" sz="2400" dirty="0">
                <a:solidFill>
                  <a:schemeClr val="tx1"/>
                </a:solidFill>
                <a:latin typeface="Futura Std Book" panose="020B0502020204020303"/>
              </a:rPr>
              <a:t>PROFILE FOR TIER 2 BUDGET PROPOSALS (BOX No. 4)</a:t>
            </a:r>
            <a:endParaRPr lang="en-PH" sz="2400" b="0" dirty="0">
              <a:solidFill>
                <a:schemeClr val="tx1"/>
              </a:solidFill>
              <a:latin typeface="Futura Std Book" panose="020B0502020204020303"/>
            </a:endParaRPr>
          </a:p>
        </p:txBody>
      </p:sp>
      <p:sp>
        <p:nvSpPr>
          <p:cNvPr id="6" name="TextBox 5">
            <a:extLst>
              <a:ext uri="{FF2B5EF4-FFF2-40B4-BE49-F238E27FC236}">
                <a16:creationId xmlns:a16="http://schemas.microsoft.com/office/drawing/2014/main" id="{7415830B-9FC7-81B3-920D-01EED3327761}"/>
              </a:ext>
            </a:extLst>
          </p:cNvPr>
          <p:cNvSpPr txBox="1"/>
          <p:nvPr/>
        </p:nvSpPr>
        <p:spPr>
          <a:xfrm>
            <a:off x="6782755" y="1595336"/>
            <a:ext cx="4817341" cy="4678204"/>
          </a:xfrm>
          <a:prstGeom prst="rect">
            <a:avLst/>
          </a:prstGeom>
          <a:noFill/>
        </p:spPr>
        <p:txBody>
          <a:bodyPr wrap="square">
            <a:spAutoFit/>
          </a:bodyPr>
          <a:lstStyle/>
          <a:p>
            <a:pPr algn="just"/>
            <a:endParaRPr lang="en-US" sz="1600" b="1" dirty="0">
              <a:highlight>
                <a:srgbClr val="FFFF00"/>
              </a:highlight>
              <a:latin typeface="Futura PT Bold" panose="020B0902020204020203"/>
            </a:endParaRPr>
          </a:p>
          <a:p>
            <a:pPr algn="just">
              <a:buFont typeface="Wingdings" panose="05000000000000000000" pitchFamily="2" charset="2"/>
              <a:buChar char="q"/>
            </a:pPr>
            <a:r>
              <a:rPr lang="en-US" sz="1600" b="1" dirty="0">
                <a:latin typeface="Futura PT Bold" panose="020B0902020204020203"/>
              </a:rPr>
              <a:t> Additional checkboxes to categorize items as </a:t>
            </a:r>
            <a:r>
              <a:rPr lang="en-US" sz="1600" b="1" dirty="0">
                <a:highlight>
                  <a:srgbClr val="FFFF00"/>
                </a:highlight>
                <a:latin typeface="Futura PT Bold" panose="020B0902020204020203"/>
              </a:rPr>
              <a:t>ICT and Non-ICT</a:t>
            </a:r>
            <a:r>
              <a:rPr lang="en-US" sz="1600" b="1" dirty="0">
                <a:latin typeface="Futura PT Bold" panose="020B0902020204020203"/>
              </a:rPr>
              <a:t> within the “infrastructure” and “non-infrastructure” category.</a:t>
            </a:r>
          </a:p>
          <a:p>
            <a:pPr algn="just"/>
            <a:endParaRPr lang="en-US" sz="1600" b="1" dirty="0">
              <a:latin typeface="Futura PT Bold" panose="020B0902020204020203"/>
            </a:endParaRPr>
          </a:p>
          <a:p>
            <a:pPr algn="just">
              <a:buFont typeface="Wingdings" panose="05000000000000000000" pitchFamily="2" charset="2"/>
              <a:buChar char="q"/>
            </a:pPr>
            <a:r>
              <a:rPr lang="en-US" sz="1600" b="1" dirty="0">
                <a:latin typeface="Futura PT Bold" panose="020B0902020204020203"/>
              </a:rPr>
              <a:t> </a:t>
            </a:r>
            <a:r>
              <a:rPr lang="en-PH" sz="1600" b="1" dirty="0">
                <a:latin typeface="Futura PT Bold" panose="020B0902020204020203"/>
              </a:rPr>
              <a:t>Modified the Instructions for Box No. 4:</a:t>
            </a:r>
          </a:p>
          <a:p>
            <a:pPr algn="just"/>
            <a:endParaRPr lang="en-PH" sz="2000" b="1" dirty="0">
              <a:highlight>
                <a:srgbClr val="FFFF00"/>
              </a:highlight>
              <a:latin typeface="Futura PT Bold" panose="020B0902020204020203"/>
            </a:endParaRPr>
          </a:p>
          <a:p>
            <a:pPr marL="285750" indent="-285750" algn="just">
              <a:buFont typeface="Wingdings" panose="05000000000000000000" pitchFamily="2" charset="2"/>
              <a:buChar char="ü"/>
            </a:pPr>
            <a:r>
              <a:rPr lang="en-PH" sz="1300" b="1" dirty="0">
                <a:latin typeface="Futura PT Bold" panose="020B0902020204020203"/>
              </a:rPr>
              <a:t>From: </a:t>
            </a:r>
            <a:r>
              <a:rPr lang="en-US" sz="1300" b="1" u="sng" dirty="0">
                <a:latin typeface="Futura PT Bold" panose="020B0902020204020203"/>
              </a:rPr>
              <a:t>Category</a:t>
            </a:r>
            <a:r>
              <a:rPr lang="en-US" sz="1300" dirty="0">
                <a:latin typeface="Futura PT Bold" panose="020B0902020204020203"/>
              </a:rPr>
              <a:t> of the proposal. First, determine if the proposal is a new project or an expansion of an on-going project. In the case of a new project, indicate if there is a need for MYCA issuance or not. Second, determine whether the project is infrastructure or non-infrastructure.</a:t>
            </a:r>
          </a:p>
          <a:p>
            <a:pPr algn="just"/>
            <a:endParaRPr lang="en-PH" sz="1300" dirty="0">
              <a:latin typeface="Futura PT Bold" panose="020B0902020204020203"/>
            </a:endParaRPr>
          </a:p>
          <a:p>
            <a:pPr marL="285750" indent="-285750" algn="just">
              <a:buFont typeface="Wingdings" panose="05000000000000000000" pitchFamily="2" charset="2"/>
              <a:buChar char="ü"/>
            </a:pPr>
            <a:r>
              <a:rPr lang="en-PH" sz="1300" b="1" dirty="0">
                <a:latin typeface="Futura PT Bold" panose="020B0902020204020203"/>
              </a:rPr>
              <a:t>To: </a:t>
            </a:r>
            <a:r>
              <a:rPr lang="en-US" sz="1300" b="1" u="sng" dirty="0">
                <a:latin typeface="Futura PT Bold" panose="020B0902020204020203"/>
              </a:rPr>
              <a:t>Category</a:t>
            </a:r>
            <a:r>
              <a:rPr lang="en-US" sz="1300" dirty="0">
                <a:latin typeface="Futura PT Bold" panose="020B0902020204020203"/>
              </a:rPr>
              <a:t> of the proposal. First, determine if the proposal is a new project or an expansion of an on-going project. In the case of a new project, indicate if there is a need for MYCA issuance or not. Second, determine whether the project is infrastructure, non-infrastructure, </a:t>
            </a:r>
            <a:r>
              <a:rPr lang="en-US" sz="1300" b="1" dirty="0">
                <a:highlight>
                  <a:srgbClr val="FFFF00"/>
                </a:highlight>
                <a:latin typeface="Futura PT Bold" panose="020B0902020204020203"/>
              </a:rPr>
              <a:t>or for Information and Communication Technology (ICT).</a:t>
            </a:r>
            <a:endParaRPr lang="en-PH" sz="1300" b="1" dirty="0">
              <a:highlight>
                <a:srgbClr val="FFFF00"/>
              </a:highlight>
              <a:latin typeface="Futura Std Book" panose="020B0502020204020303"/>
            </a:endParaRPr>
          </a:p>
        </p:txBody>
      </p:sp>
      <p:pic>
        <p:nvPicPr>
          <p:cNvPr id="7" name="Picture 6">
            <a:extLst>
              <a:ext uri="{FF2B5EF4-FFF2-40B4-BE49-F238E27FC236}">
                <a16:creationId xmlns:a16="http://schemas.microsoft.com/office/drawing/2014/main" id="{32725C64-3961-4170-BB3C-E328D1FD41AF}"/>
              </a:ext>
            </a:extLst>
          </p:cNvPr>
          <p:cNvPicPr>
            <a:picLocks noChangeAspect="1"/>
          </p:cNvPicPr>
          <p:nvPr/>
        </p:nvPicPr>
        <p:blipFill>
          <a:blip r:embed="rId3"/>
          <a:stretch>
            <a:fillRect/>
          </a:stretch>
        </p:blipFill>
        <p:spPr>
          <a:xfrm>
            <a:off x="397352" y="1929545"/>
            <a:ext cx="6312581" cy="4461527"/>
          </a:xfrm>
          <a:prstGeom prst="rect">
            <a:avLst/>
          </a:prstGeom>
          <a:ln w="9525">
            <a:solidFill>
              <a:schemeClr val="tx1"/>
            </a:solidFill>
          </a:ln>
        </p:spPr>
      </p:pic>
      <p:sp>
        <p:nvSpPr>
          <p:cNvPr id="8" name="Oval 7">
            <a:extLst>
              <a:ext uri="{FF2B5EF4-FFF2-40B4-BE49-F238E27FC236}">
                <a16:creationId xmlns:a16="http://schemas.microsoft.com/office/drawing/2014/main" id="{52C30273-2B5F-302E-2FD0-17BC7E16C825}"/>
              </a:ext>
            </a:extLst>
          </p:cNvPr>
          <p:cNvSpPr/>
          <p:nvPr/>
        </p:nvSpPr>
        <p:spPr>
          <a:xfrm>
            <a:off x="4771659" y="3853670"/>
            <a:ext cx="1938274" cy="2537402"/>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501513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FB97-751E-3E0C-9468-68A013D52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4475D-6757-2A1D-91A8-1B60A93D0DF9}"/>
              </a:ext>
            </a:extLst>
          </p:cNvPr>
          <p:cNvSpPr>
            <a:spLocks noGrp="1"/>
          </p:cNvSpPr>
          <p:nvPr>
            <p:ph type="title"/>
          </p:nvPr>
        </p:nvSpPr>
        <p:spPr>
          <a:xfrm>
            <a:off x="1572229" y="270501"/>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0C7CDA2A-14A8-3EEB-00D0-CD505512B83F}"/>
              </a:ext>
            </a:extLst>
          </p:cNvPr>
          <p:cNvSpPr txBox="1">
            <a:spLocks/>
          </p:cNvSpPr>
          <p:nvPr/>
        </p:nvSpPr>
        <p:spPr>
          <a:xfrm>
            <a:off x="1130029" y="927596"/>
            <a:ext cx="9978957" cy="803927"/>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202</a:t>
            </a:r>
          </a:p>
          <a:p>
            <a:pPr algn="ctr"/>
            <a:r>
              <a:rPr lang="en-PH" sz="2400" dirty="0">
                <a:solidFill>
                  <a:schemeClr val="tx1"/>
                </a:solidFill>
                <a:latin typeface="Futura Std Book" panose="020B0502020204020303"/>
              </a:rPr>
              <a:t>PROFILE FOR TIER 2 BUDGET PROPOSALS (BOX No. 12)</a:t>
            </a:r>
            <a:endParaRPr lang="en-PH" sz="2400" b="0" dirty="0">
              <a:solidFill>
                <a:schemeClr val="tx1"/>
              </a:solidFill>
              <a:latin typeface="Futura Std Book" panose="020B0502020204020303"/>
            </a:endParaRPr>
          </a:p>
        </p:txBody>
      </p:sp>
      <p:sp>
        <p:nvSpPr>
          <p:cNvPr id="6" name="TextBox 5">
            <a:extLst>
              <a:ext uri="{FF2B5EF4-FFF2-40B4-BE49-F238E27FC236}">
                <a16:creationId xmlns:a16="http://schemas.microsoft.com/office/drawing/2014/main" id="{03E58A5E-E19D-83A6-0F1E-77C29DB0A29C}"/>
              </a:ext>
            </a:extLst>
          </p:cNvPr>
          <p:cNvSpPr txBox="1"/>
          <p:nvPr/>
        </p:nvSpPr>
        <p:spPr>
          <a:xfrm>
            <a:off x="6850269" y="2075874"/>
            <a:ext cx="4385846" cy="3662541"/>
          </a:xfrm>
          <a:prstGeom prst="rect">
            <a:avLst/>
          </a:prstGeom>
          <a:noFill/>
        </p:spPr>
        <p:txBody>
          <a:bodyPr wrap="square">
            <a:spAutoFit/>
          </a:bodyPr>
          <a:lstStyle/>
          <a:p>
            <a:pPr algn="just"/>
            <a:endParaRPr lang="en-US" sz="2400" b="1" dirty="0">
              <a:latin typeface="Futura PT Bold" panose="020B0902020204020203"/>
            </a:endParaRPr>
          </a:p>
          <a:p>
            <a:pPr algn="just">
              <a:buFont typeface="Wingdings" panose="05000000000000000000" pitchFamily="2" charset="2"/>
              <a:buChar char="q"/>
            </a:pPr>
            <a:r>
              <a:rPr lang="en-US" sz="2800" b="1" dirty="0">
                <a:latin typeface="Futura PT Bold" panose="020B0902020204020203"/>
              </a:rPr>
              <a:t> Additional Approving Authorities pertaining to the following:</a:t>
            </a:r>
          </a:p>
          <a:p>
            <a:pPr algn="just"/>
            <a:endParaRPr lang="en-US" sz="2800" b="1" dirty="0">
              <a:latin typeface="Futura PT Bold" panose="020B0902020204020203"/>
            </a:endParaRPr>
          </a:p>
          <a:p>
            <a:pPr marL="285750" indent="-285750" algn="just">
              <a:buFont typeface="Wingdings" panose="05000000000000000000" pitchFamily="2" charset="2"/>
              <a:buChar char="ü"/>
            </a:pPr>
            <a:r>
              <a:rPr lang="en-US" sz="2400" dirty="0">
                <a:highlight>
                  <a:srgbClr val="FFFF00"/>
                </a:highlight>
                <a:latin typeface="Futura PT Bold" panose="020B0902020204020203"/>
              </a:rPr>
              <a:t>DPWH – Approved Master Plan</a:t>
            </a:r>
            <a:endParaRPr lang="en-US" sz="2400" b="1" dirty="0">
              <a:highlight>
                <a:srgbClr val="FFFF00"/>
              </a:highlight>
              <a:latin typeface="Futura PT Bold" panose="020B0902020204020203"/>
            </a:endParaRPr>
          </a:p>
          <a:p>
            <a:pPr marL="285750" indent="-285750" algn="just">
              <a:buFont typeface="Wingdings" panose="05000000000000000000" pitchFamily="2" charset="2"/>
              <a:buChar char="ü"/>
            </a:pPr>
            <a:r>
              <a:rPr lang="en-US" sz="2400" dirty="0">
                <a:highlight>
                  <a:srgbClr val="FFFF00"/>
                </a:highlight>
                <a:latin typeface="Futura PT Bold" panose="020B0902020204020203"/>
              </a:rPr>
              <a:t>MITHI Steering Committee</a:t>
            </a:r>
            <a:endParaRPr lang="en-US" sz="2400" b="1" dirty="0">
              <a:highlight>
                <a:srgbClr val="FFFF00"/>
              </a:highlight>
              <a:latin typeface="Futura PT Bold" panose="020B0902020204020203"/>
            </a:endParaRPr>
          </a:p>
          <a:p>
            <a:pPr algn="just"/>
            <a:endParaRPr lang="en-US" sz="2400" b="1" dirty="0">
              <a:latin typeface="Futura PT Bold" panose="020B0902020204020203"/>
            </a:endParaRPr>
          </a:p>
        </p:txBody>
      </p:sp>
      <p:pic>
        <p:nvPicPr>
          <p:cNvPr id="14" name="Picture 13">
            <a:extLst>
              <a:ext uri="{FF2B5EF4-FFF2-40B4-BE49-F238E27FC236}">
                <a16:creationId xmlns:a16="http://schemas.microsoft.com/office/drawing/2014/main" id="{C31B7F71-1509-7F4C-1A77-A4EBC623E90E}"/>
              </a:ext>
            </a:extLst>
          </p:cNvPr>
          <p:cNvPicPr>
            <a:picLocks noChangeAspect="1"/>
          </p:cNvPicPr>
          <p:nvPr/>
        </p:nvPicPr>
        <p:blipFill>
          <a:blip r:embed="rId3"/>
          <a:stretch>
            <a:fillRect/>
          </a:stretch>
        </p:blipFill>
        <p:spPr>
          <a:xfrm>
            <a:off x="422191" y="1961696"/>
            <a:ext cx="6310378" cy="4371009"/>
          </a:xfrm>
          <a:prstGeom prst="rect">
            <a:avLst/>
          </a:prstGeom>
          <a:ln w="12700">
            <a:solidFill>
              <a:schemeClr val="tx1"/>
            </a:solidFill>
          </a:ln>
        </p:spPr>
      </p:pic>
      <p:sp>
        <p:nvSpPr>
          <p:cNvPr id="8" name="Oval 7">
            <a:extLst>
              <a:ext uri="{FF2B5EF4-FFF2-40B4-BE49-F238E27FC236}">
                <a16:creationId xmlns:a16="http://schemas.microsoft.com/office/drawing/2014/main" id="{C5D16921-DA7A-7A9E-8C57-CE5976716F1E}"/>
              </a:ext>
            </a:extLst>
          </p:cNvPr>
          <p:cNvSpPr/>
          <p:nvPr/>
        </p:nvSpPr>
        <p:spPr>
          <a:xfrm rot="150840">
            <a:off x="2737976" y="3939799"/>
            <a:ext cx="1494740" cy="268154"/>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
        <p:nvSpPr>
          <p:cNvPr id="3" name="Oval 2">
            <a:extLst>
              <a:ext uri="{FF2B5EF4-FFF2-40B4-BE49-F238E27FC236}">
                <a16:creationId xmlns:a16="http://schemas.microsoft.com/office/drawing/2014/main" id="{F4293640-F366-2BE7-A138-EEF21DF5E20F}"/>
              </a:ext>
            </a:extLst>
          </p:cNvPr>
          <p:cNvSpPr/>
          <p:nvPr/>
        </p:nvSpPr>
        <p:spPr>
          <a:xfrm rot="150840">
            <a:off x="2737976" y="2967074"/>
            <a:ext cx="1494740" cy="268154"/>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258791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4812F-E0EA-AAA8-53CC-D7D22E5E6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7A297-6F63-2471-D11A-3A245D0A147E}"/>
              </a:ext>
            </a:extLst>
          </p:cNvPr>
          <p:cNvSpPr>
            <a:spLocks noGrp="1"/>
          </p:cNvSpPr>
          <p:nvPr>
            <p:ph type="title"/>
          </p:nvPr>
        </p:nvSpPr>
        <p:spPr>
          <a:xfrm>
            <a:off x="1503105" y="244509"/>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4F897C3D-46AF-44F4-8AF3-535833CB7293}"/>
              </a:ext>
            </a:extLst>
          </p:cNvPr>
          <p:cNvSpPr txBox="1">
            <a:spLocks/>
          </p:cNvSpPr>
          <p:nvPr/>
        </p:nvSpPr>
        <p:spPr>
          <a:xfrm>
            <a:off x="1130029" y="927596"/>
            <a:ext cx="9978957" cy="803927"/>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203</a:t>
            </a:r>
          </a:p>
          <a:p>
            <a:pPr algn="ctr"/>
            <a:r>
              <a:rPr lang="en-PH" sz="2400" dirty="0">
                <a:solidFill>
                  <a:schemeClr val="tx1"/>
                </a:solidFill>
                <a:latin typeface="Futura Std Book" panose="020B0502020204020303"/>
              </a:rPr>
              <a:t>PROFILE FOR FOREIGN-ASSISTED PROJECTS (BOX No. 11)</a:t>
            </a:r>
            <a:endParaRPr lang="en-PH" sz="2400" b="0" dirty="0">
              <a:solidFill>
                <a:schemeClr val="tx1"/>
              </a:solidFill>
              <a:latin typeface="Futura Std Book" panose="020B0502020204020303"/>
            </a:endParaRPr>
          </a:p>
        </p:txBody>
      </p:sp>
      <p:sp>
        <p:nvSpPr>
          <p:cNvPr id="9" name="TextBox 8">
            <a:extLst>
              <a:ext uri="{FF2B5EF4-FFF2-40B4-BE49-F238E27FC236}">
                <a16:creationId xmlns:a16="http://schemas.microsoft.com/office/drawing/2014/main" id="{1356FB4A-6C2B-9C76-8EA2-34ED4FDFB657}"/>
              </a:ext>
            </a:extLst>
          </p:cNvPr>
          <p:cNvSpPr txBox="1"/>
          <p:nvPr/>
        </p:nvSpPr>
        <p:spPr>
          <a:xfrm>
            <a:off x="7061676" y="2565451"/>
            <a:ext cx="4561383" cy="2985433"/>
          </a:xfrm>
          <a:prstGeom prst="rect">
            <a:avLst/>
          </a:prstGeom>
          <a:noFill/>
        </p:spPr>
        <p:txBody>
          <a:bodyPr wrap="square">
            <a:spAutoFit/>
          </a:bodyPr>
          <a:lstStyle/>
          <a:p>
            <a:pPr algn="just"/>
            <a:endParaRPr lang="en-US" sz="1600" b="1" dirty="0">
              <a:highlight>
                <a:srgbClr val="FFFF00"/>
              </a:highlight>
              <a:latin typeface="Futura PT Bold" panose="020B0902020204020203"/>
            </a:endParaRPr>
          </a:p>
          <a:p>
            <a:pPr algn="just">
              <a:buFont typeface="Wingdings" panose="05000000000000000000" pitchFamily="2" charset="2"/>
              <a:buChar char="q"/>
            </a:pPr>
            <a:r>
              <a:rPr lang="en-US" sz="2400" b="1" dirty="0">
                <a:latin typeface="Futura PT Bold" panose="020B0902020204020203"/>
              </a:rPr>
              <a:t> Additional Approving Authority pertaining to the </a:t>
            </a:r>
            <a:r>
              <a:rPr lang="en-US" sz="2400" b="1" dirty="0">
                <a:highlight>
                  <a:srgbClr val="FFFF00"/>
                </a:highlight>
                <a:latin typeface="Futura PT Bold" panose="020B0902020204020203"/>
              </a:rPr>
              <a:t>DPWH-Approved Master Plan</a:t>
            </a:r>
          </a:p>
          <a:p>
            <a:pPr algn="just"/>
            <a:endParaRPr lang="en-US" sz="2400" b="1" dirty="0">
              <a:latin typeface="Futura PT Bold" panose="020B0902020204020203"/>
            </a:endParaRPr>
          </a:p>
          <a:p>
            <a:pPr algn="just">
              <a:buFont typeface="Wingdings" panose="05000000000000000000" pitchFamily="2" charset="2"/>
              <a:buChar char="q"/>
            </a:pPr>
            <a:r>
              <a:rPr lang="en-US" sz="2400" b="1" dirty="0">
                <a:latin typeface="Futura PT Bold" panose="020B0902020204020203"/>
              </a:rPr>
              <a:t> Inclusion of an extra column labeled as </a:t>
            </a:r>
            <a:r>
              <a:rPr lang="en-US" sz="2400" b="1" dirty="0">
                <a:highlight>
                  <a:srgbClr val="FFFF00"/>
                </a:highlight>
                <a:latin typeface="Futura PT Bold" panose="020B0902020204020203"/>
              </a:rPr>
              <a:t>“No”.</a:t>
            </a:r>
          </a:p>
          <a:p>
            <a:pPr algn="just"/>
            <a:endParaRPr lang="en-US" sz="1600" b="1" dirty="0">
              <a:highlight>
                <a:srgbClr val="FFFF00"/>
              </a:highlight>
              <a:latin typeface="Futura PT Bold" panose="020B0902020204020203"/>
            </a:endParaRPr>
          </a:p>
          <a:p>
            <a:pPr algn="just"/>
            <a:endParaRPr lang="en-US" sz="1200" b="1" dirty="0">
              <a:latin typeface="Futura PT Bold" panose="020B0902020204020203"/>
            </a:endParaRPr>
          </a:p>
        </p:txBody>
      </p:sp>
      <p:pic>
        <p:nvPicPr>
          <p:cNvPr id="7" name="Picture 6">
            <a:extLst>
              <a:ext uri="{FF2B5EF4-FFF2-40B4-BE49-F238E27FC236}">
                <a16:creationId xmlns:a16="http://schemas.microsoft.com/office/drawing/2014/main" id="{8D7081AB-9016-9320-E999-21C4580E7997}"/>
              </a:ext>
            </a:extLst>
          </p:cNvPr>
          <p:cNvPicPr>
            <a:picLocks noChangeAspect="1"/>
          </p:cNvPicPr>
          <p:nvPr/>
        </p:nvPicPr>
        <p:blipFill>
          <a:blip r:embed="rId3"/>
          <a:stretch>
            <a:fillRect/>
          </a:stretch>
        </p:blipFill>
        <p:spPr>
          <a:xfrm>
            <a:off x="406232" y="1929545"/>
            <a:ext cx="6393404" cy="4257246"/>
          </a:xfrm>
          <a:prstGeom prst="rect">
            <a:avLst/>
          </a:prstGeom>
          <a:ln w="12700">
            <a:solidFill>
              <a:schemeClr val="tx1"/>
            </a:solidFill>
          </a:ln>
        </p:spPr>
      </p:pic>
      <p:sp>
        <p:nvSpPr>
          <p:cNvPr id="8" name="Oval 7">
            <a:extLst>
              <a:ext uri="{FF2B5EF4-FFF2-40B4-BE49-F238E27FC236}">
                <a16:creationId xmlns:a16="http://schemas.microsoft.com/office/drawing/2014/main" id="{748B51C1-68E2-5F51-1E02-7990F6A5F347}"/>
              </a:ext>
            </a:extLst>
          </p:cNvPr>
          <p:cNvSpPr/>
          <p:nvPr/>
        </p:nvSpPr>
        <p:spPr>
          <a:xfrm>
            <a:off x="1364178" y="3337560"/>
            <a:ext cx="1827655" cy="499616"/>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
        <p:nvSpPr>
          <p:cNvPr id="10" name="Oval 9">
            <a:extLst>
              <a:ext uri="{FF2B5EF4-FFF2-40B4-BE49-F238E27FC236}">
                <a16:creationId xmlns:a16="http://schemas.microsoft.com/office/drawing/2014/main" id="{81047606-1813-7152-591A-12645E45B54F}"/>
              </a:ext>
            </a:extLst>
          </p:cNvPr>
          <p:cNvSpPr/>
          <p:nvPr/>
        </p:nvSpPr>
        <p:spPr>
          <a:xfrm rot="5400000">
            <a:off x="2722799" y="3737672"/>
            <a:ext cx="3563247" cy="640992"/>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1127837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A007C-70FA-230E-9A2C-0FEE42195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6519E-6CC0-D011-D2E5-757232674911}"/>
              </a:ext>
            </a:extLst>
          </p:cNvPr>
          <p:cNvSpPr>
            <a:spLocks noGrp="1"/>
          </p:cNvSpPr>
          <p:nvPr>
            <p:ph type="title"/>
          </p:nvPr>
        </p:nvSpPr>
        <p:spPr>
          <a:xfrm>
            <a:off x="1532476" y="273058"/>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63A403EC-3D71-E5B0-E78D-B915A97C5789}"/>
              </a:ext>
            </a:extLst>
          </p:cNvPr>
          <p:cNvSpPr txBox="1">
            <a:spLocks/>
          </p:cNvSpPr>
          <p:nvPr/>
        </p:nvSpPr>
        <p:spPr>
          <a:xfrm>
            <a:off x="1130029" y="927596"/>
            <a:ext cx="9978957" cy="803927"/>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202</a:t>
            </a:r>
          </a:p>
          <a:p>
            <a:pPr algn="ctr"/>
            <a:r>
              <a:rPr lang="en-PH" sz="2400" dirty="0">
                <a:solidFill>
                  <a:schemeClr val="tx1"/>
                </a:solidFill>
                <a:latin typeface="Futura Std Book" panose="020B0502020204020303"/>
              </a:rPr>
              <a:t>PROFILE FOR TIER 2 BUDGET PROPOSALS (BOX No. 13.1)</a:t>
            </a:r>
            <a:endParaRPr lang="en-PH" sz="2400" b="0" dirty="0">
              <a:solidFill>
                <a:schemeClr val="tx1"/>
              </a:solidFill>
              <a:latin typeface="Futura Std Book" panose="020B0502020204020303"/>
            </a:endParaRPr>
          </a:p>
        </p:txBody>
      </p:sp>
      <p:sp>
        <p:nvSpPr>
          <p:cNvPr id="6" name="TextBox 5">
            <a:extLst>
              <a:ext uri="{FF2B5EF4-FFF2-40B4-BE49-F238E27FC236}">
                <a16:creationId xmlns:a16="http://schemas.microsoft.com/office/drawing/2014/main" id="{B7D750B3-B2B5-4009-8DFC-49BBEE03E964}"/>
              </a:ext>
            </a:extLst>
          </p:cNvPr>
          <p:cNvSpPr txBox="1"/>
          <p:nvPr/>
        </p:nvSpPr>
        <p:spPr>
          <a:xfrm>
            <a:off x="6880031" y="1997315"/>
            <a:ext cx="4793161" cy="4078039"/>
          </a:xfrm>
          <a:prstGeom prst="rect">
            <a:avLst/>
          </a:prstGeom>
          <a:noFill/>
        </p:spPr>
        <p:txBody>
          <a:bodyPr wrap="square">
            <a:spAutoFit/>
          </a:bodyPr>
          <a:lstStyle/>
          <a:p>
            <a:pPr algn="just">
              <a:buFont typeface="Wingdings" panose="05000000000000000000" pitchFamily="2" charset="2"/>
              <a:buChar char="q"/>
            </a:pPr>
            <a:r>
              <a:rPr lang="en-PH" sz="1600" b="1" dirty="0">
                <a:latin typeface="Futura PT Bold" panose="020B0902020204020203"/>
              </a:rPr>
              <a:t> Inclusion of Tier 1 and Total Columns</a:t>
            </a:r>
          </a:p>
          <a:p>
            <a:pPr algn="just"/>
            <a:endParaRPr lang="en-PH" sz="1600" b="1" dirty="0">
              <a:latin typeface="Futura PT Bold" panose="020B0902020204020203"/>
            </a:endParaRPr>
          </a:p>
          <a:p>
            <a:pPr algn="just">
              <a:buFont typeface="Wingdings" panose="05000000000000000000" pitchFamily="2" charset="2"/>
              <a:buChar char="q"/>
            </a:pPr>
            <a:r>
              <a:rPr lang="en-US" sz="1600" b="1" dirty="0">
                <a:latin typeface="Futura PT Bold" panose="020B0902020204020203"/>
              </a:rPr>
              <a:t> </a:t>
            </a:r>
            <a:r>
              <a:rPr lang="en-US" sz="1600" b="1" dirty="0">
                <a:highlight>
                  <a:srgbClr val="FFFF00"/>
                </a:highlight>
                <a:latin typeface="Futura PT Bold" panose="020B0902020204020203"/>
              </a:rPr>
              <a:t>Instructions for Box No. 13.1 Modified:</a:t>
            </a:r>
          </a:p>
          <a:p>
            <a:pPr algn="just">
              <a:buFont typeface="Wingdings" panose="05000000000000000000" pitchFamily="2" charset="2"/>
              <a:buChar char="q"/>
            </a:pPr>
            <a:endParaRPr lang="en-US" sz="1600" b="1" dirty="0">
              <a:highlight>
                <a:srgbClr val="FFFF00"/>
              </a:highlight>
              <a:latin typeface="Futura PT Bold" panose="020B0902020204020203"/>
            </a:endParaRPr>
          </a:p>
          <a:p>
            <a:pPr algn="just"/>
            <a:r>
              <a:rPr lang="en-US" sz="1300" dirty="0">
                <a:latin typeface="Futura PT Bold" panose="020B0902020204020203"/>
              </a:rPr>
              <a:t>For each identified P/A/P, disaggregated by expense class, provide the:</a:t>
            </a:r>
          </a:p>
          <a:p>
            <a:pPr algn="just">
              <a:buFont typeface="Wingdings" panose="05000000000000000000" pitchFamily="2" charset="2"/>
              <a:buChar char="q"/>
            </a:pPr>
            <a:endParaRPr lang="en-US" sz="1300" dirty="0">
              <a:latin typeface="Futura PT Bold" panose="020B0902020204020203"/>
            </a:endParaRPr>
          </a:p>
          <a:p>
            <a:pPr algn="just"/>
            <a:r>
              <a:rPr lang="en-US" sz="1300" dirty="0">
                <a:latin typeface="Futura PT Bold" panose="020B0902020204020203"/>
              </a:rPr>
              <a:t>• FY 2027 amounts for Tier 1, Tier 2 and the Total.</a:t>
            </a:r>
          </a:p>
          <a:p>
            <a:pPr algn="just"/>
            <a:r>
              <a:rPr lang="en-US" sz="1300" dirty="0">
                <a:latin typeface="Futura PT Bold" panose="020B0902020204020203"/>
              </a:rPr>
              <a:t>• Outyear requirements of the FY 2027 Tier 2 budget proposals into the FYs 2028 and 2029 Tier 1 columns, as applicable</a:t>
            </a:r>
          </a:p>
          <a:p>
            <a:pPr algn="just">
              <a:buFont typeface="Wingdings" panose="05000000000000000000" pitchFamily="2" charset="2"/>
              <a:buChar char="q"/>
            </a:pPr>
            <a:endParaRPr lang="en-US" sz="1300" dirty="0">
              <a:latin typeface="Futura PT Bold" panose="020B0902020204020203"/>
            </a:endParaRPr>
          </a:p>
          <a:p>
            <a:pPr algn="just"/>
            <a:r>
              <a:rPr lang="en-US" sz="1300" dirty="0">
                <a:latin typeface="Futura PT Bold" panose="020B0902020204020203"/>
              </a:rPr>
              <a:t>Present each P/A/P in the same level of detail required in BP Forms 201 – Schedules A, B, C and D. (Please refer to BP Form 201: Schedules A, B, C and D)               </a:t>
            </a:r>
          </a:p>
          <a:p>
            <a:pPr algn="just">
              <a:buFont typeface="Wingdings" panose="05000000000000000000" pitchFamily="2" charset="2"/>
              <a:buChar char="q"/>
            </a:pPr>
            <a:endParaRPr lang="en-US" sz="1300" dirty="0">
              <a:latin typeface="Futura PT Bold" panose="020B0902020204020203"/>
            </a:endParaRPr>
          </a:p>
          <a:p>
            <a:pPr algn="just"/>
            <a:r>
              <a:rPr lang="en-US" sz="1300" b="1" dirty="0">
                <a:latin typeface="Futura PT Bold" panose="020B0902020204020203"/>
              </a:rPr>
              <a:t>Note: If in Box No. 4 (i.e., Categorization) the agency marked Expanded/Revised, the FY 2027 Tier 1 column is a required field.</a:t>
            </a:r>
            <a:endParaRPr lang="en-US" sz="1300" b="1" dirty="0">
              <a:highlight>
                <a:srgbClr val="FFFF00"/>
              </a:highlight>
              <a:latin typeface="Futura PT Bold" panose="020B0902020204020203"/>
            </a:endParaRPr>
          </a:p>
        </p:txBody>
      </p:sp>
      <p:pic>
        <p:nvPicPr>
          <p:cNvPr id="3" name="Picture 2">
            <a:extLst>
              <a:ext uri="{FF2B5EF4-FFF2-40B4-BE49-F238E27FC236}">
                <a16:creationId xmlns:a16="http://schemas.microsoft.com/office/drawing/2014/main" id="{4CCFED12-EEC4-4158-BC0C-983D33B5669B}"/>
              </a:ext>
            </a:extLst>
          </p:cNvPr>
          <p:cNvPicPr>
            <a:picLocks noChangeAspect="1"/>
          </p:cNvPicPr>
          <p:nvPr/>
        </p:nvPicPr>
        <p:blipFill>
          <a:blip r:embed="rId3"/>
          <a:stretch>
            <a:fillRect/>
          </a:stretch>
        </p:blipFill>
        <p:spPr>
          <a:xfrm>
            <a:off x="436635" y="1961696"/>
            <a:ext cx="6324090" cy="4150489"/>
          </a:xfrm>
          <a:prstGeom prst="rect">
            <a:avLst/>
          </a:prstGeom>
          <a:ln w="12700">
            <a:solidFill>
              <a:schemeClr val="tx1"/>
            </a:solidFill>
          </a:ln>
        </p:spPr>
      </p:pic>
      <p:sp>
        <p:nvSpPr>
          <p:cNvPr id="8" name="Oval 7">
            <a:extLst>
              <a:ext uri="{FF2B5EF4-FFF2-40B4-BE49-F238E27FC236}">
                <a16:creationId xmlns:a16="http://schemas.microsoft.com/office/drawing/2014/main" id="{670C9737-F98B-67F6-2717-28106D8E81F6}"/>
              </a:ext>
            </a:extLst>
          </p:cNvPr>
          <p:cNvSpPr/>
          <p:nvPr/>
        </p:nvSpPr>
        <p:spPr>
          <a:xfrm rot="5219922">
            <a:off x="1946427" y="3686634"/>
            <a:ext cx="3124488" cy="1650491"/>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1693047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C03A9-B16D-205F-374D-453866F22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7E07A-19C6-503B-6CF6-373390844A99}"/>
              </a:ext>
            </a:extLst>
          </p:cNvPr>
          <p:cNvSpPr>
            <a:spLocks noGrp="1"/>
          </p:cNvSpPr>
          <p:nvPr>
            <p:ph type="title"/>
          </p:nvPr>
        </p:nvSpPr>
        <p:spPr>
          <a:xfrm>
            <a:off x="1442957" y="226268"/>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E5D1CB09-65DD-DB61-970E-BCE36FA6E262}"/>
              </a:ext>
            </a:extLst>
          </p:cNvPr>
          <p:cNvSpPr txBox="1">
            <a:spLocks/>
          </p:cNvSpPr>
          <p:nvPr/>
        </p:nvSpPr>
        <p:spPr>
          <a:xfrm>
            <a:off x="1130029" y="927596"/>
            <a:ext cx="9978957" cy="803927"/>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203</a:t>
            </a:r>
          </a:p>
          <a:p>
            <a:pPr algn="ctr"/>
            <a:r>
              <a:rPr lang="en-PH" sz="2400" dirty="0">
                <a:solidFill>
                  <a:schemeClr val="tx1"/>
                </a:solidFill>
                <a:latin typeface="Futura Std Book" panose="020B0502020204020303"/>
              </a:rPr>
              <a:t>PROFILE FOR FOREIGN-ASSISTED PROJECTS (BOX No. 12.1/12.1.a)</a:t>
            </a:r>
            <a:endParaRPr lang="en-PH" sz="2400" b="0" dirty="0">
              <a:solidFill>
                <a:schemeClr val="tx1"/>
              </a:solidFill>
              <a:latin typeface="Futura Std Book" panose="020B0502020204020303"/>
            </a:endParaRPr>
          </a:p>
        </p:txBody>
      </p:sp>
      <p:sp>
        <p:nvSpPr>
          <p:cNvPr id="9" name="TextBox 8">
            <a:extLst>
              <a:ext uri="{FF2B5EF4-FFF2-40B4-BE49-F238E27FC236}">
                <a16:creationId xmlns:a16="http://schemas.microsoft.com/office/drawing/2014/main" id="{03342280-0E11-9E06-E972-A66895ED30A8}"/>
              </a:ext>
            </a:extLst>
          </p:cNvPr>
          <p:cNvSpPr txBox="1"/>
          <p:nvPr/>
        </p:nvSpPr>
        <p:spPr>
          <a:xfrm>
            <a:off x="6956168" y="1849871"/>
            <a:ext cx="4561383" cy="4816703"/>
          </a:xfrm>
          <a:prstGeom prst="rect">
            <a:avLst/>
          </a:prstGeom>
          <a:noFill/>
        </p:spPr>
        <p:txBody>
          <a:bodyPr wrap="square">
            <a:spAutoFit/>
          </a:bodyPr>
          <a:lstStyle/>
          <a:p>
            <a:pPr algn="just">
              <a:buFont typeface="Wingdings" panose="05000000000000000000" pitchFamily="2" charset="2"/>
              <a:buChar char="q"/>
            </a:pPr>
            <a:r>
              <a:rPr lang="en-US" sz="1600" b="1" dirty="0">
                <a:latin typeface="Futura PT Bold" panose="020B0902020204020203"/>
              </a:rPr>
              <a:t> </a:t>
            </a:r>
            <a:r>
              <a:rPr lang="en-US" sz="1600" b="1" dirty="0">
                <a:highlight>
                  <a:srgbClr val="FFFF00"/>
                </a:highlight>
                <a:latin typeface="Futura PT Bold" panose="020B0902020204020203"/>
              </a:rPr>
              <a:t>Inclusion of the Box No. 12.1.a pertaining to Comparative Budget Levels.</a:t>
            </a:r>
          </a:p>
          <a:p>
            <a:pPr algn="just"/>
            <a:endParaRPr lang="en-US" sz="1600" b="1" dirty="0">
              <a:highlight>
                <a:srgbClr val="FFFF00"/>
              </a:highlight>
              <a:latin typeface="Futura PT Bold" panose="020B0902020204020203"/>
            </a:endParaRPr>
          </a:p>
          <a:p>
            <a:pPr algn="just">
              <a:buFont typeface="Wingdings" panose="05000000000000000000" pitchFamily="2" charset="2"/>
              <a:buChar char="q"/>
            </a:pPr>
            <a:r>
              <a:rPr lang="en-PH" sz="1600" b="1" dirty="0">
                <a:latin typeface="Futura PT Bold" panose="020B0902020204020203"/>
              </a:rPr>
              <a:t> Modified the Instructions for Box No. 12.:</a:t>
            </a:r>
          </a:p>
          <a:p>
            <a:pPr algn="just"/>
            <a:endParaRPr lang="en-PH" sz="2000" b="1" dirty="0">
              <a:highlight>
                <a:srgbClr val="FFFF00"/>
              </a:highlight>
              <a:latin typeface="Futura PT Bold" panose="020B0902020204020203"/>
            </a:endParaRPr>
          </a:p>
          <a:p>
            <a:pPr marL="285750" indent="-285750" algn="just">
              <a:buFont typeface="Wingdings" panose="05000000000000000000" pitchFamily="2" charset="2"/>
              <a:buChar char="ü"/>
            </a:pPr>
            <a:r>
              <a:rPr lang="en-PH" sz="1300" b="1" dirty="0">
                <a:latin typeface="Futura PT Bold" panose="020B0902020204020203"/>
              </a:rPr>
              <a:t>From: </a:t>
            </a:r>
            <a:r>
              <a:rPr lang="en-US" sz="1300" dirty="0">
                <a:latin typeface="Futura PT Bold" panose="020B0902020204020203"/>
              </a:rPr>
              <a:t>Total project cost of the project. This shall correspond to the total cost in the corresponding FOA. The total cost shall be disaggregated by expense class, by category (loan proceeds, government counterpart), and by component (cash, non-cash).	</a:t>
            </a:r>
          </a:p>
          <a:p>
            <a:pPr algn="just"/>
            <a:endParaRPr lang="en-PH" sz="1300" dirty="0">
              <a:latin typeface="Futura PT Bold" panose="020B0902020204020203"/>
            </a:endParaRPr>
          </a:p>
          <a:p>
            <a:pPr marL="285750" indent="-285750" algn="just">
              <a:buFont typeface="Wingdings" panose="05000000000000000000" pitchFamily="2" charset="2"/>
              <a:buChar char="ü"/>
            </a:pPr>
            <a:r>
              <a:rPr lang="en-PH" sz="1300" b="1" dirty="0">
                <a:latin typeface="Futura PT Bold" panose="020B0902020204020203"/>
              </a:rPr>
              <a:t>To: </a:t>
            </a:r>
            <a:r>
              <a:rPr lang="en-US" sz="1300" dirty="0">
                <a:latin typeface="Futura PT Bold" panose="020B0902020204020203"/>
              </a:rPr>
              <a:t>Total project cost of the project. This shall correspond to the total cost in the corresponding FOA, </a:t>
            </a:r>
            <a:r>
              <a:rPr lang="en-US" sz="1300" dirty="0">
                <a:highlight>
                  <a:srgbClr val="FFFF00"/>
                </a:highlight>
                <a:latin typeface="Futura PT Bold" panose="020B0902020204020203"/>
              </a:rPr>
              <a:t>including Actual Obligations, Current Year Budget, provision under Tier 1, proposal for Tier 2 and out-year requirements.</a:t>
            </a:r>
            <a:r>
              <a:rPr lang="en-US" sz="1300" dirty="0">
                <a:latin typeface="Futura PT Bold" panose="020B0902020204020203"/>
              </a:rPr>
              <a:t> The total cost shall be disaggregated by expense class, by category (i.e., loan proceeds, government counterpart), and by component (i.e., cash, non-cash).	</a:t>
            </a:r>
            <a:endParaRPr lang="en-US" sz="1300" dirty="0">
              <a:highlight>
                <a:srgbClr val="FFFF00"/>
              </a:highlight>
              <a:latin typeface="Futura PT Bold" panose="020B0902020204020203"/>
            </a:endParaRPr>
          </a:p>
          <a:p>
            <a:pPr algn="just">
              <a:buFont typeface="Wingdings" panose="05000000000000000000" pitchFamily="2" charset="2"/>
              <a:buChar char="q"/>
            </a:pPr>
            <a:endParaRPr lang="en-US" sz="1600" b="1" dirty="0">
              <a:highlight>
                <a:srgbClr val="FFFF00"/>
              </a:highlight>
              <a:latin typeface="Futura PT Bold" panose="020B0902020204020203"/>
            </a:endParaRPr>
          </a:p>
          <a:p>
            <a:pPr algn="just"/>
            <a:endParaRPr lang="en-US" sz="1200" b="1" dirty="0">
              <a:latin typeface="Futura PT Bold" panose="020B0902020204020203"/>
            </a:endParaRPr>
          </a:p>
        </p:txBody>
      </p:sp>
      <p:pic>
        <p:nvPicPr>
          <p:cNvPr id="11" name="Picture 10">
            <a:extLst>
              <a:ext uri="{FF2B5EF4-FFF2-40B4-BE49-F238E27FC236}">
                <a16:creationId xmlns:a16="http://schemas.microsoft.com/office/drawing/2014/main" id="{517B68EF-5E96-28E5-C4F1-AA353830B3CF}"/>
              </a:ext>
            </a:extLst>
          </p:cNvPr>
          <p:cNvPicPr>
            <a:picLocks noChangeAspect="1"/>
          </p:cNvPicPr>
          <p:nvPr/>
        </p:nvPicPr>
        <p:blipFill>
          <a:blip r:embed="rId3"/>
          <a:stretch>
            <a:fillRect/>
          </a:stretch>
        </p:blipFill>
        <p:spPr>
          <a:xfrm>
            <a:off x="355363" y="1929544"/>
            <a:ext cx="6540657" cy="4336921"/>
          </a:xfrm>
          <a:prstGeom prst="rect">
            <a:avLst/>
          </a:prstGeom>
          <a:ln w="12700">
            <a:solidFill>
              <a:schemeClr val="tx1"/>
            </a:solidFill>
          </a:ln>
        </p:spPr>
      </p:pic>
      <p:sp>
        <p:nvSpPr>
          <p:cNvPr id="8" name="Oval 7">
            <a:extLst>
              <a:ext uri="{FF2B5EF4-FFF2-40B4-BE49-F238E27FC236}">
                <a16:creationId xmlns:a16="http://schemas.microsoft.com/office/drawing/2014/main" id="{B50A3CD7-E265-7B2C-3E50-A8A5667EB497}"/>
              </a:ext>
            </a:extLst>
          </p:cNvPr>
          <p:cNvSpPr/>
          <p:nvPr/>
        </p:nvSpPr>
        <p:spPr>
          <a:xfrm>
            <a:off x="355363" y="3618689"/>
            <a:ext cx="6513256" cy="2758249"/>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4076838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15070-EDBD-0374-993B-93DBB6990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AA0BA-04AB-DD4E-4271-DE394D824248}"/>
              </a:ext>
            </a:extLst>
          </p:cNvPr>
          <p:cNvSpPr>
            <a:spLocks noGrp="1"/>
          </p:cNvSpPr>
          <p:nvPr>
            <p:ph type="title"/>
          </p:nvPr>
        </p:nvSpPr>
        <p:spPr>
          <a:xfrm>
            <a:off x="1490167" y="256554"/>
            <a:ext cx="10906125" cy="509588"/>
          </a:xfrm>
        </p:spPr>
        <p:txBody>
          <a:bodyPr/>
          <a:lstStyle/>
          <a:p>
            <a:r>
              <a:rPr lang="en-US" sz="4400" dirty="0">
                <a:ln>
                  <a:solidFill>
                    <a:schemeClr val="tx1"/>
                  </a:solidFill>
                </a:ln>
              </a:rPr>
              <a:t>BP FORMS WITH MAJOR CHANGES</a:t>
            </a:r>
          </a:p>
        </p:txBody>
      </p:sp>
      <p:sp>
        <p:nvSpPr>
          <p:cNvPr id="4" name="Title 1">
            <a:extLst>
              <a:ext uri="{FF2B5EF4-FFF2-40B4-BE49-F238E27FC236}">
                <a16:creationId xmlns:a16="http://schemas.microsoft.com/office/drawing/2014/main" id="{A35C7881-B5E7-E22E-8464-B1046772455A}"/>
              </a:ext>
            </a:extLst>
          </p:cNvPr>
          <p:cNvSpPr txBox="1">
            <a:spLocks/>
          </p:cNvSpPr>
          <p:nvPr/>
        </p:nvSpPr>
        <p:spPr>
          <a:xfrm>
            <a:off x="1130029" y="927596"/>
            <a:ext cx="9978957" cy="803927"/>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204</a:t>
            </a:r>
          </a:p>
          <a:p>
            <a:pPr algn="ctr"/>
            <a:r>
              <a:rPr lang="en-PH" sz="2400" dirty="0">
                <a:solidFill>
                  <a:schemeClr val="tx1"/>
                </a:solidFill>
                <a:latin typeface="Futura Std Book" panose="020B0502020204020303"/>
              </a:rPr>
              <a:t>STAFFING SUMMARY OF NON-PERMANENT POSITIONS</a:t>
            </a:r>
            <a:endParaRPr lang="en-PH" sz="2400" b="0" dirty="0">
              <a:solidFill>
                <a:schemeClr val="tx1"/>
              </a:solidFill>
              <a:latin typeface="Futura Std Book" panose="020B0502020204020303"/>
            </a:endParaRPr>
          </a:p>
        </p:txBody>
      </p:sp>
      <p:sp>
        <p:nvSpPr>
          <p:cNvPr id="9" name="TextBox 8">
            <a:extLst>
              <a:ext uri="{FF2B5EF4-FFF2-40B4-BE49-F238E27FC236}">
                <a16:creationId xmlns:a16="http://schemas.microsoft.com/office/drawing/2014/main" id="{1631E7ED-09E4-D122-9839-EF4050EF8769}"/>
              </a:ext>
            </a:extLst>
          </p:cNvPr>
          <p:cNvSpPr txBox="1"/>
          <p:nvPr/>
        </p:nvSpPr>
        <p:spPr>
          <a:xfrm>
            <a:off x="6828048" y="1929545"/>
            <a:ext cx="4269550" cy="4031873"/>
          </a:xfrm>
          <a:prstGeom prst="rect">
            <a:avLst/>
          </a:prstGeom>
          <a:noFill/>
        </p:spPr>
        <p:txBody>
          <a:bodyPr wrap="square">
            <a:spAutoFit/>
          </a:bodyPr>
          <a:lstStyle/>
          <a:p>
            <a:pPr algn="just">
              <a:buFont typeface="Wingdings" panose="05000000000000000000" pitchFamily="2" charset="2"/>
              <a:buChar char="q"/>
            </a:pPr>
            <a:r>
              <a:rPr lang="en-US" sz="1600" b="1" dirty="0">
                <a:latin typeface="Futura PT Bold" panose="020B0902020204020203"/>
              </a:rPr>
              <a:t> Additional columns pertaining to the following:</a:t>
            </a:r>
          </a:p>
          <a:p>
            <a:pPr algn="just"/>
            <a:endParaRPr lang="en-US" sz="1600" b="1" dirty="0">
              <a:latin typeface="Futura PT Bold" panose="020B0902020204020203"/>
            </a:endParaRPr>
          </a:p>
          <a:p>
            <a:pPr marL="285750" indent="-285750" algn="just">
              <a:buFont typeface="Wingdings" panose="05000000000000000000" pitchFamily="2" charset="2"/>
              <a:buChar char="ü"/>
            </a:pPr>
            <a:r>
              <a:rPr lang="en-US" sz="1600" b="1" dirty="0">
                <a:highlight>
                  <a:srgbClr val="FFFF00"/>
                </a:highlight>
                <a:latin typeface="Futura PT Bold" panose="020B0902020204020203"/>
              </a:rPr>
              <a:t>Medical Allowance</a:t>
            </a:r>
            <a:endParaRPr lang="en-US" sz="1600" dirty="0">
              <a:latin typeface="Futura PT Bold" panose="020B0902020204020203"/>
            </a:endParaRPr>
          </a:p>
          <a:p>
            <a:pPr marL="285750" indent="-285750" algn="just">
              <a:buFont typeface="Wingdings" panose="05000000000000000000" pitchFamily="2" charset="2"/>
              <a:buChar char="ü"/>
            </a:pPr>
            <a:r>
              <a:rPr lang="en-US" sz="1600" b="1" dirty="0">
                <a:highlight>
                  <a:srgbClr val="FFFF00"/>
                </a:highlight>
                <a:latin typeface="Futura PT Bold" panose="020B0902020204020203"/>
              </a:rPr>
              <a:t>Compensation-Related Magna Carta Benefits </a:t>
            </a:r>
            <a:endParaRPr lang="en-US" sz="1200" b="1" dirty="0">
              <a:latin typeface="Futura PT Bold" panose="020B0902020204020203"/>
            </a:endParaRPr>
          </a:p>
          <a:p>
            <a:pPr algn="just"/>
            <a:endParaRPr lang="en-US" sz="1600" b="1" dirty="0">
              <a:latin typeface="Futura PT Bold" panose="020B0902020204020203"/>
            </a:endParaRPr>
          </a:p>
          <a:p>
            <a:pPr algn="just">
              <a:buFont typeface="Wingdings" panose="05000000000000000000" pitchFamily="2" charset="2"/>
              <a:buChar char="q"/>
            </a:pPr>
            <a:r>
              <a:rPr lang="en-US" sz="1600" b="1" dirty="0">
                <a:latin typeface="Futura PT Bold" panose="020B0902020204020203"/>
              </a:rPr>
              <a:t> Additional Instructions:</a:t>
            </a:r>
          </a:p>
          <a:p>
            <a:pPr algn="just">
              <a:buFont typeface="Wingdings" panose="05000000000000000000" pitchFamily="2" charset="2"/>
              <a:buChar char="q"/>
            </a:pPr>
            <a:endParaRPr lang="en-US" sz="1600" b="1" dirty="0">
              <a:latin typeface="Futura PT Bold" panose="020B0902020204020203"/>
            </a:endParaRPr>
          </a:p>
          <a:p>
            <a:pPr marL="285750" indent="-285750" algn="just">
              <a:buFont typeface="Wingdings" panose="05000000000000000000" pitchFamily="2" charset="2"/>
              <a:buChar char="ü"/>
            </a:pPr>
            <a:r>
              <a:rPr lang="en-US" sz="1400" dirty="0">
                <a:highlight>
                  <a:srgbClr val="FFFF00"/>
                </a:highlight>
                <a:latin typeface="Futura PT Bold" panose="020B0902020204020203"/>
              </a:rPr>
              <a:t>Column 21:</a:t>
            </a:r>
            <a:r>
              <a:rPr lang="en-US" sz="1400" dirty="0">
                <a:latin typeface="Futura PT Bold" panose="020B0902020204020203"/>
              </a:rPr>
              <a:t> Compensation-Related Magna Carta Benefits - shall be computed based on the applicable guidelines, rules, and regulations for the grant of Compensation-related Magna Carta Benefits of qualified personnel. The amount computed in this Column shall be specific for qualified non-permanent positions only.</a:t>
            </a:r>
          </a:p>
        </p:txBody>
      </p:sp>
      <p:pic>
        <p:nvPicPr>
          <p:cNvPr id="3" name="Picture 2">
            <a:extLst>
              <a:ext uri="{FF2B5EF4-FFF2-40B4-BE49-F238E27FC236}">
                <a16:creationId xmlns:a16="http://schemas.microsoft.com/office/drawing/2014/main" id="{985DCADE-58D5-4FA3-A20F-EFA016448EA3}"/>
              </a:ext>
            </a:extLst>
          </p:cNvPr>
          <p:cNvPicPr>
            <a:picLocks noChangeAspect="1"/>
          </p:cNvPicPr>
          <p:nvPr/>
        </p:nvPicPr>
        <p:blipFill>
          <a:blip r:embed="rId3"/>
          <a:stretch>
            <a:fillRect/>
          </a:stretch>
        </p:blipFill>
        <p:spPr>
          <a:xfrm>
            <a:off x="453592" y="1892977"/>
            <a:ext cx="6277949" cy="3392936"/>
          </a:xfrm>
          <a:prstGeom prst="rect">
            <a:avLst/>
          </a:prstGeom>
          <a:ln w="12700">
            <a:solidFill>
              <a:schemeClr val="tx1"/>
            </a:solidFill>
          </a:ln>
        </p:spPr>
      </p:pic>
      <p:pic>
        <p:nvPicPr>
          <p:cNvPr id="5" name="Picture 4">
            <a:extLst>
              <a:ext uri="{FF2B5EF4-FFF2-40B4-BE49-F238E27FC236}">
                <a16:creationId xmlns:a16="http://schemas.microsoft.com/office/drawing/2014/main" id="{A74696E1-CD18-4514-9503-86ABB115CB0D}"/>
              </a:ext>
            </a:extLst>
          </p:cNvPr>
          <p:cNvPicPr>
            <a:picLocks noChangeAspect="1"/>
          </p:cNvPicPr>
          <p:nvPr/>
        </p:nvPicPr>
        <p:blipFill>
          <a:blip r:embed="rId4"/>
          <a:stretch>
            <a:fillRect/>
          </a:stretch>
        </p:blipFill>
        <p:spPr>
          <a:xfrm>
            <a:off x="2196102" y="5375724"/>
            <a:ext cx="2398917" cy="1109360"/>
          </a:xfrm>
          <a:prstGeom prst="rect">
            <a:avLst/>
          </a:prstGeom>
          <a:ln w="12700">
            <a:solidFill>
              <a:schemeClr val="tx1"/>
            </a:solidFill>
          </a:ln>
        </p:spPr>
      </p:pic>
      <p:sp>
        <p:nvSpPr>
          <p:cNvPr id="8" name="Oval 7">
            <a:extLst>
              <a:ext uri="{FF2B5EF4-FFF2-40B4-BE49-F238E27FC236}">
                <a16:creationId xmlns:a16="http://schemas.microsoft.com/office/drawing/2014/main" id="{9BD76120-35B0-5809-B069-F5956076589E}"/>
              </a:ext>
            </a:extLst>
          </p:cNvPr>
          <p:cNvSpPr/>
          <p:nvPr/>
        </p:nvSpPr>
        <p:spPr>
          <a:xfrm rot="16200000">
            <a:off x="4296992" y="3185629"/>
            <a:ext cx="2957206" cy="963393"/>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75859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7C4E-A3BD-C9D8-F5EC-8AC7135F0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BAC59-808B-4D18-3FAC-9C4DE8D21A98}"/>
              </a:ext>
            </a:extLst>
          </p:cNvPr>
          <p:cNvSpPr>
            <a:spLocks noGrp="1"/>
          </p:cNvSpPr>
          <p:nvPr>
            <p:ph type="title"/>
          </p:nvPr>
        </p:nvSpPr>
        <p:spPr>
          <a:xfrm>
            <a:off x="997798" y="385305"/>
            <a:ext cx="10906125" cy="509588"/>
          </a:xfrm>
        </p:spPr>
        <p:txBody>
          <a:bodyPr/>
          <a:lstStyle/>
          <a:p>
            <a:r>
              <a:rPr lang="en-US" sz="4800" dirty="0">
                <a:ln>
                  <a:solidFill>
                    <a:schemeClr val="tx1"/>
                  </a:solidFill>
                </a:ln>
              </a:rPr>
              <a:t>BP FORMS WITH MINOR CHANGES</a:t>
            </a:r>
          </a:p>
        </p:txBody>
      </p:sp>
      <p:graphicFrame>
        <p:nvGraphicFramePr>
          <p:cNvPr id="8" name="Table 7">
            <a:extLst>
              <a:ext uri="{FF2B5EF4-FFF2-40B4-BE49-F238E27FC236}">
                <a16:creationId xmlns:a16="http://schemas.microsoft.com/office/drawing/2014/main" id="{82947CD4-6B0D-0ED5-DE68-E8645C17FCDC}"/>
              </a:ext>
            </a:extLst>
          </p:cNvPr>
          <p:cNvGraphicFramePr>
            <a:graphicFrameLocks noGrp="1"/>
          </p:cNvGraphicFramePr>
          <p:nvPr>
            <p:extLst>
              <p:ext uri="{D42A27DB-BD31-4B8C-83A1-F6EECF244321}">
                <p14:modId xmlns:p14="http://schemas.microsoft.com/office/powerpoint/2010/main" val="2213573114"/>
              </p:ext>
            </p:extLst>
          </p:nvPr>
        </p:nvGraphicFramePr>
        <p:xfrm>
          <a:off x="879231" y="1212035"/>
          <a:ext cx="10163908" cy="4790180"/>
        </p:xfrm>
        <a:graphic>
          <a:graphicData uri="http://schemas.openxmlformats.org/drawingml/2006/table">
            <a:tbl>
              <a:tblPr firstRow="1" bandRow="1">
                <a:tableStyleId>{5940675A-B579-460E-94D1-54222C63F5DA}</a:tableStyleId>
              </a:tblPr>
              <a:tblGrid>
                <a:gridCol w="5081954">
                  <a:extLst>
                    <a:ext uri="{9D8B030D-6E8A-4147-A177-3AD203B41FA5}">
                      <a16:colId xmlns:a16="http://schemas.microsoft.com/office/drawing/2014/main" val="4183609087"/>
                    </a:ext>
                  </a:extLst>
                </a:gridCol>
                <a:gridCol w="5081954">
                  <a:extLst>
                    <a:ext uri="{9D8B030D-6E8A-4147-A177-3AD203B41FA5}">
                      <a16:colId xmlns:a16="http://schemas.microsoft.com/office/drawing/2014/main" val="4092592704"/>
                    </a:ext>
                  </a:extLst>
                </a:gridCol>
              </a:tblGrid>
              <a:tr h="509588">
                <a:tc>
                  <a:txBody>
                    <a:bodyPr/>
                    <a:lstStyle/>
                    <a:p>
                      <a:pPr algn="ctr"/>
                      <a:r>
                        <a:rPr lang="en-US" sz="2000" b="1" dirty="0">
                          <a:latin typeface="Futura PT Bold" panose="020B0902020204020203"/>
                        </a:rPr>
                        <a:t>BP Forms / Instructions</a:t>
                      </a:r>
                      <a:endParaRPr lang="en-PH" sz="2000" b="1" dirty="0">
                        <a:latin typeface="Futura PT Bold" panose="020B0902020204020203"/>
                      </a:endParaRPr>
                    </a:p>
                  </a:txBody>
                  <a:tcPr>
                    <a:solidFill>
                      <a:srgbClr val="FFC000"/>
                    </a:solidFill>
                  </a:tcPr>
                </a:tc>
                <a:tc>
                  <a:txBody>
                    <a:bodyPr/>
                    <a:lstStyle/>
                    <a:p>
                      <a:pPr algn="ctr"/>
                      <a:r>
                        <a:rPr lang="en-US" sz="2000" b="1" dirty="0">
                          <a:latin typeface="Futura PT Bold" panose="020B0902020204020203"/>
                        </a:rPr>
                        <a:t>Remarks</a:t>
                      </a:r>
                    </a:p>
                  </a:txBody>
                  <a:tcPr>
                    <a:solidFill>
                      <a:srgbClr val="FFC000"/>
                    </a:solidFill>
                  </a:tcPr>
                </a:tc>
                <a:extLst>
                  <a:ext uri="{0D108BD9-81ED-4DB2-BD59-A6C34878D82A}">
                    <a16:rowId xmlns:a16="http://schemas.microsoft.com/office/drawing/2014/main" val="3605488229"/>
                  </a:ext>
                </a:extLst>
              </a:tr>
              <a:tr h="509588">
                <a:tc>
                  <a:txBody>
                    <a:bodyPr/>
                    <a:lstStyle/>
                    <a:p>
                      <a:pPr marL="0" indent="0" algn="l">
                        <a:buFont typeface="Wingdings" panose="05000000000000000000" pitchFamily="2" charset="2"/>
                        <a:buNone/>
                      </a:pPr>
                      <a:r>
                        <a:rPr lang="en-US" sz="2000" b="1" dirty="0">
                          <a:latin typeface="Futura PT Bold" panose="020B0902020204020203"/>
                        </a:rPr>
                        <a:t>1. </a:t>
                      </a:r>
                      <a:endParaRPr lang="en-PH" sz="2000" b="1" dirty="0">
                        <a:latin typeface="Futura PT Bold" panose="020B0902020204020203"/>
                      </a:endParaRPr>
                    </a:p>
                  </a:txBody>
                  <a:tcPr>
                    <a:solidFill>
                      <a:schemeClr val="bg1"/>
                    </a:solidFill>
                  </a:tcPr>
                </a:tc>
                <a:tc>
                  <a:txBody>
                    <a:bodyPr/>
                    <a:lstStyle/>
                    <a:p>
                      <a:pPr marL="342900" indent="-342900" algn="l">
                        <a:buFont typeface="Wingdings" panose="05000000000000000000" pitchFamily="2" charset="2"/>
                        <a:buChar char="§"/>
                      </a:pPr>
                      <a:endParaRPr lang="en-US" sz="2000" b="1" dirty="0">
                        <a:latin typeface="Futura PT Bold" panose="020B0902020204020203"/>
                      </a:endParaRPr>
                    </a:p>
                  </a:txBody>
                  <a:tcPr>
                    <a:solidFill>
                      <a:schemeClr val="bg1"/>
                    </a:solidFill>
                  </a:tcPr>
                </a:tc>
                <a:extLst>
                  <a:ext uri="{0D108BD9-81ED-4DB2-BD59-A6C34878D82A}">
                    <a16:rowId xmlns:a16="http://schemas.microsoft.com/office/drawing/2014/main" val="3886771300"/>
                  </a:ext>
                </a:extLst>
              </a:tr>
              <a:tr h="509588">
                <a:tc>
                  <a:txBody>
                    <a:bodyPr/>
                    <a:lstStyle/>
                    <a:p>
                      <a:pPr marL="0" indent="0" algn="l">
                        <a:buFont typeface="Wingdings" panose="05000000000000000000" pitchFamily="2" charset="2"/>
                        <a:buNone/>
                      </a:pPr>
                      <a:r>
                        <a:rPr lang="en-US" sz="2000" b="1" dirty="0">
                          <a:latin typeface="Futura PT Bold" panose="020B0902020204020203"/>
                        </a:rPr>
                        <a:t>2.</a:t>
                      </a:r>
                      <a:endParaRPr lang="en-PH" sz="2000" b="1" dirty="0">
                        <a:latin typeface="Futura PT Bold" panose="020B0902020204020203"/>
                      </a:endParaRPr>
                    </a:p>
                  </a:txBody>
                  <a:tcPr>
                    <a:solidFill>
                      <a:schemeClr val="bg1"/>
                    </a:solidFill>
                  </a:tcPr>
                </a:tc>
                <a:tc>
                  <a:txBody>
                    <a:bodyPr/>
                    <a:lstStyle/>
                    <a:p>
                      <a:pPr marL="342900" indent="-342900" algn="l">
                        <a:buFont typeface="Wingdings" panose="05000000000000000000" pitchFamily="2" charset="2"/>
                        <a:buChar char="§"/>
                      </a:pPr>
                      <a:endParaRPr lang="en-US" sz="2000" b="1" dirty="0">
                        <a:latin typeface="Futura PT Bold" panose="020B0902020204020203"/>
                      </a:endParaRPr>
                    </a:p>
                  </a:txBody>
                  <a:tcPr>
                    <a:solidFill>
                      <a:schemeClr val="bg1"/>
                    </a:solidFill>
                  </a:tcPr>
                </a:tc>
                <a:extLst>
                  <a:ext uri="{0D108BD9-81ED-4DB2-BD59-A6C34878D82A}">
                    <a16:rowId xmlns:a16="http://schemas.microsoft.com/office/drawing/2014/main" val="3071858678"/>
                  </a:ext>
                </a:extLst>
              </a:tr>
              <a:tr h="1139539">
                <a:tc>
                  <a:txBody>
                    <a:bodyPr/>
                    <a:lstStyle/>
                    <a:p>
                      <a:pPr marL="0" indent="0" algn="l">
                        <a:buFont typeface="Wingdings" panose="05000000000000000000" pitchFamily="2" charset="2"/>
                        <a:buNone/>
                      </a:pPr>
                      <a:r>
                        <a:rPr lang="en-US" sz="2000" b="1" dirty="0">
                          <a:latin typeface="Futura PT Bold" panose="020B0902020204020203"/>
                        </a:rPr>
                        <a:t>3. </a:t>
                      </a:r>
                      <a:endParaRPr lang="en-PH" sz="2000" b="1" dirty="0">
                        <a:latin typeface="Futura PT Bold" panose="020B0902020204020203"/>
                      </a:endParaRPr>
                    </a:p>
                  </a:txBody>
                  <a:tcPr>
                    <a:solidFill>
                      <a:schemeClr val="bg1"/>
                    </a:solidFill>
                  </a:tcPr>
                </a:tc>
                <a:tc>
                  <a:txBody>
                    <a:bodyPr/>
                    <a:lstStyle/>
                    <a:p>
                      <a:pPr marL="342900" indent="-342900" algn="l">
                        <a:buFont typeface="Wingdings" panose="05000000000000000000" pitchFamily="2" charset="2"/>
                        <a:buChar char="§"/>
                      </a:pPr>
                      <a:endParaRPr lang="en-US" sz="2000" b="1" dirty="0">
                        <a:latin typeface="Futura PT Bold" panose="020B0902020204020203"/>
                      </a:endParaRPr>
                    </a:p>
                  </a:txBody>
                  <a:tcPr>
                    <a:solidFill>
                      <a:schemeClr val="bg1"/>
                    </a:solidFill>
                  </a:tcPr>
                </a:tc>
                <a:extLst>
                  <a:ext uri="{0D108BD9-81ED-4DB2-BD59-A6C34878D82A}">
                    <a16:rowId xmlns:a16="http://schemas.microsoft.com/office/drawing/2014/main" val="1393151265"/>
                  </a:ext>
                </a:extLst>
              </a:tr>
              <a:tr h="509588">
                <a:tc>
                  <a:txBody>
                    <a:bodyPr/>
                    <a:lstStyle/>
                    <a:p>
                      <a:pPr marL="0" indent="0" algn="l">
                        <a:buFont typeface="Wingdings" panose="05000000000000000000" pitchFamily="2" charset="2"/>
                        <a:buNone/>
                      </a:pPr>
                      <a:r>
                        <a:rPr lang="en-US" sz="2000" b="1" dirty="0">
                          <a:latin typeface="Futura PT Bold" panose="020B0902020204020203"/>
                        </a:rPr>
                        <a:t>4. </a:t>
                      </a:r>
                      <a:endParaRPr lang="en-PH" sz="2000" b="1" dirty="0">
                        <a:latin typeface="Futura PT Bold" panose="020B0902020204020203"/>
                      </a:endParaRPr>
                    </a:p>
                  </a:txBody>
                  <a:tcPr>
                    <a:solidFill>
                      <a:schemeClr val="bg1"/>
                    </a:solidFill>
                  </a:tcPr>
                </a:tc>
                <a:tc>
                  <a:txBody>
                    <a:bodyPr/>
                    <a:lstStyle/>
                    <a:p>
                      <a:pPr marL="342900" indent="-342900" algn="l">
                        <a:buFont typeface="Wingdings" panose="05000000000000000000" pitchFamily="2" charset="2"/>
                        <a:buChar char="§"/>
                      </a:pPr>
                      <a:endParaRPr lang="en-US" sz="2000" b="1" dirty="0">
                        <a:latin typeface="Futura PT Bold" panose="020B0902020204020203"/>
                      </a:endParaRPr>
                    </a:p>
                  </a:txBody>
                  <a:tcPr>
                    <a:solidFill>
                      <a:schemeClr val="bg1"/>
                    </a:solidFill>
                  </a:tcPr>
                </a:tc>
                <a:extLst>
                  <a:ext uri="{0D108BD9-81ED-4DB2-BD59-A6C34878D82A}">
                    <a16:rowId xmlns:a16="http://schemas.microsoft.com/office/drawing/2014/main" val="3939690807"/>
                  </a:ext>
                </a:extLst>
              </a:tr>
              <a:tr h="509588">
                <a:tc>
                  <a:txBody>
                    <a:bodyPr/>
                    <a:lstStyle/>
                    <a:p>
                      <a:pPr marL="0" indent="0" algn="l">
                        <a:buFont typeface="Wingdings" panose="05000000000000000000" pitchFamily="2" charset="2"/>
                        <a:buNone/>
                      </a:pPr>
                      <a:r>
                        <a:rPr lang="en-US" sz="2000" b="1" dirty="0">
                          <a:latin typeface="Futura PT Bold" panose="020B0902020204020203"/>
                        </a:rPr>
                        <a:t>5. </a:t>
                      </a:r>
                      <a:endParaRPr lang="en-PH" sz="2000" b="1" dirty="0">
                        <a:latin typeface="Futura PT Bold" panose="020B0902020204020203"/>
                      </a:endParaRPr>
                    </a:p>
                  </a:txBody>
                  <a:tcPr>
                    <a:solidFill>
                      <a:schemeClr val="bg1"/>
                    </a:solidFill>
                  </a:tcPr>
                </a:tc>
                <a:tc>
                  <a:txBody>
                    <a:bodyPr/>
                    <a:lstStyle/>
                    <a:p>
                      <a:pPr marL="342900" indent="-342900" algn="l">
                        <a:buFont typeface="Wingdings" panose="05000000000000000000" pitchFamily="2" charset="2"/>
                        <a:buChar char="§"/>
                      </a:pPr>
                      <a:endParaRPr lang="en-US" sz="2000" b="1" dirty="0">
                        <a:latin typeface="Futura PT Bold" panose="020B0902020204020203"/>
                      </a:endParaRPr>
                    </a:p>
                  </a:txBody>
                  <a:tcPr>
                    <a:solidFill>
                      <a:schemeClr val="bg1"/>
                    </a:solidFill>
                  </a:tcPr>
                </a:tc>
                <a:extLst>
                  <a:ext uri="{0D108BD9-81ED-4DB2-BD59-A6C34878D82A}">
                    <a16:rowId xmlns:a16="http://schemas.microsoft.com/office/drawing/2014/main" val="2221721830"/>
                  </a:ext>
                </a:extLst>
              </a:tr>
              <a:tr h="1102701">
                <a:tc>
                  <a:txBody>
                    <a:bodyPr/>
                    <a:lstStyle/>
                    <a:p>
                      <a:pPr marL="0" indent="0" algn="l">
                        <a:buFont typeface="Wingdings" panose="05000000000000000000" pitchFamily="2" charset="2"/>
                        <a:buNone/>
                      </a:pPr>
                      <a:r>
                        <a:rPr lang="en-US" sz="2000" b="1" dirty="0">
                          <a:latin typeface="Futura PT Bold" panose="020B0902020204020203"/>
                        </a:rPr>
                        <a:t>6. </a:t>
                      </a:r>
                      <a:endParaRPr lang="en-PH" sz="2000" b="1" dirty="0">
                        <a:latin typeface="Futura PT Bold" panose="020B0902020204020203"/>
                      </a:endParaRPr>
                    </a:p>
                  </a:txBody>
                  <a:tcPr>
                    <a:solidFill>
                      <a:schemeClr val="bg1"/>
                    </a:solidFill>
                  </a:tcPr>
                </a:tc>
                <a:tc>
                  <a:txBody>
                    <a:bodyPr/>
                    <a:lstStyle/>
                    <a:p>
                      <a:pPr marL="342900" indent="-342900" algn="l">
                        <a:buFont typeface="Wingdings" panose="05000000000000000000" pitchFamily="2" charset="2"/>
                        <a:buChar char="§"/>
                      </a:pPr>
                      <a:endParaRPr lang="en-US" sz="2000" b="1" dirty="0">
                        <a:latin typeface="Futura PT Bold" panose="020B0902020204020203"/>
                      </a:endParaRPr>
                    </a:p>
                  </a:txBody>
                  <a:tcPr>
                    <a:solidFill>
                      <a:schemeClr val="bg1"/>
                    </a:solidFill>
                  </a:tcPr>
                </a:tc>
                <a:extLst>
                  <a:ext uri="{0D108BD9-81ED-4DB2-BD59-A6C34878D82A}">
                    <a16:rowId xmlns:a16="http://schemas.microsoft.com/office/drawing/2014/main" val="2990823055"/>
                  </a:ext>
                </a:extLst>
              </a:tr>
            </a:tbl>
          </a:graphicData>
        </a:graphic>
      </p:graphicFrame>
      <p:sp>
        <p:nvSpPr>
          <p:cNvPr id="4" name="TextBox 3">
            <a:extLst>
              <a:ext uri="{FF2B5EF4-FFF2-40B4-BE49-F238E27FC236}">
                <a16:creationId xmlns:a16="http://schemas.microsoft.com/office/drawing/2014/main" id="{C4C430BE-23DA-5C2D-D594-648AE3F7B9FC}"/>
              </a:ext>
            </a:extLst>
          </p:cNvPr>
          <p:cNvSpPr txBox="1"/>
          <p:nvPr/>
        </p:nvSpPr>
        <p:spPr>
          <a:xfrm>
            <a:off x="1148861" y="1710807"/>
            <a:ext cx="2450123" cy="400110"/>
          </a:xfrm>
          <a:prstGeom prst="rect">
            <a:avLst/>
          </a:prstGeom>
          <a:noFill/>
        </p:spPr>
        <p:txBody>
          <a:bodyPr wrap="square" rtlCol="0">
            <a:spAutoFit/>
          </a:bodyPr>
          <a:lstStyle/>
          <a:p>
            <a:r>
              <a:rPr lang="en-US" sz="2000" b="1" dirty="0">
                <a:latin typeface="Futura PT Bold" panose="020B0902020204020203"/>
              </a:rPr>
              <a:t>BP Form C</a:t>
            </a:r>
            <a:endParaRPr lang="en-PH" sz="2000" b="1" dirty="0">
              <a:latin typeface="Futura PT Bold" panose="020B0902020204020203"/>
            </a:endParaRPr>
          </a:p>
        </p:txBody>
      </p:sp>
      <p:sp>
        <p:nvSpPr>
          <p:cNvPr id="5" name="TextBox 4">
            <a:extLst>
              <a:ext uri="{FF2B5EF4-FFF2-40B4-BE49-F238E27FC236}">
                <a16:creationId xmlns:a16="http://schemas.microsoft.com/office/drawing/2014/main" id="{BD55CC84-CDDA-12C5-0AD8-C1DE26C88CCB}"/>
              </a:ext>
            </a:extLst>
          </p:cNvPr>
          <p:cNvSpPr txBox="1"/>
          <p:nvPr/>
        </p:nvSpPr>
        <p:spPr>
          <a:xfrm>
            <a:off x="6096000" y="1710807"/>
            <a:ext cx="3341077"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Futura PT Bold" panose="020B0902020204020203"/>
              </a:rPr>
              <a:t>Renamed the Title.</a:t>
            </a:r>
          </a:p>
        </p:txBody>
      </p:sp>
      <p:sp>
        <p:nvSpPr>
          <p:cNvPr id="6" name="TextBox 5">
            <a:extLst>
              <a:ext uri="{FF2B5EF4-FFF2-40B4-BE49-F238E27FC236}">
                <a16:creationId xmlns:a16="http://schemas.microsoft.com/office/drawing/2014/main" id="{104A54B6-7C8D-8A57-50CD-BBCF8BEFF265}"/>
              </a:ext>
            </a:extLst>
          </p:cNvPr>
          <p:cNvSpPr txBox="1"/>
          <p:nvPr/>
        </p:nvSpPr>
        <p:spPr>
          <a:xfrm>
            <a:off x="1148861" y="2228004"/>
            <a:ext cx="3727939" cy="400110"/>
          </a:xfrm>
          <a:prstGeom prst="rect">
            <a:avLst/>
          </a:prstGeom>
          <a:noFill/>
        </p:spPr>
        <p:txBody>
          <a:bodyPr wrap="square" rtlCol="0">
            <a:spAutoFit/>
          </a:bodyPr>
          <a:lstStyle/>
          <a:p>
            <a:r>
              <a:rPr lang="en-US" sz="2000" b="1" dirty="0">
                <a:latin typeface="Futura PT Bold" panose="020B0902020204020203"/>
              </a:rPr>
              <a:t>BP Form 202 (Box No. 5)</a:t>
            </a:r>
            <a:endParaRPr lang="en-PH" sz="2000" b="1" dirty="0">
              <a:latin typeface="Futura PT Bold" panose="020B0902020204020203"/>
            </a:endParaRPr>
          </a:p>
        </p:txBody>
      </p:sp>
      <p:sp>
        <p:nvSpPr>
          <p:cNvPr id="7" name="TextBox 6">
            <a:extLst>
              <a:ext uri="{FF2B5EF4-FFF2-40B4-BE49-F238E27FC236}">
                <a16:creationId xmlns:a16="http://schemas.microsoft.com/office/drawing/2014/main" id="{EC834A2B-194E-B017-A95E-61F8EFD0B6C0}"/>
              </a:ext>
            </a:extLst>
          </p:cNvPr>
          <p:cNvSpPr txBox="1"/>
          <p:nvPr/>
        </p:nvSpPr>
        <p:spPr>
          <a:xfrm>
            <a:off x="6096000" y="2228004"/>
            <a:ext cx="481818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Futura PT Bold" panose="020B0902020204020203"/>
              </a:rPr>
              <a:t>Renamed the Box Subject/Title.</a:t>
            </a:r>
          </a:p>
        </p:txBody>
      </p:sp>
      <p:sp>
        <p:nvSpPr>
          <p:cNvPr id="9" name="TextBox 8">
            <a:extLst>
              <a:ext uri="{FF2B5EF4-FFF2-40B4-BE49-F238E27FC236}">
                <a16:creationId xmlns:a16="http://schemas.microsoft.com/office/drawing/2014/main" id="{C86C05F8-BD61-C77E-F227-4595AFBA094F}"/>
              </a:ext>
            </a:extLst>
          </p:cNvPr>
          <p:cNvSpPr txBox="1"/>
          <p:nvPr/>
        </p:nvSpPr>
        <p:spPr>
          <a:xfrm>
            <a:off x="1148861" y="2745201"/>
            <a:ext cx="3727939" cy="400110"/>
          </a:xfrm>
          <a:prstGeom prst="rect">
            <a:avLst/>
          </a:prstGeom>
          <a:noFill/>
        </p:spPr>
        <p:txBody>
          <a:bodyPr wrap="square" rtlCol="0">
            <a:spAutoFit/>
          </a:bodyPr>
          <a:lstStyle/>
          <a:p>
            <a:r>
              <a:rPr lang="en-US" sz="2000" b="1" dirty="0">
                <a:latin typeface="Futura PT Bold" panose="020B0902020204020203"/>
              </a:rPr>
              <a:t>BP Form 202 (Box No. 12)</a:t>
            </a:r>
            <a:endParaRPr lang="en-PH" sz="2000" b="1" dirty="0">
              <a:latin typeface="Futura PT Bold" panose="020B0902020204020203"/>
            </a:endParaRPr>
          </a:p>
        </p:txBody>
      </p:sp>
      <p:sp>
        <p:nvSpPr>
          <p:cNvPr id="10" name="TextBox 9">
            <a:extLst>
              <a:ext uri="{FF2B5EF4-FFF2-40B4-BE49-F238E27FC236}">
                <a16:creationId xmlns:a16="http://schemas.microsoft.com/office/drawing/2014/main" id="{AFE3A160-D89F-C079-CD0F-358823877547}"/>
              </a:ext>
            </a:extLst>
          </p:cNvPr>
          <p:cNvSpPr txBox="1"/>
          <p:nvPr/>
        </p:nvSpPr>
        <p:spPr>
          <a:xfrm>
            <a:off x="6096000" y="2745201"/>
            <a:ext cx="4947139" cy="1015663"/>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Futura PT Bold" panose="020B0902020204020203"/>
              </a:rPr>
              <a:t>Renamed some of the Approving Authorities and included a row for Supporting Documents.</a:t>
            </a:r>
          </a:p>
        </p:txBody>
      </p:sp>
      <p:sp>
        <p:nvSpPr>
          <p:cNvPr id="11" name="TextBox 10">
            <a:extLst>
              <a:ext uri="{FF2B5EF4-FFF2-40B4-BE49-F238E27FC236}">
                <a16:creationId xmlns:a16="http://schemas.microsoft.com/office/drawing/2014/main" id="{FCAE454E-24FF-F58D-D06E-39127C418A5E}"/>
              </a:ext>
            </a:extLst>
          </p:cNvPr>
          <p:cNvSpPr txBox="1"/>
          <p:nvPr/>
        </p:nvSpPr>
        <p:spPr>
          <a:xfrm>
            <a:off x="1148861" y="3877096"/>
            <a:ext cx="3727939" cy="400110"/>
          </a:xfrm>
          <a:prstGeom prst="rect">
            <a:avLst/>
          </a:prstGeom>
          <a:noFill/>
        </p:spPr>
        <p:txBody>
          <a:bodyPr wrap="square" rtlCol="0">
            <a:spAutoFit/>
          </a:bodyPr>
          <a:lstStyle/>
          <a:p>
            <a:r>
              <a:rPr lang="en-US" sz="2000" b="1" dirty="0">
                <a:latin typeface="Futura PT Bold" panose="020B0902020204020203"/>
              </a:rPr>
              <a:t>BP Form 203 (Box No. 5)</a:t>
            </a:r>
            <a:endParaRPr lang="en-PH" sz="2000" b="1" dirty="0">
              <a:latin typeface="Futura PT Bold" panose="020B0902020204020203"/>
            </a:endParaRPr>
          </a:p>
        </p:txBody>
      </p:sp>
      <p:sp>
        <p:nvSpPr>
          <p:cNvPr id="12" name="TextBox 11">
            <a:extLst>
              <a:ext uri="{FF2B5EF4-FFF2-40B4-BE49-F238E27FC236}">
                <a16:creationId xmlns:a16="http://schemas.microsoft.com/office/drawing/2014/main" id="{F5711CA5-7D97-AC0E-DB26-20ABBD940754}"/>
              </a:ext>
            </a:extLst>
          </p:cNvPr>
          <p:cNvSpPr txBox="1"/>
          <p:nvPr/>
        </p:nvSpPr>
        <p:spPr>
          <a:xfrm>
            <a:off x="6096000" y="3877096"/>
            <a:ext cx="4818185"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Futura PT Bold" panose="020B0902020204020203"/>
              </a:rPr>
              <a:t>Renamed the Box Subject/Title.</a:t>
            </a:r>
          </a:p>
        </p:txBody>
      </p:sp>
      <p:sp>
        <p:nvSpPr>
          <p:cNvPr id="13" name="TextBox 12">
            <a:extLst>
              <a:ext uri="{FF2B5EF4-FFF2-40B4-BE49-F238E27FC236}">
                <a16:creationId xmlns:a16="http://schemas.microsoft.com/office/drawing/2014/main" id="{01027F7E-E6F8-3191-BBE7-9BEB57C803BF}"/>
              </a:ext>
            </a:extLst>
          </p:cNvPr>
          <p:cNvSpPr txBox="1"/>
          <p:nvPr/>
        </p:nvSpPr>
        <p:spPr>
          <a:xfrm>
            <a:off x="1148861" y="4394293"/>
            <a:ext cx="3727939" cy="400110"/>
          </a:xfrm>
          <a:prstGeom prst="rect">
            <a:avLst/>
          </a:prstGeom>
          <a:noFill/>
        </p:spPr>
        <p:txBody>
          <a:bodyPr wrap="square" rtlCol="0">
            <a:spAutoFit/>
          </a:bodyPr>
          <a:lstStyle/>
          <a:p>
            <a:r>
              <a:rPr lang="en-US" sz="2000" b="1" dirty="0">
                <a:latin typeface="Futura PT Bold" panose="020B0902020204020203"/>
              </a:rPr>
              <a:t>BP Form 203 (Box No. 10.1)</a:t>
            </a:r>
            <a:endParaRPr lang="en-PH" sz="2000" b="1" dirty="0">
              <a:latin typeface="Futura PT Bold" panose="020B0902020204020203"/>
            </a:endParaRPr>
          </a:p>
        </p:txBody>
      </p:sp>
      <p:sp>
        <p:nvSpPr>
          <p:cNvPr id="14" name="TextBox 13">
            <a:extLst>
              <a:ext uri="{FF2B5EF4-FFF2-40B4-BE49-F238E27FC236}">
                <a16:creationId xmlns:a16="http://schemas.microsoft.com/office/drawing/2014/main" id="{688DD7B6-ABD5-2399-E308-A1F4DA19C9F0}"/>
              </a:ext>
            </a:extLst>
          </p:cNvPr>
          <p:cNvSpPr txBox="1"/>
          <p:nvPr/>
        </p:nvSpPr>
        <p:spPr>
          <a:xfrm>
            <a:off x="6096000" y="4394293"/>
            <a:ext cx="5111262" cy="400110"/>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Futura PT Bold" panose="020B0902020204020203"/>
              </a:rPr>
              <a:t>Renamed the Column Subject/Title.</a:t>
            </a:r>
          </a:p>
        </p:txBody>
      </p:sp>
      <p:sp>
        <p:nvSpPr>
          <p:cNvPr id="18" name="TextBox 17">
            <a:extLst>
              <a:ext uri="{FF2B5EF4-FFF2-40B4-BE49-F238E27FC236}">
                <a16:creationId xmlns:a16="http://schemas.microsoft.com/office/drawing/2014/main" id="{356A79A2-8B6D-DF6B-460C-8089404CCA39}"/>
              </a:ext>
            </a:extLst>
          </p:cNvPr>
          <p:cNvSpPr txBox="1"/>
          <p:nvPr/>
        </p:nvSpPr>
        <p:spPr>
          <a:xfrm>
            <a:off x="1148861" y="4910635"/>
            <a:ext cx="3727939" cy="400110"/>
          </a:xfrm>
          <a:prstGeom prst="rect">
            <a:avLst/>
          </a:prstGeom>
          <a:noFill/>
        </p:spPr>
        <p:txBody>
          <a:bodyPr wrap="square" rtlCol="0">
            <a:spAutoFit/>
          </a:bodyPr>
          <a:lstStyle/>
          <a:p>
            <a:r>
              <a:rPr lang="en-US" sz="2000" b="1" dirty="0">
                <a:latin typeface="Futura PT Bold" panose="020B0902020204020203"/>
              </a:rPr>
              <a:t>BP Form 203 (Box No. 11)</a:t>
            </a:r>
            <a:endParaRPr lang="en-PH" sz="2000" b="1" dirty="0">
              <a:latin typeface="Futura PT Bold" panose="020B0902020204020203"/>
            </a:endParaRPr>
          </a:p>
        </p:txBody>
      </p:sp>
      <p:sp>
        <p:nvSpPr>
          <p:cNvPr id="19" name="TextBox 18">
            <a:extLst>
              <a:ext uri="{FF2B5EF4-FFF2-40B4-BE49-F238E27FC236}">
                <a16:creationId xmlns:a16="http://schemas.microsoft.com/office/drawing/2014/main" id="{7B6E7D88-D20C-F77E-CB91-F46AF7CDEB5E}"/>
              </a:ext>
            </a:extLst>
          </p:cNvPr>
          <p:cNvSpPr txBox="1"/>
          <p:nvPr/>
        </p:nvSpPr>
        <p:spPr>
          <a:xfrm>
            <a:off x="6096000" y="4910635"/>
            <a:ext cx="5111262" cy="1015663"/>
          </a:xfrm>
          <a:prstGeom prst="rect">
            <a:avLst/>
          </a:prstGeom>
          <a:noFill/>
        </p:spPr>
        <p:txBody>
          <a:bodyPr wrap="square" rtlCol="0">
            <a:spAutoFit/>
          </a:bodyPr>
          <a:lstStyle/>
          <a:p>
            <a:pPr marL="342900" indent="-342900">
              <a:buFont typeface="Wingdings" panose="05000000000000000000" pitchFamily="2" charset="2"/>
              <a:buChar char="§"/>
            </a:pPr>
            <a:r>
              <a:rPr lang="en-US" sz="2000" b="1" dirty="0">
                <a:latin typeface="Futura PT Bold" panose="020B0902020204020203"/>
              </a:rPr>
              <a:t>Renamed some of the Approving Authorities and included a row for Supporting Documents.</a:t>
            </a:r>
          </a:p>
        </p:txBody>
      </p:sp>
    </p:spTree>
    <p:extLst>
      <p:ext uri="{BB962C8B-B14F-4D97-AF65-F5344CB8AC3E}">
        <p14:creationId xmlns:p14="http://schemas.microsoft.com/office/powerpoint/2010/main" val="208267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P spid="13" grpId="0"/>
      <p:bldP spid="14" grpId="0"/>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9E02C-EDD9-6044-AD1C-FB64CC0AF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1CA88-D648-DE4E-6834-A899D088F8AC}"/>
              </a:ext>
            </a:extLst>
          </p:cNvPr>
          <p:cNvSpPr>
            <a:spLocks noGrp="1"/>
          </p:cNvSpPr>
          <p:nvPr>
            <p:ph type="title"/>
          </p:nvPr>
        </p:nvSpPr>
        <p:spPr>
          <a:xfrm>
            <a:off x="2571379" y="2153861"/>
            <a:ext cx="10852150" cy="828675"/>
          </a:xfrm>
        </p:spPr>
        <p:txBody>
          <a:bodyPr/>
          <a:lstStyle/>
          <a:p>
            <a:r>
              <a:rPr lang="en-US" dirty="0">
                <a:solidFill>
                  <a:schemeClr val="tx1"/>
                </a:solidFill>
              </a:rPr>
              <a:t>Required Supporting Documents to Budget Proposals</a:t>
            </a:r>
            <a:br>
              <a:rPr lang="en-US" dirty="0">
                <a:solidFill>
                  <a:schemeClr val="tx1"/>
                </a:solidFill>
              </a:rPr>
            </a:br>
            <a:endParaRPr lang="en-US" dirty="0">
              <a:solidFill>
                <a:schemeClr val="tx1"/>
              </a:solidFill>
            </a:endParaRPr>
          </a:p>
        </p:txBody>
      </p:sp>
      <p:sp>
        <p:nvSpPr>
          <p:cNvPr id="6" name="Rectangle 5">
            <a:extLst>
              <a:ext uri="{FF2B5EF4-FFF2-40B4-BE49-F238E27FC236}">
                <a16:creationId xmlns:a16="http://schemas.microsoft.com/office/drawing/2014/main" id="{C524F311-BF0A-A569-152E-16C7B8E74598}"/>
              </a:ext>
            </a:extLst>
          </p:cNvPr>
          <p:cNvSpPr/>
          <p:nvPr/>
        </p:nvSpPr>
        <p:spPr>
          <a:xfrm>
            <a:off x="941717" y="2568199"/>
            <a:ext cx="1361537" cy="1284528"/>
          </a:xfrm>
          <a:prstGeom prst="rect">
            <a:avLst/>
          </a:prstGeom>
          <a:ln>
            <a:solidFill>
              <a:srgbClr val="FF66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PH" sz="6000" b="1" dirty="0">
                <a:ln>
                  <a:solidFill>
                    <a:srgbClr val="FFCC00"/>
                  </a:solidFill>
                </a:ln>
                <a:solidFill>
                  <a:schemeClr val="tx1"/>
                </a:solidFill>
              </a:rPr>
              <a:t>✓</a:t>
            </a:r>
            <a:endParaRPr lang="en-PH" sz="19900" dirty="0">
              <a:ln>
                <a:solidFill>
                  <a:srgbClr val="FFCC00"/>
                </a:solidFill>
              </a:ln>
              <a:solidFill>
                <a:schemeClr val="tx1"/>
              </a:solidFill>
            </a:endParaRPr>
          </a:p>
        </p:txBody>
      </p:sp>
    </p:spTree>
    <p:extLst>
      <p:ext uri="{BB962C8B-B14F-4D97-AF65-F5344CB8AC3E}">
        <p14:creationId xmlns:p14="http://schemas.microsoft.com/office/powerpoint/2010/main" val="3385703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2554F-B5DB-2D97-E4B2-C84CD56BC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68BA8-B042-5E3B-EEBF-0F5CCE5D07AD}"/>
              </a:ext>
            </a:extLst>
          </p:cNvPr>
          <p:cNvSpPr>
            <a:spLocks noGrp="1"/>
          </p:cNvSpPr>
          <p:nvPr>
            <p:ph type="title"/>
          </p:nvPr>
        </p:nvSpPr>
        <p:spPr>
          <a:xfrm>
            <a:off x="642937" y="255922"/>
            <a:ext cx="10906125" cy="509588"/>
          </a:xfrm>
        </p:spPr>
        <p:txBody>
          <a:bodyPr/>
          <a:lstStyle/>
          <a:p>
            <a:pPr algn="ctr"/>
            <a:r>
              <a:rPr lang="en-US" dirty="0">
                <a:ln>
                  <a:solidFill>
                    <a:schemeClr val="tx1"/>
                  </a:solidFill>
                </a:ln>
              </a:rPr>
              <a:t>REMINDER: REQUIRED SUPPORTING DOCUMENTS TO BUDGET PROPOSALS</a:t>
            </a:r>
          </a:p>
        </p:txBody>
      </p:sp>
      <p:sp>
        <p:nvSpPr>
          <p:cNvPr id="4" name="Title 1">
            <a:extLst>
              <a:ext uri="{FF2B5EF4-FFF2-40B4-BE49-F238E27FC236}">
                <a16:creationId xmlns:a16="http://schemas.microsoft.com/office/drawing/2014/main" id="{C1C46355-01EC-9F2E-B592-6728F5E4772C}"/>
              </a:ext>
            </a:extLst>
          </p:cNvPr>
          <p:cNvSpPr txBox="1">
            <a:spLocks/>
          </p:cNvSpPr>
          <p:nvPr/>
        </p:nvSpPr>
        <p:spPr>
          <a:xfrm>
            <a:off x="1091740" y="1504650"/>
            <a:ext cx="10063940" cy="88295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000" dirty="0">
                <a:solidFill>
                  <a:schemeClr val="tx1"/>
                </a:solidFill>
                <a:latin typeface="Futura Std Book" panose="020B0502020204020303"/>
              </a:rPr>
              <a:t>BP FORM C</a:t>
            </a:r>
          </a:p>
          <a:p>
            <a:pPr algn="ctr"/>
            <a:r>
              <a:rPr lang="en-PH" sz="2000" dirty="0">
                <a:solidFill>
                  <a:schemeClr val="tx1"/>
                </a:solidFill>
                <a:latin typeface="Futura Std Book" panose="020B0502020204020303"/>
              </a:rPr>
              <a:t>SUMMARY OF RDC INPUTS AND RECOMMENDATIONS ON AGENCY PROGRAMS AND PROJECTS</a:t>
            </a:r>
            <a:endParaRPr lang="en-PH" sz="2000" b="0" dirty="0">
              <a:solidFill>
                <a:schemeClr val="tx1"/>
              </a:solidFill>
              <a:latin typeface="Futura Std Book" panose="020B0502020204020303"/>
            </a:endParaRPr>
          </a:p>
        </p:txBody>
      </p:sp>
      <p:pic>
        <p:nvPicPr>
          <p:cNvPr id="6" name="Picture 5">
            <a:extLst>
              <a:ext uri="{FF2B5EF4-FFF2-40B4-BE49-F238E27FC236}">
                <a16:creationId xmlns:a16="http://schemas.microsoft.com/office/drawing/2014/main" id="{6D102E16-1E51-3F30-3B32-280A84825630}"/>
              </a:ext>
            </a:extLst>
          </p:cNvPr>
          <p:cNvPicPr>
            <a:picLocks noChangeAspect="1"/>
          </p:cNvPicPr>
          <p:nvPr/>
        </p:nvPicPr>
        <p:blipFill>
          <a:blip r:embed="rId3"/>
          <a:stretch>
            <a:fillRect/>
          </a:stretch>
        </p:blipFill>
        <p:spPr>
          <a:xfrm>
            <a:off x="1173020" y="2527744"/>
            <a:ext cx="5378315" cy="3885314"/>
          </a:xfrm>
          <a:prstGeom prst="rect">
            <a:avLst/>
          </a:prstGeom>
          <a:ln w="12700">
            <a:solidFill>
              <a:schemeClr val="tx1"/>
            </a:solidFill>
          </a:ln>
        </p:spPr>
      </p:pic>
      <p:sp>
        <p:nvSpPr>
          <p:cNvPr id="7" name="Oval 6">
            <a:extLst>
              <a:ext uri="{FF2B5EF4-FFF2-40B4-BE49-F238E27FC236}">
                <a16:creationId xmlns:a16="http://schemas.microsoft.com/office/drawing/2014/main" id="{934344FB-DBAE-4061-124E-2B99B81B3192}"/>
              </a:ext>
            </a:extLst>
          </p:cNvPr>
          <p:cNvSpPr/>
          <p:nvPr/>
        </p:nvSpPr>
        <p:spPr>
          <a:xfrm rot="5400000">
            <a:off x="1499051" y="5024576"/>
            <a:ext cx="437996" cy="1440702"/>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pic>
        <p:nvPicPr>
          <p:cNvPr id="10" name="Picture 9">
            <a:extLst>
              <a:ext uri="{FF2B5EF4-FFF2-40B4-BE49-F238E27FC236}">
                <a16:creationId xmlns:a16="http://schemas.microsoft.com/office/drawing/2014/main" id="{BD13035F-D324-5BB3-DE73-7C7E50A927E3}"/>
              </a:ext>
            </a:extLst>
          </p:cNvPr>
          <p:cNvPicPr>
            <a:picLocks noChangeAspect="1"/>
          </p:cNvPicPr>
          <p:nvPr/>
        </p:nvPicPr>
        <p:blipFill>
          <a:blip r:embed="rId4"/>
          <a:stretch>
            <a:fillRect/>
          </a:stretch>
        </p:blipFill>
        <p:spPr>
          <a:xfrm>
            <a:off x="6685253" y="3356292"/>
            <a:ext cx="4470427" cy="2079308"/>
          </a:xfrm>
          <a:prstGeom prst="rect">
            <a:avLst/>
          </a:prstGeom>
          <a:ln w="12700">
            <a:solidFill>
              <a:schemeClr val="tx1"/>
            </a:solidFill>
          </a:ln>
        </p:spPr>
      </p:pic>
      <p:sp>
        <p:nvSpPr>
          <p:cNvPr id="3" name="Oval 2">
            <a:extLst>
              <a:ext uri="{FF2B5EF4-FFF2-40B4-BE49-F238E27FC236}">
                <a16:creationId xmlns:a16="http://schemas.microsoft.com/office/drawing/2014/main" id="{45222796-6D11-B80B-8DA3-12A3A1765126}"/>
              </a:ext>
            </a:extLst>
          </p:cNvPr>
          <p:cNvSpPr/>
          <p:nvPr/>
        </p:nvSpPr>
        <p:spPr>
          <a:xfrm rot="10800000">
            <a:off x="4527653" y="3324615"/>
            <a:ext cx="1017362" cy="2418185"/>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
        <p:nvSpPr>
          <p:cNvPr id="5" name="Oval 4">
            <a:extLst>
              <a:ext uri="{FF2B5EF4-FFF2-40B4-BE49-F238E27FC236}">
                <a16:creationId xmlns:a16="http://schemas.microsoft.com/office/drawing/2014/main" id="{49FF52F3-3605-EF3F-96C0-2BA6C3F5BE94}"/>
              </a:ext>
            </a:extLst>
          </p:cNvPr>
          <p:cNvSpPr/>
          <p:nvPr/>
        </p:nvSpPr>
        <p:spPr>
          <a:xfrm rot="10800000">
            <a:off x="5481559" y="3324615"/>
            <a:ext cx="1017362" cy="2418185"/>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232937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C1E78-B98D-44A8-1441-926FA5E30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06407-5A9C-2C76-6D95-58B9B0578CA8}"/>
              </a:ext>
            </a:extLst>
          </p:cNvPr>
          <p:cNvSpPr>
            <a:spLocks noGrp="1"/>
          </p:cNvSpPr>
          <p:nvPr>
            <p:ph type="title"/>
          </p:nvPr>
        </p:nvSpPr>
        <p:spPr>
          <a:xfrm>
            <a:off x="569253" y="250555"/>
            <a:ext cx="10906125" cy="509588"/>
          </a:xfrm>
        </p:spPr>
        <p:txBody>
          <a:bodyPr/>
          <a:lstStyle/>
          <a:p>
            <a:pPr algn="ctr"/>
            <a:r>
              <a:rPr lang="en-US" dirty="0">
                <a:ln>
                  <a:solidFill>
                    <a:schemeClr val="tx1"/>
                  </a:solidFill>
                </a:ln>
              </a:rPr>
              <a:t>REMINDER: REQUIRED SUPPORTING DOCUMENTS TO BUDGET PROPOSALS</a:t>
            </a:r>
          </a:p>
        </p:txBody>
      </p:sp>
      <p:sp>
        <p:nvSpPr>
          <p:cNvPr id="4" name="Title 1">
            <a:extLst>
              <a:ext uri="{FF2B5EF4-FFF2-40B4-BE49-F238E27FC236}">
                <a16:creationId xmlns:a16="http://schemas.microsoft.com/office/drawing/2014/main" id="{02E57CF3-4A34-9AD5-0562-B3CF31B07681}"/>
              </a:ext>
            </a:extLst>
          </p:cNvPr>
          <p:cNvSpPr txBox="1">
            <a:spLocks/>
          </p:cNvSpPr>
          <p:nvPr/>
        </p:nvSpPr>
        <p:spPr>
          <a:xfrm>
            <a:off x="1106521" y="1535130"/>
            <a:ext cx="10056452" cy="111663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D</a:t>
            </a:r>
          </a:p>
          <a:p>
            <a:pPr algn="ctr"/>
            <a:r>
              <a:rPr lang="en-PH" sz="2400" dirty="0">
                <a:solidFill>
                  <a:schemeClr val="tx1"/>
                </a:solidFill>
                <a:latin typeface="Futura Std Book" panose="020B0502020204020303"/>
              </a:rPr>
              <a:t>REPORT OF CSO’s INPUTS ON ONGOING AND NEW SPENDING PROJECTS AND ACTIVITIES</a:t>
            </a:r>
            <a:endParaRPr lang="en-PH" sz="2400" b="0" dirty="0">
              <a:solidFill>
                <a:schemeClr val="tx1"/>
              </a:solidFill>
              <a:latin typeface="Futura Std Book" panose="020B0502020204020303"/>
            </a:endParaRPr>
          </a:p>
        </p:txBody>
      </p:sp>
      <p:pic>
        <p:nvPicPr>
          <p:cNvPr id="5" name="Picture 4">
            <a:extLst>
              <a:ext uri="{FF2B5EF4-FFF2-40B4-BE49-F238E27FC236}">
                <a16:creationId xmlns:a16="http://schemas.microsoft.com/office/drawing/2014/main" id="{1B3E7357-60A9-173E-CC4B-7C7916EFA530}"/>
              </a:ext>
            </a:extLst>
          </p:cNvPr>
          <p:cNvPicPr>
            <a:picLocks noChangeAspect="1"/>
          </p:cNvPicPr>
          <p:nvPr/>
        </p:nvPicPr>
        <p:blipFill>
          <a:blip r:embed="rId3"/>
          <a:stretch>
            <a:fillRect/>
          </a:stretch>
        </p:blipFill>
        <p:spPr>
          <a:xfrm>
            <a:off x="1200306" y="2822594"/>
            <a:ext cx="5728033" cy="3477390"/>
          </a:xfrm>
          <a:prstGeom prst="rect">
            <a:avLst/>
          </a:prstGeom>
          <a:ln w="12700">
            <a:solidFill>
              <a:schemeClr val="tx1"/>
            </a:solidFill>
          </a:ln>
        </p:spPr>
      </p:pic>
      <p:sp>
        <p:nvSpPr>
          <p:cNvPr id="6" name="Oval 5">
            <a:extLst>
              <a:ext uri="{FF2B5EF4-FFF2-40B4-BE49-F238E27FC236}">
                <a16:creationId xmlns:a16="http://schemas.microsoft.com/office/drawing/2014/main" id="{18585A05-FDB8-370A-D694-BFBAE442AA2F}"/>
              </a:ext>
            </a:extLst>
          </p:cNvPr>
          <p:cNvSpPr/>
          <p:nvPr/>
        </p:nvSpPr>
        <p:spPr>
          <a:xfrm rot="10800000">
            <a:off x="5231038" y="3798274"/>
            <a:ext cx="864961" cy="1922587"/>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
        <p:nvSpPr>
          <p:cNvPr id="7" name="Oval 6">
            <a:extLst>
              <a:ext uri="{FF2B5EF4-FFF2-40B4-BE49-F238E27FC236}">
                <a16:creationId xmlns:a16="http://schemas.microsoft.com/office/drawing/2014/main" id="{3C3C769F-6BD6-6570-2983-611BDD86AEE6}"/>
              </a:ext>
            </a:extLst>
          </p:cNvPr>
          <p:cNvSpPr/>
          <p:nvPr/>
        </p:nvSpPr>
        <p:spPr>
          <a:xfrm rot="10800000">
            <a:off x="6096000" y="3798276"/>
            <a:ext cx="864963" cy="1922586"/>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a:p>
        </p:txBody>
      </p:sp>
      <p:sp>
        <p:nvSpPr>
          <p:cNvPr id="8" name="Oval 7">
            <a:extLst>
              <a:ext uri="{FF2B5EF4-FFF2-40B4-BE49-F238E27FC236}">
                <a16:creationId xmlns:a16="http://schemas.microsoft.com/office/drawing/2014/main" id="{29A2BB8B-51D3-197A-86BA-E1CA3AE200E5}"/>
              </a:ext>
            </a:extLst>
          </p:cNvPr>
          <p:cNvSpPr/>
          <p:nvPr/>
        </p:nvSpPr>
        <p:spPr>
          <a:xfrm rot="5400000">
            <a:off x="1574591" y="5049195"/>
            <a:ext cx="407194" cy="1343335"/>
          </a:xfrm>
          <a:prstGeom prst="ellipse">
            <a:avLst/>
          </a:prstGeom>
          <a:noFill/>
          <a:ln>
            <a:solidFill>
              <a:srgbClr val="FF0000"/>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PH" dirty="0"/>
          </a:p>
        </p:txBody>
      </p:sp>
      <p:pic>
        <p:nvPicPr>
          <p:cNvPr id="11" name="Picture 10">
            <a:extLst>
              <a:ext uri="{FF2B5EF4-FFF2-40B4-BE49-F238E27FC236}">
                <a16:creationId xmlns:a16="http://schemas.microsoft.com/office/drawing/2014/main" id="{45C73F6A-0AAE-8B6B-E8D2-A930E6513567}"/>
              </a:ext>
            </a:extLst>
          </p:cNvPr>
          <p:cNvPicPr>
            <a:picLocks noChangeAspect="1"/>
          </p:cNvPicPr>
          <p:nvPr/>
        </p:nvPicPr>
        <p:blipFill>
          <a:blip r:embed="rId4"/>
          <a:stretch>
            <a:fillRect/>
          </a:stretch>
        </p:blipFill>
        <p:spPr>
          <a:xfrm>
            <a:off x="7202269" y="3717783"/>
            <a:ext cx="3945846" cy="1922587"/>
          </a:xfrm>
          <a:prstGeom prst="rect">
            <a:avLst/>
          </a:prstGeom>
          <a:ln w="12700">
            <a:solidFill>
              <a:schemeClr val="tx1"/>
            </a:solidFill>
          </a:ln>
        </p:spPr>
      </p:pic>
    </p:spTree>
    <p:extLst>
      <p:ext uri="{BB962C8B-B14F-4D97-AF65-F5344CB8AC3E}">
        <p14:creationId xmlns:p14="http://schemas.microsoft.com/office/powerpoint/2010/main" val="337690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176C-F0D9-8992-0039-A4CFBE529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66250-C09D-3DF1-CD3F-AC9056564E26}"/>
              </a:ext>
            </a:extLst>
          </p:cNvPr>
          <p:cNvSpPr>
            <a:spLocks noGrp="1"/>
          </p:cNvSpPr>
          <p:nvPr>
            <p:ph type="title"/>
          </p:nvPr>
        </p:nvSpPr>
        <p:spPr>
          <a:xfrm>
            <a:off x="569253" y="250555"/>
            <a:ext cx="10906125" cy="509588"/>
          </a:xfrm>
        </p:spPr>
        <p:txBody>
          <a:bodyPr/>
          <a:lstStyle/>
          <a:p>
            <a:pPr algn="ctr"/>
            <a:r>
              <a:rPr lang="en-US" dirty="0">
                <a:ln>
                  <a:solidFill>
                    <a:schemeClr val="tx1"/>
                  </a:solidFill>
                </a:ln>
              </a:rPr>
              <a:t>REMINDER: REQUIRED SUPPORTING DOCUMENTS TO BUDGET PROPOSALS</a:t>
            </a:r>
          </a:p>
        </p:txBody>
      </p:sp>
      <p:sp>
        <p:nvSpPr>
          <p:cNvPr id="4" name="Title 1">
            <a:extLst>
              <a:ext uri="{FF2B5EF4-FFF2-40B4-BE49-F238E27FC236}">
                <a16:creationId xmlns:a16="http://schemas.microsoft.com/office/drawing/2014/main" id="{D8CFCD7F-6EEA-C7B7-18CA-BA79D2B745C9}"/>
              </a:ext>
            </a:extLst>
          </p:cNvPr>
          <p:cNvSpPr txBox="1">
            <a:spLocks/>
          </p:cNvSpPr>
          <p:nvPr/>
        </p:nvSpPr>
        <p:spPr>
          <a:xfrm>
            <a:off x="1106521" y="1535130"/>
            <a:ext cx="10017705" cy="88295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BP FORM 207</a:t>
            </a:r>
          </a:p>
          <a:p>
            <a:pPr algn="ctr"/>
            <a:r>
              <a:rPr lang="en-PH" sz="2400" dirty="0">
                <a:solidFill>
                  <a:schemeClr val="tx1"/>
                </a:solidFill>
                <a:latin typeface="Futura Std Book" panose="020B0502020204020303"/>
              </a:rPr>
              <a:t>CLIMATE CHANGE EXPENDITURES</a:t>
            </a:r>
            <a:endParaRPr lang="en-PH" sz="2400" b="0" dirty="0">
              <a:solidFill>
                <a:schemeClr val="tx1"/>
              </a:solidFill>
              <a:latin typeface="Futura Std Book" panose="020B0502020204020303"/>
            </a:endParaRPr>
          </a:p>
        </p:txBody>
      </p:sp>
      <p:sp>
        <p:nvSpPr>
          <p:cNvPr id="9" name="TextBox 8">
            <a:extLst>
              <a:ext uri="{FF2B5EF4-FFF2-40B4-BE49-F238E27FC236}">
                <a16:creationId xmlns:a16="http://schemas.microsoft.com/office/drawing/2014/main" id="{046AE1A7-E5EC-922D-5A14-9500DA78ED82}"/>
              </a:ext>
            </a:extLst>
          </p:cNvPr>
          <p:cNvSpPr txBox="1"/>
          <p:nvPr/>
        </p:nvSpPr>
        <p:spPr>
          <a:xfrm>
            <a:off x="1013462" y="2731761"/>
            <a:ext cx="10017705" cy="3416320"/>
          </a:xfrm>
          <a:prstGeom prst="rect">
            <a:avLst/>
          </a:prstGeom>
          <a:noFill/>
        </p:spPr>
        <p:txBody>
          <a:bodyPr wrap="square">
            <a:spAutoFit/>
          </a:bodyPr>
          <a:lstStyle/>
          <a:p>
            <a:pPr marL="342900" indent="-342900" algn="just">
              <a:buFont typeface="Wingdings" panose="05000000000000000000" pitchFamily="2" charset="2"/>
              <a:buChar char="q"/>
            </a:pPr>
            <a:r>
              <a:rPr lang="en-US" sz="2400" b="1" dirty="0">
                <a:highlight>
                  <a:srgbClr val="FFFF00"/>
                </a:highlight>
                <a:latin typeface="Futura PT Bold" panose="020B0902020204020203"/>
              </a:rPr>
              <a:t>NOTE: QUALITY ASSURANCE AND REVIEW FORM</a:t>
            </a:r>
          </a:p>
          <a:p>
            <a:pPr algn="just"/>
            <a:endParaRPr lang="en-US" sz="2400" b="1" dirty="0">
              <a:highlight>
                <a:srgbClr val="FFFF00"/>
              </a:highlight>
              <a:latin typeface="Futura PT Bold" panose="020B0902020204020203"/>
            </a:endParaRPr>
          </a:p>
          <a:p>
            <a:pPr marL="342900" indent="-342900" algn="just">
              <a:buFont typeface="Wingdings" panose="05000000000000000000" pitchFamily="2" charset="2"/>
              <a:buChar char="ü"/>
            </a:pPr>
            <a:r>
              <a:rPr lang="en-US" sz="2400" b="1" dirty="0">
                <a:latin typeface="Futura PT Bold" panose="020B0902020204020203"/>
              </a:rPr>
              <a:t>The Quality Assurance and Review (QAR) Form approved by the Climate Change Commission (CCC) as prescribed by DBM-CCC JMC 2015-01 will be submitted as Annex to this Form. Hence, departments/agencies shall secure CCC approval of their respective QAR Forms to ensure transparency, consistency, and credibility of the CC Expenditure tagging.</a:t>
            </a:r>
            <a:endParaRPr lang="en-US" sz="2000" b="1" dirty="0">
              <a:latin typeface="Futura PT Bold" panose="020B0902020204020203"/>
            </a:endParaRPr>
          </a:p>
          <a:p>
            <a:pPr lvl="1" algn="just"/>
            <a:r>
              <a:rPr lang="en-PH" sz="2400" b="1" dirty="0">
                <a:latin typeface="Futura PT Bold" panose="020B0902020204020203"/>
              </a:rPr>
              <a:t> </a:t>
            </a:r>
            <a:endParaRPr lang="en-US" b="1" dirty="0">
              <a:latin typeface="Futura PT Bold" panose="020B0902020204020203"/>
            </a:endParaRPr>
          </a:p>
        </p:txBody>
      </p:sp>
    </p:spTree>
    <p:extLst>
      <p:ext uri="{BB962C8B-B14F-4D97-AF65-F5344CB8AC3E}">
        <p14:creationId xmlns:p14="http://schemas.microsoft.com/office/powerpoint/2010/main" val="1809664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BB6BB-7C5D-D477-F4E0-6BD5F74CBF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3DAAA-1ADB-941E-7CA9-9DC9FEE2A95D}"/>
              </a:ext>
            </a:extLst>
          </p:cNvPr>
          <p:cNvSpPr>
            <a:spLocks noGrp="1"/>
          </p:cNvSpPr>
          <p:nvPr>
            <p:ph type="title"/>
          </p:nvPr>
        </p:nvSpPr>
        <p:spPr>
          <a:xfrm>
            <a:off x="2561219" y="2796125"/>
            <a:ext cx="10852150" cy="828675"/>
          </a:xfrm>
        </p:spPr>
        <p:txBody>
          <a:bodyPr/>
          <a:lstStyle/>
          <a:p>
            <a:r>
              <a:rPr lang="en-US" dirty="0">
                <a:solidFill>
                  <a:schemeClr val="tx1"/>
                </a:solidFill>
              </a:rPr>
              <a:t>Updates in Annex B</a:t>
            </a:r>
            <a:br>
              <a:rPr lang="en-US" dirty="0">
                <a:solidFill>
                  <a:schemeClr val="tx1"/>
                </a:solidFill>
              </a:rPr>
            </a:br>
            <a:endParaRPr lang="en-US" dirty="0">
              <a:solidFill>
                <a:schemeClr val="tx1"/>
              </a:solidFill>
            </a:endParaRPr>
          </a:p>
        </p:txBody>
      </p:sp>
      <p:sp>
        <p:nvSpPr>
          <p:cNvPr id="6" name="Rectangle 5">
            <a:extLst>
              <a:ext uri="{FF2B5EF4-FFF2-40B4-BE49-F238E27FC236}">
                <a16:creationId xmlns:a16="http://schemas.microsoft.com/office/drawing/2014/main" id="{CD6FD3BA-501B-69CF-8090-BC5250B4B42E}"/>
              </a:ext>
            </a:extLst>
          </p:cNvPr>
          <p:cNvSpPr/>
          <p:nvPr/>
        </p:nvSpPr>
        <p:spPr>
          <a:xfrm>
            <a:off x="941717" y="2568199"/>
            <a:ext cx="1361537" cy="1284528"/>
          </a:xfrm>
          <a:prstGeom prst="rect">
            <a:avLst/>
          </a:prstGeom>
          <a:ln>
            <a:solidFill>
              <a:srgbClr val="FF66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PH" sz="6000" b="1" dirty="0">
                <a:ln>
                  <a:solidFill>
                    <a:srgbClr val="FFCC00"/>
                  </a:solidFill>
                </a:ln>
                <a:solidFill>
                  <a:schemeClr val="tx1"/>
                </a:solidFill>
              </a:rPr>
              <a:t>✓</a:t>
            </a:r>
            <a:endParaRPr lang="en-PH" sz="19900" dirty="0">
              <a:ln>
                <a:solidFill>
                  <a:srgbClr val="FFCC00"/>
                </a:solidFill>
              </a:ln>
              <a:solidFill>
                <a:schemeClr val="tx1"/>
              </a:solidFill>
            </a:endParaRPr>
          </a:p>
        </p:txBody>
      </p:sp>
    </p:spTree>
    <p:extLst>
      <p:ext uri="{BB962C8B-B14F-4D97-AF65-F5344CB8AC3E}">
        <p14:creationId xmlns:p14="http://schemas.microsoft.com/office/powerpoint/2010/main" val="3527187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68A37-B832-F361-7202-54FA053C4B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6E6FD-4A14-94BB-69D1-7E71E5D2A8AF}"/>
              </a:ext>
            </a:extLst>
          </p:cNvPr>
          <p:cNvSpPr>
            <a:spLocks noGrp="1"/>
          </p:cNvSpPr>
          <p:nvPr>
            <p:ph type="title"/>
          </p:nvPr>
        </p:nvSpPr>
        <p:spPr>
          <a:xfrm>
            <a:off x="569251" y="241318"/>
            <a:ext cx="10906125" cy="509588"/>
          </a:xfrm>
        </p:spPr>
        <p:txBody>
          <a:bodyPr/>
          <a:lstStyle/>
          <a:p>
            <a:pPr algn="ctr"/>
            <a:r>
              <a:rPr lang="en-US" sz="4800" dirty="0">
                <a:ln>
                  <a:solidFill>
                    <a:schemeClr val="tx1"/>
                  </a:solidFill>
                </a:ln>
              </a:rPr>
              <a:t>UPDATES IN ANNEX B</a:t>
            </a:r>
          </a:p>
        </p:txBody>
      </p:sp>
      <p:sp>
        <p:nvSpPr>
          <p:cNvPr id="4" name="Title 1">
            <a:extLst>
              <a:ext uri="{FF2B5EF4-FFF2-40B4-BE49-F238E27FC236}">
                <a16:creationId xmlns:a16="http://schemas.microsoft.com/office/drawing/2014/main" id="{0E3B1D59-C0C3-99F3-A932-5FA48C3B3559}"/>
              </a:ext>
            </a:extLst>
          </p:cNvPr>
          <p:cNvSpPr txBox="1">
            <a:spLocks/>
          </p:cNvSpPr>
          <p:nvPr/>
        </p:nvSpPr>
        <p:spPr>
          <a:xfrm>
            <a:off x="1087147" y="989978"/>
            <a:ext cx="10119333" cy="114711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400" dirty="0">
                <a:solidFill>
                  <a:schemeClr val="tx1"/>
                </a:solidFill>
                <a:latin typeface="Futura Std Book" panose="020B0502020204020303"/>
              </a:rPr>
              <a:t>SALARIES AND WAGES</a:t>
            </a:r>
          </a:p>
          <a:p>
            <a:pPr algn="ctr"/>
            <a:r>
              <a:rPr lang="en-PH" sz="2400" b="0" dirty="0">
                <a:solidFill>
                  <a:schemeClr val="tx1"/>
                </a:solidFill>
                <a:latin typeface="Futura Std Book" panose="020B0502020204020303"/>
              </a:rPr>
              <a:t>Salaries/Wages and Other Compensation of Casual/Contractual Personnel</a:t>
            </a:r>
          </a:p>
        </p:txBody>
      </p:sp>
      <p:sp>
        <p:nvSpPr>
          <p:cNvPr id="9" name="TextBox 8">
            <a:extLst>
              <a:ext uri="{FF2B5EF4-FFF2-40B4-BE49-F238E27FC236}">
                <a16:creationId xmlns:a16="http://schemas.microsoft.com/office/drawing/2014/main" id="{F330BAA5-6C5B-1E7F-58AD-C9EBD39A2966}"/>
              </a:ext>
            </a:extLst>
          </p:cNvPr>
          <p:cNvSpPr txBox="1"/>
          <p:nvPr/>
        </p:nvSpPr>
        <p:spPr>
          <a:xfrm>
            <a:off x="1003302" y="2376160"/>
            <a:ext cx="10203178" cy="3847207"/>
          </a:xfrm>
          <a:prstGeom prst="rect">
            <a:avLst/>
          </a:prstGeom>
          <a:noFill/>
        </p:spPr>
        <p:txBody>
          <a:bodyPr wrap="square">
            <a:spAutoFit/>
          </a:bodyPr>
          <a:lstStyle/>
          <a:p>
            <a:pPr marL="285750" indent="-285750" algn="just">
              <a:buFont typeface="Wingdings" panose="05000000000000000000" pitchFamily="2" charset="2"/>
              <a:buChar char="q"/>
            </a:pPr>
            <a:r>
              <a:rPr lang="en-US" sz="2400" b="1" dirty="0">
                <a:highlight>
                  <a:srgbClr val="FFFF00"/>
                </a:highlight>
                <a:latin typeface="Futura PT Bold" panose="020B0902020204020203"/>
              </a:rPr>
              <a:t>Inclusion of Medical Allowance:</a:t>
            </a:r>
          </a:p>
          <a:p>
            <a:pPr algn="just"/>
            <a:endParaRPr lang="en-US" sz="2000" b="1" dirty="0">
              <a:latin typeface="Futura PT Bold" panose="020B0902020204020203"/>
            </a:endParaRPr>
          </a:p>
          <a:p>
            <a:pPr algn="just"/>
            <a:r>
              <a:rPr lang="en-US" sz="2000" b="1" dirty="0">
                <a:latin typeface="Futura PT Bold" panose="020B0902020204020203"/>
              </a:rPr>
              <a:t>Provision for non-permanent positions shall be inclusive of other PS-related benefits such as Personnel Economic Relief Allowance (PERA), Uniform/Clothing Allowance, Mid-Year and Year-End Bonus, Cash Gift, </a:t>
            </a:r>
            <a:r>
              <a:rPr lang="en-US" sz="2000" b="1" dirty="0">
                <a:highlight>
                  <a:srgbClr val="FFFF00"/>
                </a:highlight>
                <a:latin typeface="Futura PT Bold" panose="020B0902020204020203"/>
              </a:rPr>
              <a:t>Medical Allowance</a:t>
            </a:r>
            <a:r>
              <a:rPr lang="en-US" sz="2000" b="1" dirty="0">
                <a:latin typeface="Futura PT Bold" panose="020B0902020204020203"/>
              </a:rPr>
              <a:t>, Productivity Enhancement Incentive (PEI)45, PhilHealth, Pag-IBIG, Employees' Compensation Insurance Premium (ECIP) and Retirement and Life Insurance Premium (RLIP) Contributions, as well as compensation-related Magna Carta Benefits for qualified non-permanent positions.</a:t>
            </a:r>
          </a:p>
          <a:p>
            <a:pPr algn="just"/>
            <a:endParaRPr lang="en-US" sz="2000" b="1" dirty="0">
              <a:latin typeface="Futura PT Bold" panose="020B0902020204020203"/>
            </a:endParaRPr>
          </a:p>
          <a:p>
            <a:pPr algn="just"/>
            <a:r>
              <a:rPr lang="en-US" sz="2000" b="1" dirty="0">
                <a:latin typeface="Futura PT Bold" panose="020B0902020204020203"/>
              </a:rPr>
              <a:t>Footnote: [45] Grant of PEI subject to the results of the RBPMS and PBI System review.</a:t>
            </a:r>
          </a:p>
        </p:txBody>
      </p:sp>
    </p:spTree>
    <p:extLst>
      <p:ext uri="{BB962C8B-B14F-4D97-AF65-F5344CB8AC3E}">
        <p14:creationId xmlns:p14="http://schemas.microsoft.com/office/powerpoint/2010/main" val="2839078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7F192-47E3-D7FC-B4D4-3FE77E394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D87AE-BC6F-5179-51BE-517423E97312}"/>
              </a:ext>
            </a:extLst>
          </p:cNvPr>
          <p:cNvSpPr>
            <a:spLocks noGrp="1"/>
          </p:cNvSpPr>
          <p:nvPr>
            <p:ph type="title"/>
          </p:nvPr>
        </p:nvSpPr>
        <p:spPr>
          <a:xfrm>
            <a:off x="569251" y="241318"/>
            <a:ext cx="10906125" cy="509588"/>
          </a:xfrm>
        </p:spPr>
        <p:txBody>
          <a:bodyPr/>
          <a:lstStyle/>
          <a:p>
            <a:pPr algn="ctr"/>
            <a:r>
              <a:rPr lang="en-US" sz="4800" dirty="0">
                <a:ln>
                  <a:solidFill>
                    <a:schemeClr val="tx1"/>
                  </a:solidFill>
                </a:ln>
              </a:rPr>
              <a:t>UPDATES IN ANNEX B</a:t>
            </a:r>
          </a:p>
        </p:txBody>
      </p:sp>
      <p:sp>
        <p:nvSpPr>
          <p:cNvPr id="4" name="Title 1">
            <a:extLst>
              <a:ext uri="{FF2B5EF4-FFF2-40B4-BE49-F238E27FC236}">
                <a16:creationId xmlns:a16="http://schemas.microsoft.com/office/drawing/2014/main" id="{BDB9ADF3-2352-3D98-A459-85043CD5FACA}"/>
              </a:ext>
            </a:extLst>
          </p:cNvPr>
          <p:cNvSpPr txBox="1">
            <a:spLocks/>
          </p:cNvSpPr>
          <p:nvPr/>
        </p:nvSpPr>
        <p:spPr>
          <a:xfrm>
            <a:off x="1087147" y="989978"/>
            <a:ext cx="10119333" cy="114711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800" dirty="0">
                <a:solidFill>
                  <a:schemeClr val="tx1"/>
                </a:solidFill>
                <a:latin typeface="Futura Std Book" panose="020B0502020204020303"/>
              </a:rPr>
              <a:t>OTHER COMPENSATION</a:t>
            </a:r>
          </a:p>
          <a:p>
            <a:pPr algn="ctr"/>
            <a:r>
              <a:rPr lang="en-PH" sz="2800" b="0" dirty="0">
                <a:solidFill>
                  <a:schemeClr val="tx1"/>
                </a:solidFill>
                <a:latin typeface="Futura Std Book" panose="020B0502020204020303"/>
              </a:rPr>
              <a:t>Subsistence, Laundry, and Quarters Allowance (SLQA)</a:t>
            </a:r>
          </a:p>
        </p:txBody>
      </p:sp>
      <p:sp>
        <p:nvSpPr>
          <p:cNvPr id="9" name="TextBox 8">
            <a:extLst>
              <a:ext uri="{FF2B5EF4-FFF2-40B4-BE49-F238E27FC236}">
                <a16:creationId xmlns:a16="http://schemas.microsoft.com/office/drawing/2014/main" id="{E8C8B3A2-4AC0-79C6-8ABC-03D894543D31}"/>
              </a:ext>
            </a:extLst>
          </p:cNvPr>
          <p:cNvSpPr txBox="1"/>
          <p:nvPr/>
        </p:nvSpPr>
        <p:spPr>
          <a:xfrm>
            <a:off x="663331" y="2180810"/>
            <a:ext cx="10449363" cy="2185214"/>
          </a:xfrm>
          <a:prstGeom prst="rect">
            <a:avLst/>
          </a:prstGeom>
          <a:noFill/>
        </p:spPr>
        <p:txBody>
          <a:bodyPr wrap="square">
            <a:spAutoFit/>
          </a:bodyPr>
          <a:lstStyle/>
          <a:p>
            <a:pPr algn="just"/>
            <a:endParaRPr lang="en-US" sz="2400" b="1" dirty="0">
              <a:latin typeface="Futura PT Bold" panose="020B0902020204020203"/>
            </a:endParaRPr>
          </a:p>
          <a:p>
            <a:pPr marL="742950" lvl="1" indent="-285750" algn="just">
              <a:buFont typeface="Wingdings" panose="05000000000000000000" pitchFamily="2" charset="2"/>
              <a:buChar char="ü"/>
            </a:pPr>
            <a:r>
              <a:rPr lang="en-US" sz="2800" b="1" dirty="0">
                <a:latin typeface="Futura PT Bold" panose="020B0902020204020203"/>
              </a:rPr>
              <a:t>Public Social Workers – R.A. No. 9433, dated April 11, 2007, and DBM-Department of Social Welfare and Development (DSWD) JC No, 1, dated December 27, 2018</a:t>
            </a:r>
          </a:p>
        </p:txBody>
      </p:sp>
    </p:spTree>
    <p:extLst>
      <p:ext uri="{BB962C8B-B14F-4D97-AF65-F5344CB8AC3E}">
        <p14:creationId xmlns:p14="http://schemas.microsoft.com/office/powerpoint/2010/main" val="2872043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F8DF-D611-2325-1996-DD25C4C36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172C7-1116-71B5-776B-7DF76E43E0EC}"/>
              </a:ext>
            </a:extLst>
          </p:cNvPr>
          <p:cNvSpPr>
            <a:spLocks noGrp="1"/>
          </p:cNvSpPr>
          <p:nvPr>
            <p:ph type="title"/>
          </p:nvPr>
        </p:nvSpPr>
        <p:spPr>
          <a:xfrm>
            <a:off x="569251" y="241318"/>
            <a:ext cx="10906125" cy="509588"/>
          </a:xfrm>
        </p:spPr>
        <p:txBody>
          <a:bodyPr/>
          <a:lstStyle/>
          <a:p>
            <a:pPr algn="ctr"/>
            <a:r>
              <a:rPr lang="en-US" sz="4800" dirty="0">
                <a:ln>
                  <a:solidFill>
                    <a:schemeClr val="tx1"/>
                  </a:solidFill>
                </a:ln>
              </a:rPr>
              <a:t>UPDATES IN ANNEX B</a:t>
            </a:r>
          </a:p>
        </p:txBody>
      </p:sp>
      <p:sp>
        <p:nvSpPr>
          <p:cNvPr id="4" name="Title 1">
            <a:extLst>
              <a:ext uri="{FF2B5EF4-FFF2-40B4-BE49-F238E27FC236}">
                <a16:creationId xmlns:a16="http://schemas.microsoft.com/office/drawing/2014/main" id="{AE8C66EA-58ED-288E-7C8E-317B33578085}"/>
              </a:ext>
            </a:extLst>
          </p:cNvPr>
          <p:cNvSpPr txBox="1">
            <a:spLocks/>
          </p:cNvSpPr>
          <p:nvPr/>
        </p:nvSpPr>
        <p:spPr>
          <a:xfrm>
            <a:off x="1087147" y="989978"/>
            <a:ext cx="10119333" cy="114711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2800" dirty="0">
                <a:solidFill>
                  <a:schemeClr val="tx1"/>
                </a:solidFill>
                <a:latin typeface="Futura Std Book" panose="020B0502020204020303"/>
              </a:rPr>
              <a:t>OTHER PERSONNEL BENEFITS</a:t>
            </a:r>
          </a:p>
          <a:p>
            <a:pPr algn="ctr"/>
            <a:r>
              <a:rPr lang="en-PH" sz="2800" b="0" dirty="0">
                <a:solidFill>
                  <a:schemeClr val="tx1"/>
                </a:solidFill>
                <a:latin typeface="Futura Std Book" panose="020B0502020204020303"/>
              </a:rPr>
              <a:t>Pension Benefits</a:t>
            </a:r>
          </a:p>
        </p:txBody>
      </p:sp>
      <p:sp>
        <p:nvSpPr>
          <p:cNvPr id="9" name="TextBox 8">
            <a:extLst>
              <a:ext uri="{FF2B5EF4-FFF2-40B4-BE49-F238E27FC236}">
                <a16:creationId xmlns:a16="http://schemas.microsoft.com/office/drawing/2014/main" id="{6E0C8F7F-8BC6-8BCC-73DB-E584F39158EE}"/>
              </a:ext>
            </a:extLst>
          </p:cNvPr>
          <p:cNvSpPr txBox="1"/>
          <p:nvPr/>
        </p:nvSpPr>
        <p:spPr>
          <a:xfrm>
            <a:off x="1040778" y="2328592"/>
            <a:ext cx="10212070" cy="3539430"/>
          </a:xfrm>
          <a:prstGeom prst="rect">
            <a:avLst/>
          </a:prstGeom>
          <a:noFill/>
        </p:spPr>
        <p:txBody>
          <a:bodyPr wrap="square">
            <a:spAutoFit/>
          </a:bodyPr>
          <a:lstStyle/>
          <a:p>
            <a:pPr marL="285750" indent="-285750" algn="just">
              <a:buFont typeface="Wingdings" panose="05000000000000000000" pitchFamily="2" charset="2"/>
              <a:buChar char="q"/>
            </a:pPr>
            <a:r>
              <a:rPr lang="en-US" sz="1400" b="1" dirty="0">
                <a:latin typeface="Futura PT Bold" panose="020B0902020204020203"/>
              </a:rPr>
              <a:t> </a:t>
            </a:r>
            <a:r>
              <a:rPr lang="en-US" sz="1400" b="1" dirty="0">
                <a:highlight>
                  <a:srgbClr val="FFFF00"/>
                </a:highlight>
                <a:latin typeface="Futura PT Bold" panose="020B0902020204020203"/>
              </a:rPr>
              <a:t>Newly Added:</a:t>
            </a:r>
          </a:p>
          <a:p>
            <a:pPr algn="just"/>
            <a:endParaRPr lang="en-US" sz="1400" b="1" dirty="0">
              <a:highlight>
                <a:srgbClr val="FFFF00"/>
              </a:highlight>
              <a:latin typeface="Futura PT Bold" panose="020B0902020204020203"/>
            </a:endParaRPr>
          </a:p>
          <a:p>
            <a:pPr algn="just"/>
            <a:r>
              <a:rPr lang="en-US" sz="1400" b="1" dirty="0">
                <a:latin typeface="Futura PT Bold" panose="020B0902020204020203"/>
              </a:rPr>
              <a:t>The requirement of agencies with special retirement laws for their officials such as those in the Judiciary, Chairpersons and Members of Constitutional Commissions and other similarly situated officials in the following agencies shall be computed based on the provisions of their respective special retirement laws:</a:t>
            </a:r>
          </a:p>
          <a:p>
            <a:pPr marL="742950" lvl="1" indent="-285750" algn="just">
              <a:buFont typeface="Wingdings" panose="05000000000000000000" pitchFamily="2" charset="2"/>
              <a:buChar char="ü"/>
            </a:pPr>
            <a:endParaRPr lang="en-US" sz="1400" b="1" dirty="0">
              <a:latin typeface="Futura PT Bold" panose="020B0902020204020203"/>
            </a:endParaRPr>
          </a:p>
          <a:p>
            <a:pPr lvl="1" algn="just"/>
            <a:r>
              <a:rPr lang="en-US" sz="1400" b="1" dirty="0">
                <a:latin typeface="Futura PT Bold" panose="020B0902020204020203"/>
              </a:rPr>
              <a:t>• Office of the Solicitor General (OSG), </a:t>
            </a:r>
          </a:p>
          <a:p>
            <a:pPr lvl="1" algn="just"/>
            <a:r>
              <a:rPr lang="en-US" sz="1400" b="1" dirty="0">
                <a:latin typeface="Futura PT Bold" panose="020B0902020204020203"/>
              </a:rPr>
              <a:t>• Public Attorney’s Office (PAO), </a:t>
            </a:r>
          </a:p>
          <a:p>
            <a:pPr lvl="1" algn="just"/>
            <a:r>
              <a:rPr lang="en-US" sz="1400" b="1" dirty="0">
                <a:latin typeface="Futura PT Bold" panose="020B0902020204020203"/>
              </a:rPr>
              <a:t>• Land Registration Authority (LRA), </a:t>
            </a:r>
          </a:p>
          <a:p>
            <a:pPr lvl="1" algn="just"/>
            <a:r>
              <a:rPr lang="en-US" sz="1400" b="1" dirty="0">
                <a:latin typeface="Futura PT Bold" panose="020B0902020204020203"/>
              </a:rPr>
              <a:t>• National Prosecution Service (NPS) of the </a:t>
            </a:r>
          </a:p>
          <a:p>
            <a:pPr lvl="1" algn="just"/>
            <a:r>
              <a:rPr lang="en-US" sz="1400" b="1" dirty="0">
                <a:latin typeface="Futura PT Bold" panose="020B0902020204020203"/>
              </a:rPr>
              <a:t>   Department of Justice (DOJ), </a:t>
            </a:r>
          </a:p>
          <a:p>
            <a:pPr lvl="1" algn="just"/>
            <a:r>
              <a:rPr lang="en-US" sz="1400" b="1" dirty="0">
                <a:latin typeface="Futura PT Bold" panose="020B0902020204020203"/>
              </a:rPr>
              <a:t>• Office of the Government Corporate Counsel (OGCC), </a:t>
            </a:r>
          </a:p>
          <a:p>
            <a:pPr lvl="1" algn="just"/>
            <a:r>
              <a:rPr lang="en-US" sz="1400" b="1" dirty="0">
                <a:latin typeface="Futura PT Bold" panose="020B0902020204020203"/>
              </a:rPr>
              <a:t>• National Labor Relations Commission (NLRC), </a:t>
            </a:r>
          </a:p>
          <a:p>
            <a:pPr lvl="2" algn="just"/>
            <a:endParaRPr lang="en-US" sz="1400" b="1" dirty="0">
              <a:latin typeface="Futura PT Bold" panose="020B0902020204020203"/>
            </a:endParaRPr>
          </a:p>
          <a:p>
            <a:pPr algn="just"/>
            <a:r>
              <a:rPr lang="en-US" sz="1400" b="1" dirty="0">
                <a:latin typeface="Futura PT Bold" panose="020B0902020204020203"/>
              </a:rPr>
              <a:t>Pension of ex-Presidents or their surviving spouses shall also be computed based on the provisions of the applicable special retirement laws.</a:t>
            </a:r>
          </a:p>
        </p:txBody>
      </p:sp>
      <p:sp>
        <p:nvSpPr>
          <p:cNvPr id="3" name="TextBox 2">
            <a:extLst>
              <a:ext uri="{FF2B5EF4-FFF2-40B4-BE49-F238E27FC236}">
                <a16:creationId xmlns:a16="http://schemas.microsoft.com/office/drawing/2014/main" id="{4FA7626A-BE61-8403-C9B6-0075BAACECB1}"/>
              </a:ext>
            </a:extLst>
          </p:cNvPr>
          <p:cNvSpPr txBox="1"/>
          <p:nvPr/>
        </p:nvSpPr>
        <p:spPr>
          <a:xfrm>
            <a:off x="5845135" y="3586772"/>
            <a:ext cx="5306087" cy="1600438"/>
          </a:xfrm>
          <a:prstGeom prst="rect">
            <a:avLst/>
          </a:prstGeom>
          <a:noFill/>
        </p:spPr>
        <p:txBody>
          <a:bodyPr wrap="square">
            <a:spAutoFit/>
          </a:bodyPr>
          <a:lstStyle/>
          <a:p>
            <a:pPr lvl="2" algn="just"/>
            <a:r>
              <a:rPr lang="en-US" sz="1400" b="1" dirty="0">
                <a:latin typeface="Futura PT Bold" panose="020B0902020204020203"/>
              </a:rPr>
              <a:t>• Professional Regulation Commission (PRC), </a:t>
            </a:r>
          </a:p>
          <a:p>
            <a:pPr lvl="2" algn="just"/>
            <a:r>
              <a:rPr lang="en-US" sz="1400" b="1" dirty="0">
                <a:latin typeface="Futura PT Bold" panose="020B0902020204020203"/>
              </a:rPr>
              <a:t>• Energy Regulatory Commission (ERC), </a:t>
            </a:r>
          </a:p>
          <a:p>
            <a:pPr lvl="2" algn="just"/>
            <a:r>
              <a:rPr lang="en-US" sz="1400" b="1" dirty="0">
                <a:latin typeface="Futura PT Bold" panose="020B0902020204020203"/>
              </a:rPr>
              <a:t>• Office of the Ombudsman,</a:t>
            </a:r>
          </a:p>
          <a:p>
            <a:pPr lvl="2" algn="just"/>
            <a:r>
              <a:rPr lang="en-US" sz="1400" b="1" dirty="0">
                <a:latin typeface="Futura PT Bold" panose="020B0902020204020203"/>
              </a:rPr>
              <a:t>• Commission on Human Rights, and</a:t>
            </a:r>
          </a:p>
          <a:p>
            <a:pPr lvl="2" algn="just"/>
            <a:r>
              <a:rPr lang="en-US" sz="1400" b="1" dirty="0">
                <a:latin typeface="Futura PT Bold" panose="020B0902020204020203"/>
              </a:rPr>
              <a:t>• AFP, PNP, BFP, BJMP, PCG, and NAMRIA </a:t>
            </a:r>
          </a:p>
          <a:p>
            <a:pPr lvl="2" algn="just"/>
            <a:r>
              <a:rPr lang="en-US" sz="1400" b="1" dirty="0">
                <a:highlight>
                  <a:srgbClr val="FFFF00"/>
                </a:highlight>
                <a:latin typeface="Futura PT Bold" panose="020B0902020204020203"/>
              </a:rPr>
              <a:t>• Veterans under Philippine Veterans Affairs Office (PVAO)</a:t>
            </a:r>
          </a:p>
        </p:txBody>
      </p:sp>
    </p:spTree>
    <p:extLst>
      <p:ext uri="{BB962C8B-B14F-4D97-AF65-F5344CB8AC3E}">
        <p14:creationId xmlns:p14="http://schemas.microsoft.com/office/powerpoint/2010/main" val="3012726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17DCA-BC8E-72E0-B706-16A61095C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CDC12-6C1A-E76C-3B14-1BF916B265FF}"/>
              </a:ext>
            </a:extLst>
          </p:cNvPr>
          <p:cNvSpPr>
            <a:spLocks noGrp="1"/>
          </p:cNvSpPr>
          <p:nvPr>
            <p:ph type="title"/>
          </p:nvPr>
        </p:nvSpPr>
        <p:spPr>
          <a:xfrm>
            <a:off x="569251" y="241318"/>
            <a:ext cx="10906125" cy="509588"/>
          </a:xfrm>
        </p:spPr>
        <p:txBody>
          <a:bodyPr/>
          <a:lstStyle/>
          <a:p>
            <a:pPr algn="ctr"/>
            <a:r>
              <a:rPr lang="en-US" sz="4800" dirty="0">
                <a:ln>
                  <a:solidFill>
                    <a:schemeClr val="tx1"/>
                  </a:solidFill>
                </a:ln>
              </a:rPr>
              <a:t>UPDATES IN ANNEX B</a:t>
            </a:r>
          </a:p>
        </p:txBody>
      </p:sp>
      <p:sp>
        <p:nvSpPr>
          <p:cNvPr id="4" name="Title 1">
            <a:extLst>
              <a:ext uri="{FF2B5EF4-FFF2-40B4-BE49-F238E27FC236}">
                <a16:creationId xmlns:a16="http://schemas.microsoft.com/office/drawing/2014/main" id="{2A287672-62FE-34B0-F29F-C3FE5B07E33E}"/>
              </a:ext>
            </a:extLst>
          </p:cNvPr>
          <p:cNvSpPr txBox="1">
            <a:spLocks/>
          </p:cNvSpPr>
          <p:nvPr/>
        </p:nvSpPr>
        <p:spPr>
          <a:xfrm>
            <a:off x="1087147" y="989978"/>
            <a:ext cx="10119333" cy="1147110"/>
          </a:xfrm>
          <a:prstGeom prst="rect">
            <a:avLst/>
          </a:prstGeom>
          <a:solidFill>
            <a:srgbClr val="FFCC00"/>
          </a:solidFill>
          <a:ln w="38100">
            <a:solidFill>
              <a:schemeClr val="tx1"/>
            </a:solid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rgbClr val="251128"/>
                </a:solidFill>
                <a:latin typeface="Futura LT Book" panose="02000504030000020003" pitchFamily="2" charset="0"/>
                <a:ea typeface="+mj-ea"/>
                <a:cs typeface="+mj-cs"/>
              </a:defRPr>
            </a:lvl1pPr>
          </a:lstStyle>
          <a:p>
            <a:pPr algn="ctr"/>
            <a:r>
              <a:rPr lang="en-PH" sz="3200" dirty="0">
                <a:solidFill>
                  <a:schemeClr val="tx1"/>
                </a:solidFill>
                <a:latin typeface="Futura Std Book" panose="020B0502020204020303"/>
              </a:rPr>
              <a:t>SUBSISTENCE ALLOWANCE (RATES)</a:t>
            </a:r>
          </a:p>
        </p:txBody>
      </p:sp>
      <p:sp>
        <p:nvSpPr>
          <p:cNvPr id="9" name="TextBox 8">
            <a:extLst>
              <a:ext uri="{FF2B5EF4-FFF2-40B4-BE49-F238E27FC236}">
                <a16:creationId xmlns:a16="http://schemas.microsoft.com/office/drawing/2014/main" id="{DC4E9BCD-FDA0-911A-D34E-84303526DFCC}"/>
              </a:ext>
            </a:extLst>
          </p:cNvPr>
          <p:cNvSpPr txBox="1"/>
          <p:nvPr/>
        </p:nvSpPr>
        <p:spPr>
          <a:xfrm>
            <a:off x="1040778" y="2328592"/>
            <a:ext cx="10212070" cy="2677656"/>
          </a:xfrm>
          <a:prstGeom prst="rect">
            <a:avLst/>
          </a:prstGeom>
          <a:noFill/>
        </p:spPr>
        <p:txBody>
          <a:bodyPr wrap="square">
            <a:spAutoFit/>
          </a:bodyPr>
          <a:lstStyle/>
          <a:p>
            <a:pPr marL="285750" indent="-285750" algn="just">
              <a:buFont typeface="Wingdings" panose="05000000000000000000" pitchFamily="2" charset="2"/>
              <a:buChar char="q"/>
            </a:pPr>
            <a:r>
              <a:rPr lang="en-US" sz="2800" b="1" dirty="0">
                <a:highlight>
                  <a:srgbClr val="FFFF00"/>
                </a:highlight>
                <a:latin typeface="Futura PT Bold" panose="020B0902020204020203"/>
              </a:rPr>
              <a:t>Increase on the Subsistence Allowance of Military and Uniformed Personnel (MUP) in accordance with EO No. 107, dated December 3, 2025.</a:t>
            </a:r>
          </a:p>
          <a:p>
            <a:pPr marL="285750" indent="-285750" algn="just">
              <a:buFont typeface="Wingdings" panose="05000000000000000000" pitchFamily="2" charset="2"/>
              <a:buChar char="q"/>
            </a:pPr>
            <a:endParaRPr lang="en-US" sz="2800" b="1" dirty="0">
              <a:latin typeface="Futura PT Bold" panose="020B0902020204020203"/>
            </a:endParaRPr>
          </a:p>
          <a:p>
            <a:pPr marL="800100" lvl="1" indent="-342900" algn="just">
              <a:buFont typeface="Wingdings" panose="05000000000000000000" pitchFamily="2" charset="2"/>
              <a:buChar char="ü"/>
            </a:pPr>
            <a:r>
              <a:rPr lang="en-US" sz="2800" b="1" dirty="0">
                <a:latin typeface="Futura PT Bold" panose="020B0902020204020203"/>
              </a:rPr>
              <a:t>From: P150.00 per day</a:t>
            </a:r>
          </a:p>
          <a:p>
            <a:pPr marL="800100" lvl="1" indent="-342900" algn="just">
              <a:buFont typeface="Wingdings" panose="05000000000000000000" pitchFamily="2" charset="2"/>
              <a:buChar char="ü"/>
            </a:pPr>
            <a:r>
              <a:rPr lang="en-US" sz="2800" b="1" dirty="0">
                <a:latin typeface="Futura PT Bold" panose="020B0902020204020203"/>
              </a:rPr>
              <a:t>To: P350.00 per day</a:t>
            </a:r>
          </a:p>
        </p:txBody>
      </p:sp>
    </p:spTree>
    <p:extLst>
      <p:ext uri="{BB962C8B-B14F-4D97-AF65-F5344CB8AC3E}">
        <p14:creationId xmlns:p14="http://schemas.microsoft.com/office/powerpoint/2010/main" val="593366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88785-2678-1982-2F14-D409426EE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3F6461-FB57-12B3-6670-C64F7E80C441}"/>
              </a:ext>
            </a:extLst>
          </p:cNvPr>
          <p:cNvSpPr>
            <a:spLocks noGrp="1"/>
          </p:cNvSpPr>
          <p:nvPr>
            <p:ph type="title"/>
          </p:nvPr>
        </p:nvSpPr>
        <p:spPr>
          <a:xfrm>
            <a:off x="2754259" y="2836765"/>
            <a:ext cx="10852150" cy="828675"/>
          </a:xfrm>
        </p:spPr>
        <p:txBody>
          <a:bodyPr/>
          <a:lstStyle/>
          <a:p>
            <a:r>
              <a:rPr lang="en-US" sz="8800" b="1" dirty="0">
                <a:solidFill>
                  <a:schemeClr val="tx1"/>
                </a:solidFill>
              </a:rPr>
              <a:t>Thank you!</a:t>
            </a:r>
          </a:p>
        </p:txBody>
      </p:sp>
    </p:spTree>
    <p:extLst>
      <p:ext uri="{BB962C8B-B14F-4D97-AF65-F5344CB8AC3E}">
        <p14:creationId xmlns:p14="http://schemas.microsoft.com/office/powerpoint/2010/main" val="3211665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7 Budget Fora Presentation Template" id="{B9F8EBEE-D870-4DE4-B0A5-F8FD4B714F5D}" vid="{F84E38C9-FA54-4E46-BA11-400EA3D35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2027 Budget Fora Presentation Template</Template>
  <TotalTime>1748</TotalTime>
  <Words>1898</Words>
  <Application>Microsoft Office PowerPoint</Application>
  <PresentationFormat>Widescreen</PresentationFormat>
  <Paragraphs>266</Paragraphs>
  <Slides>25</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Futura PT Bold</vt:lpstr>
      <vt:lpstr>Futura PT Demi</vt:lpstr>
      <vt:lpstr>Futura Std Book</vt:lpstr>
      <vt:lpstr>Wingdings</vt:lpstr>
      <vt:lpstr>Office Theme</vt:lpstr>
      <vt:lpstr>Budget Preparation Forms  and Instructions (Updates)</vt:lpstr>
      <vt:lpstr>Outline of Presentation </vt:lpstr>
      <vt:lpstr>BP Forms and Instructions </vt:lpstr>
      <vt:lpstr>FY 2027 Budget Preparation (BP) Forms and Instructions </vt:lpstr>
      <vt:lpstr>PowerPoint Presentation</vt:lpstr>
      <vt:lpstr>BP Forms and Instructions (with Changes)  </vt:lpstr>
      <vt:lpstr>BP FORMS WITH MAJOR CHANGES</vt:lpstr>
      <vt:lpstr>BP FORMS WITH MAJOR CHANGES</vt:lpstr>
      <vt:lpstr>BP FORMS WITH MAJOR CHANGES</vt:lpstr>
      <vt:lpstr>BP FORMS WITH MAJOR CHANGES</vt:lpstr>
      <vt:lpstr>BP FORMS WITH MAJOR CHANGES</vt:lpstr>
      <vt:lpstr>BP FORMS WITH MAJOR CHANGES</vt:lpstr>
      <vt:lpstr>BP FORMS WITH MAJOR CHANGES</vt:lpstr>
      <vt:lpstr>BP FORMS WITH MAJOR CHANGES</vt:lpstr>
      <vt:lpstr>BP FORMS WITH MINOR CHANGES</vt:lpstr>
      <vt:lpstr>Required Supporting Documents to Budget Proposals </vt:lpstr>
      <vt:lpstr>REMINDER: REQUIRED SUPPORTING DOCUMENTS TO BUDGET PROPOSALS</vt:lpstr>
      <vt:lpstr>REMINDER: REQUIRED SUPPORTING DOCUMENTS TO BUDGET PROPOSALS</vt:lpstr>
      <vt:lpstr>REMINDER: REQUIRED SUPPORTING DOCUMENTS TO BUDGET PROPOSALS</vt:lpstr>
      <vt:lpstr>Updates in Annex B </vt:lpstr>
      <vt:lpstr>UPDATES IN ANNEX B</vt:lpstr>
      <vt:lpstr>UPDATES IN ANNEX B</vt:lpstr>
      <vt:lpstr>UPDATES IN ANNEX B</vt:lpstr>
      <vt:lpstr>UPDATES IN ANNEX B</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Ma. Soraya E. Salvador</dc:creator>
  <cp:lastModifiedBy>Jon Marthin T. Teope</cp:lastModifiedBy>
  <cp:revision>141</cp:revision>
  <cp:lastPrinted>2026-01-21T09:02:52Z</cp:lastPrinted>
  <dcterms:created xsi:type="dcterms:W3CDTF">2025-12-15T07:45:48Z</dcterms:created>
  <dcterms:modified xsi:type="dcterms:W3CDTF">2026-01-28T08:18:22Z</dcterms:modified>
</cp:coreProperties>
</file>