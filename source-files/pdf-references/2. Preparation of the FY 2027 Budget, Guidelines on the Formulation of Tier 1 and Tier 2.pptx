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3" r:id="rId2"/>
    <p:sldId id="264" r:id="rId3"/>
    <p:sldId id="265" r:id="rId4"/>
    <p:sldId id="270" r:id="rId5"/>
    <p:sldId id="266" r:id="rId6"/>
    <p:sldId id="272" r:id="rId7"/>
    <p:sldId id="318" r:id="rId8"/>
    <p:sldId id="309" r:id="rId9"/>
    <p:sldId id="273" r:id="rId10"/>
    <p:sldId id="275" r:id="rId11"/>
    <p:sldId id="277" r:id="rId12"/>
    <p:sldId id="285" r:id="rId13"/>
    <p:sldId id="308" r:id="rId14"/>
    <p:sldId id="289" r:id="rId15"/>
    <p:sldId id="315" r:id="rId16"/>
    <p:sldId id="300" r:id="rId17"/>
    <p:sldId id="290" r:id="rId18"/>
    <p:sldId id="316" r:id="rId19"/>
    <p:sldId id="312" r:id="rId20"/>
    <p:sldId id="313" r:id="rId21"/>
    <p:sldId id="319" r:id="rId22"/>
    <p:sldId id="269" r:id="rId23"/>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5500"/>
    <a:srgbClr val="AA8300"/>
    <a:srgbClr val="7D27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1DAE8E-E353-4BC1-911E-A7A9D7D01BD8}" v="21" dt="2026-01-25T07:08:46.346"/>
    <p1510:client id="{697EAE16-A0A8-421B-8FD9-F2906F9B53A6}" v="1" dt="2026-01-26T01:28:01.4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56512" autoAdjust="0"/>
  </p:normalViewPr>
  <p:slideViewPr>
    <p:cSldViewPr snapToGrid="0">
      <p:cViewPr varScale="1">
        <p:scale>
          <a:sx n="47" d="100"/>
          <a:sy n="47" d="100"/>
        </p:scale>
        <p:origin x="2016" y="43"/>
      </p:cViewPr>
      <p:guideLst/>
    </p:cSldViewPr>
  </p:slideViewPr>
  <p:notesTextViewPr>
    <p:cViewPr>
      <p:scale>
        <a:sx n="100" d="100"/>
        <a:sy n="100" d="100"/>
      </p:scale>
      <p:origin x="0" y="0"/>
    </p:cViewPr>
  </p:notesTextViewPr>
  <p:notesViewPr>
    <p:cSldViewPr snapToGrid="0">
      <p:cViewPr>
        <p:scale>
          <a:sx n="90" d="100"/>
          <a:sy n="90" d="100"/>
        </p:scale>
        <p:origin x="1868" y="-7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vien V. Labastilla" userId="4ff51bbc-673f-4498-a952-8622946443a5" providerId="ADAL" clId="{9E082AE5-8F7B-4F4C-BAD6-E0C0116469B7}"/>
    <pc:docChg chg="custSel addSld modSld">
      <pc:chgData name="Vivien V. Labastilla" userId="4ff51bbc-673f-4498-a952-8622946443a5" providerId="ADAL" clId="{9E082AE5-8F7B-4F4C-BAD6-E0C0116469B7}" dt="2026-01-26T01:28:59.583" v="563" actId="20577"/>
      <pc:docMkLst>
        <pc:docMk/>
      </pc:docMkLst>
      <pc:sldChg chg="modNotesTx">
        <pc:chgData name="Vivien V. Labastilla" userId="4ff51bbc-673f-4498-a952-8622946443a5" providerId="ADAL" clId="{9E082AE5-8F7B-4F4C-BAD6-E0C0116469B7}" dt="2026-01-26T01:28:53.168" v="562" actId="20577"/>
        <pc:sldMkLst>
          <pc:docMk/>
          <pc:sldMk cId="723108536" sldId="269"/>
        </pc:sldMkLst>
      </pc:sldChg>
      <pc:sldChg chg="modSp new mod modNotesTx">
        <pc:chgData name="Vivien V. Labastilla" userId="4ff51bbc-673f-4498-a952-8622946443a5" providerId="ADAL" clId="{9E082AE5-8F7B-4F4C-BAD6-E0C0116469B7}" dt="2026-01-26T01:28:59.583" v="563" actId="20577"/>
        <pc:sldMkLst>
          <pc:docMk/>
          <pc:sldMk cId="4117529998" sldId="319"/>
        </pc:sldMkLst>
        <pc:spChg chg="mod">
          <ac:chgData name="Vivien V. Labastilla" userId="4ff51bbc-673f-4498-a952-8622946443a5" providerId="ADAL" clId="{9E082AE5-8F7B-4F4C-BAD6-E0C0116469B7}" dt="2026-01-26T01:26:49.097" v="391" actId="114"/>
          <ac:spMkLst>
            <pc:docMk/>
            <pc:sldMk cId="4117529998" sldId="319"/>
            <ac:spMk id="2" creationId="{E215577C-DD1F-EB8A-9EE6-4E3A55A3FEA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D686C615-3E44-42D8-A680-52CAF0C1B5DB}" type="datetimeFigureOut">
              <a:rPr lang="en-US" smtClean="0"/>
              <a:t>1/28/2026</a:t>
            </a:fld>
            <a:endParaRPr lang="en-US" dirty="0"/>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30C8F37A-5198-4D76-A8D9-E6067C3C608A}" type="slidenum">
              <a:rPr lang="en-US" smtClean="0"/>
              <a:t>‹#›</a:t>
            </a:fld>
            <a:endParaRPr lang="en-US" dirty="0"/>
          </a:p>
        </p:txBody>
      </p:sp>
    </p:spTree>
    <p:extLst>
      <p:ext uri="{BB962C8B-B14F-4D97-AF65-F5344CB8AC3E}">
        <p14:creationId xmlns:p14="http://schemas.microsoft.com/office/powerpoint/2010/main" val="2103044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1</a:t>
            </a:fld>
            <a:endParaRPr lang="en-US" dirty="0"/>
          </a:p>
        </p:txBody>
      </p:sp>
    </p:spTree>
    <p:extLst>
      <p:ext uri="{BB962C8B-B14F-4D97-AF65-F5344CB8AC3E}">
        <p14:creationId xmlns:p14="http://schemas.microsoft.com/office/powerpoint/2010/main" val="26946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2</a:t>
            </a:fld>
            <a:endParaRPr lang="en-US" dirty="0"/>
          </a:p>
        </p:txBody>
      </p:sp>
    </p:spTree>
    <p:extLst>
      <p:ext uri="{BB962C8B-B14F-4D97-AF65-F5344CB8AC3E}">
        <p14:creationId xmlns:p14="http://schemas.microsoft.com/office/powerpoint/2010/main" val="1945465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3</a:t>
            </a:fld>
            <a:endParaRPr lang="en-US" dirty="0"/>
          </a:p>
        </p:txBody>
      </p:sp>
    </p:spTree>
    <p:extLst>
      <p:ext uri="{BB962C8B-B14F-4D97-AF65-F5344CB8AC3E}">
        <p14:creationId xmlns:p14="http://schemas.microsoft.com/office/powerpoint/2010/main" val="3902029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334963"/>
            <a:ext cx="5962650" cy="3354387"/>
          </a:xfrm>
        </p:spPr>
        <p:txBody>
          <a:bodyPr/>
          <a:lstStyle/>
          <a:p>
            <a:endParaRPr lang="en-US" dirty="0"/>
          </a:p>
        </p:txBody>
      </p:sp>
      <p:sp>
        <p:nvSpPr>
          <p:cNvPr id="3" name="Notes Placeholder 2"/>
          <p:cNvSpPr>
            <a:spLocks noGrp="1"/>
          </p:cNvSpPr>
          <p:nvPr>
            <p:ph type="body" idx="1"/>
          </p:nvPr>
        </p:nvSpPr>
        <p:spPr>
          <a:xfrm>
            <a:off x="306324" y="3901880"/>
            <a:ext cx="6194552" cy="5702695"/>
          </a:xfrm>
        </p:spPr>
        <p:txBody>
          <a:bodyPr/>
          <a:lstStyle/>
          <a:p>
            <a:pPr algn="just"/>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4</a:t>
            </a:fld>
            <a:endParaRPr lang="en-US" dirty="0"/>
          </a:p>
        </p:txBody>
      </p:sp>
    </p:spTree>
    <p:extLst>
      <p:ext uri="{BB962C8B-B14F-4D97-AF65-F5344CB8AC3E}">
        <p14:creationId xmlns:p14="http://schemas.microsoft.com/office/powerpoint/2010/main" val="1889855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gn="just"/>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5</a:t>
            </a:fld>
            <a:endParaRPr lang="en-US" dirty="0"/>
          </a:p>
        </p:txBody>
      </p:sp>
    </p:spTree>
    <p:extLst>
      <p:ext uri="{BB962C8B-B14F-4D97-AF65-F5344CB8AC3E}">
        <p14:creationId xmlns:p14="http://schemas.microsoft.com/office/powerpoint/2010/main" val="2551191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gn="just"/>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6</a:t>
            </a:fld>
            <a:endParaRPr lang="en-US" dirty="0"/>
          </a:p>
        </p:txBody>
      </p:sp>
    </p:spTree>
    <p:extLst>
      <p:ext uri="{BB962C8B-B14F-4D97-AF65-F5344CB8AC3E}">
        <p14:creationId xmlns:p14="http://schemas.microsoft.com/office/powerpoint/2010/main" val="3323538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BA3D1-6C01-92B9-5B7F-AF4AF9504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53CAF-D9A8-0570-3B11-4297116B7D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06E297-9166-BBD1-3B05-4F946E5CEBFA}"/>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D59E7063-717D-776B-EEAE-D329DAED60AF}"/>
              </a:ext>
            </a:extLst>
          </p:cNvPr>
          <p:cNvSpPr>
            <a:spLocks noGrp="1"/>
          </p:cNvSpPr>
          <p:nvPr>
            <p:ph type="sldNum" sz="quarter" idx="5"/>
          </p:nvPr>
        </p:nvSpPr>
        <p:spPr/>
        <p:txBody>
          <a:bodyPr/>
          <a:lstStyle/>
          <a:p>
            <a:fld id="{30C8F37A-5198-4D76-A8D9-E6067C3C608A}" type="slidenum">
              <a:rPr lang="en-US" smtClean="0"/>
              <a:t>7</a:t>
            </a:fld>
            <a:endParaRPr lang="en-US" dirty="0"/>
          </a:p>
        </p:txBody>
      </p:sp>
    </p:spTree>
    <p:extLst>
      <p:ext uri="{BB962C8B-B14F-4D97-AF65-F5344CB8AC3E}">
        <p14:creationId xmlns:p14="http://schemas.microsoft.com/office/powerpoint/2010/main" val="3185048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18815-E601-64DC-D1E1-27D0F8006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65703-2805-6290-2047-F413FEA83FB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E69A062-2723-A098-DEDB-12FB41BA287C}"/>
              </a:ext>
            </a:extLst>
          </p:cNvPr>
          <p:cNvSpPr>
            <a:spLocks noGrp="1"/>
          </p:cNvSpPr>
          <p:nvPr>
            <p:ph type="body" idx="1"/>
          </p:nvPr>
        </p:nvSpPr>
        <p:spPr/>
        <p:txBody>
          <a:bodyPr/>
          <a:lstStyle/>
          <a:p>
            <a:pPr algn="just"/>
            <a:endParaRPr lang="en-US" sz="1400" dirty="0"/>
          </a:p>
        </p:txBody>
      </p:sp>
      <p:sp>
        <p:nvSpPr>
          <p:cNvPr id="4" name="Slide Number Placeholder 3">
            <a:extLst>
              <a:ext uri="{FF2B5EF4-FFF2-40B4-BE49-F238E27FC236}">
                <a16:creationId xmlns:a16="http://schemas.microsoft.com/office/drawing/2014/main" id="{DBCECDDF-A54F-EEF4-FE3D-537E337B1A85}"/>
              </a:ext>
            </a:extLst>
          </p:cNvPr>
          <p:cNvSpPr>
            <a:spLocks noGrp="1"/>
          </p:cNvSpPr>
          <p:nvPr>
            <p:ph type="sldNum" sz="quarter" idx="5"/>
          </p:nvPr>
        </p:nvSpPr>
        <p:spPr/>
        <p:txBody>
          <a:bodyPr/>
          <a:lstStyle/>
          <a:p>
            <a:fld id="{30C8F37A-5198-4D76-A8D9-E6067C3C608A}" type="slidenum">
              <a:rPr lang="en-US" smtClean="0"/>
              <a:t>8</a:t>
            </a:fld>
            <a:endParaRPr lang="en-US" dirty="0"/>
          </a:p>
        </p:txBody>
      </p:sp>
    </p:spTree>
    <p:extLst>
      <p:ext uri="{BB962C8B-B14F-4D97-AF65-F5344CB8AC3E}">
        <p14:creationId xmlns:p14="http://schemas.microsoft.com/office/powerpoint/2010/main" val="2556248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C8F37A-5198-4D76-A8D9-E6067C3C608A}" type="slidenum">
              <a:rPr lang="en-US" smtClean="0"/>
              <a:t>9</a:t>
            </a:fld>
            <a:endParaRPr lang="en-US" dirty="0"/>
          </a:p>
        </p:txBody>
      </p:sp>
    </p:spTree>
    <p:extLst>
      <p:ext uri="{BB962C8B-B14F-4D97-AF65-F5344CB8AC3E}">
        <p14:creationId xmlns:p14="http://schemas.microsoft.com/office/powerpoint/2010/main" val="1726950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400" b="1" dirty="0"/>
          </a:p>
        </p:txBody>
      </p:sp>
      <p:sp>
        <p:nvSpPr>
          <p:cNvPr id="4" name="Slide Number Placeholder 3"/>
          <p:cNvSpPr>
            <a:spLocks noGrp="1"/>
          </p:cNvSpPr>
          <p:nvPr>
            <p:ph type="sldNum" sz="quarter" idx="5"/>
          </p:nvPr>
        </p:nvSpPr>
        <p:spPr/>
        <p:txBody>
          <a:bodyPr/>
          <a:lstStyle/>
          <a:p>
            <a:fld id="{30C8F37A-5198-4D76-A8D9-E6067C3C608A}" type="slidenum">
              <a:rPr lang="en-US" smtClean="0"/>
              <a:t>10</a:t>
            </a:fld>
            <a:endParaRPr lang="en-US" dirty="0"/>
          </a:p>
        </p:txBody>
      </p:sp>
    </p:spTree>
    <p:extLst>
      <p:ext uri="{BB962C8B-B14F-4D97-AF65-F5344CB8AC3E}">
        <p14:creationId xmlns:p14="http://schemas.microsoft.com/office/powerpoint/2010/main" val="693689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gn="just"/>
            <a:endParaRPr lang="en-US" sz="1400" b="0" dirty="0"/>
          </a:p>
        </p:txBody>
      </p:sp>
      <p:sp>
        <p:nvSpPr>
          <p:cNvPr id="4" name="Slide Number Placeholder 3"/>
          <p:cNvSpPr>
            <a:spLocks noGrp="1"/>
          </p:cNvSpPr>
          <p:nvPr>
            <p:ph type="sldNum" sz="quarter" idx="5"/>
          </p:nvPr>
        </p:nvSpPr>
        <p:spPr/>
        <p:txBody>
          <a:bodyPr/>
          <a:lstStyle/>
          <a:p>
            <a:fld id="{30C8F37A-5198-4D76-A8D9-E6067C3C608A}" type="slidenum">
              <a:rPr lang="en-US" smtClean="0"/>
              <a:t>11</a:t>
            </a:fld>
            <a:endParaRPr lang="en-US" dirty="0"/>
          </a:p>
        </p:txBody>
      </p:sp>
    </p:spTree>
    <p:extLst>
      <p:ext uri="{BB962C8B-B14F-4D97-AF65-F5344CB8AC3E}">
        <p14:creationId xmlns:p14="http://schemas.microsoft.com/office/powerpoint/2010/main" val="443899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gn="just"/>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12</a:t>
            </a:fld>
            <a:endParaRPr lang="en-US" dirty="0"/>
          </a:p>
        </p:txBody>
      </p:sp>
    </p:spTree>
    <p:extLst>
      <p:ext uri="{BB962C8B-B14F-4D97-AF65-F5344CB8AC3E}">
        <p14:creationId xmlns:p14="http://schemas.microsoft.com/office/powerpoint/2010/main" val="2522736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13</a:t>
            </a:fld>
            <a:endParaRPr lang="en-US" dirty="0"/>
          </a:p>
        </p:txBody>
      </p:sp>
    </p:spTree>
    <p:extLst>
      <p:ext uri="{BB962C8B-B14F-4D97-AF65-F5344CB8AC3E}">
        <p14:creationId xmlns:p14="http://schemas.microsoft.com/office/powerpoint/2010/main" val="495246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412750"/>
            <a:ext cx="5962650" cy="3354388"/>
          </a:xfrm>
        </p:spPr>
        <p:txBody>
          <a:bodyPr/>
          <a:lstStyle/>
          <a:p>
            <a:endParaRPr lang="en-US" dirty="0"/>
          </a:p>
        </p:txBody>
      </p:sp>
      <p:sp>
        <p:nvSpPr>
          <p:cNvPr id="3" name="Notes Placeholder 2"/>
          <p:cNvSpPr>
            <a:spLocks noGrp="1"/>
          </p:cNvSpPr>
          <p:nvPr>
            <p:ph type="body" idx="1"/>
          </p:nvPr>
        </p:nvSpPr>
        <p:spPr>
          <a:xfrm>
            <a:off x="278356" y="4028663"/>
            <a:ext cx="6250487" cy="5461347"/>
          </a:xfrm>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dirty="0"/>
          </a:p>
        </p:txBody>
      </p:sp>
      <p:sp>
        <p:nvSpPr>
          <p:cNvPr id="4" name="Slide Number Placeholder 3"/>
          <p:cNvSpPr>
            <a:spLocks noGrp="1"/>
          </p:cNvSpPr>
          <p:nvPr>
            <p:ph type="sldNum" sz="quarter" idx="5"/>
          </p:nvPr>
        </p:nvSpPr>
        <p:spPr/>
        <p:txBody>
          <a:bodyPr/>
          <a:lstStyle/>
          <a:p>
            <a:fld id="{30C8F37A-5198-4D76-A8D9-E6067C3C608A}" type="slidenum">
              <a:rPr lang="en-US" smtClean="0"/>
              <a:t>14</a:t>
            </a:fld>
            <a:endParaRPr lang="en-US" dirty="0"/>
          </a:p>
        </p:txBody>
      </p:sp>
    </p:spTree>
    <p:extLst>
      <p:ext uri="{BB962C8B-B14F-4D97-AF65-F5344CB8AC3E}">
        <p14:creationId xmlns:p14="http://schemas.microsoft.com/office/powerpoint/2010/main" val="63616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E6F9B-4A5F-902D-FEB6-0D414FD6D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C6361-9F8A-5F3B-9C9B-260F3FE50BD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68BE754-A4DE-AEEE-DC8A-C83C8AF3E6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7382CE-CB0E-2C21-C56A-FF4274713EF3}"/>
              </a:ext>
            </a:extLst>
          </p:cNvPr>
          <p:cNvSpPr>
            <a:spLocks noGrp="1"/>
          </p:cNvSpPr>
          <p:nvPr>
            <p:ph type="sldNum" sz="quarter" idx="5"/>
          </p:nvPr>
        </p:nvSpPr>
        <p:spPr/>
        <p:txBody>
          <a:bodyPr/>
          <a:lstStyle/>
          <a:p>
            <a:fld id="{30C8F37A-5198-4D76-A8D9-E6067C3C608A}" type="slidenum">
              <a:rPr lang="en-US" smtClean="0"/>
              <a:t>15</a:t>
            </a:fld>
            <a:endParaRPr lang="en-US" dirty="0"/>
          </a:p>
        </p:txBody>
      </p:sp>
    </p:spTree>
    <p:extLst>
      <p:ext uri="{BB962C8B-B14F-4D97-AF65-F5344CB8AC3E}">
        <p14:creationId xmlns:p14="http://schemas.microsoft.com/office/powerpoint/2010/main" val="2026344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algn="just"/>
            <a:endParaRPr lang="en-US" sz="1400" dirty="0"/>
          </a:p>
        </p:txBody>
      </p:sp>
      <p:sp>
        <p:nvSpPr>
          <p:cNvPr id="4" name="Slide Number Placeholder 3"/>
          <p:cNvSpPr>
            <a:spLocks noGrp="1"/>
          </p:cNvSpPr>
          <p:nvPr>
            <p:ph type="sldNum" sz="quarter" idx="5"/>
          </p:nvPr>
        </p:nvSpPr>
        <p:spPr/>
        <p:txBody>
          <a:bodyPr/>
          <a:lstStyle/>
          <a:p>
            <a:fld id="{30C8F37A-5198-4D76-A8D9-E6067C3C608A}" type="slidenum">
              <a:rPr lang="en-US" smtClean="0"/>
              <a:t>16</a:t>
            </a:fld>
            <a:endParaRPr lang="en-US" dirty="0"/>
          </a:p>
        </p:txBody>
      </p:sp>
    </p:spTree>
    <p:extLst>
      <p:ext uri="{BB962C8B-B14F-4D97-AF65-F5344CB8AC3E}">
        <p14:creationId xmlns:p14="http://schemas.microsoft.com/office/powerpoint/2010/main" val="3411292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indent="0" algn="just">
              <a:buFont typeface="Arial" panose="020B0604020202020204" pitchFamily="34" charset="0"/>
              <a:buNone/>
            </a:pPr>
            <a:endParaRPr lang="en-US" sz="1400" b="1" dirty="0"/>
          </a:p>
        </p:txBody>
      </p:sp>
      <p:sp>
        <p:nvSpPr>
          <p:cNvPr id="4" name="Slide Number Placeholder 3"/>
          <p:cNvSpPr>
            <a:spLocks noGrp="1"/>
          </p:cNvSpPr>
          <p:nvPr>
            <p:ph type="sldNum" sz="quarter" idx="5"/>
          </p:nvPr>
        </p:nvSpPr>
        <p:spPr/>
        <p:txBody>
          <a:bodyPr/>
          <a:lstStyle/>
          <a:p>
            <a:fld id="{30C8F37A-5198-4D76-A8D9-E6067C3C608A}" type="slidenum">
              <a:rPr lang="en-US" smtClean="0"/>
              <a:t>17</a:t>
            </a:fld>
            <a:endParaRPr lang="en-US" dirty="0"/>
          </a:p>
        </p:txBody>
      </p:sp>
    </p:spTree>
    <p:extLst>
      <p:ext uri="{BB962C8B-B14F-4D97-AF65-F5344CB8AC3E}">
        <p14:creationId xmlns:p14="http://schemas.microsoft.com/office/powerpoint/2010/main" val="1642612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3233F-7145-C741-A8FE-4B6EC667D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C2559-5D08-238C-91EF-5A50AAF6C69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0EB954E-8BC0-0D45-FDA0-54D481F7C8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13ADE-0BED-8D62-2C03-7D8136F3CDAE}"/>
              </a:ext>
            </a:extLst>
          </p:cNvPr>
          <p:cNvSpPr>
            <a:spLocks noGrp="1"/>
          </p:cNvSpPr>
          <p:nvPr>
            <p:ph type="sldNum" sz="quarter" idx="5"/>
          </p:nvPr>
        </p:nvSpPr>
        <p:spPr/>
        <p:txBody>
          <a:bodyPr/>
          <a:lstStyle/>
          <a:p>
            <a:fld id="{30C8F37A-5198-4D76-A8D9-E6067C3C608A}" type="slidenum">
              <a:rPr lang="en-US" smtClean="0"/>
              <a:t>18</a:t>
            </a:fld>
            <a:endParaRPr lang="en-US" dirty="0"/>
          </a:p>
        </p:txBody>
      </p:sp>
    </p:spTree>
    <p:extLst>
      <p:ext uri="{BB962C8B-B14F-4D97-AF65-F5344CB8AC3E}">
        <p14:creationId xmlns:p14="http://schemas.microsoft.com/office/powerpoint/2010/main" val="1210315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1C877-AD76-D454-012A-C671D60F2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07D5F-4879-4760-A44A-5D4FCC7209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C37D5F8-8220-60CE-E20E-91736389DE5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dirty="0"/>
          </a:p>
        </p:txBody>
      </p:sp>
      <p:sp>
        <p:nvSpPr>
          <p:cNvPr id="4" name="Slide Number Placeholder 3">
            <a:extLst>
              <a:ext uri="{FF2B5EF4-FFF2-40B4-BE49-F238E27FC236}">
                <a16:creationId xmlns:a16="http://schemas.microsoft.com/office/drawing/2014/main" id="{90DD4EB5-7E58-70F6-2CBF-9EA96DDBBF1F}"/>
              </a:ext>
            </a:extLst>
          </p:cNvPr>
          <p:cNvSpPr>
            <a:spLocks noGrp="1"/>
          </p:cNvSpPr>
          <p:nvPr>
            <p:ph type="sldNum" sz="quarter" idx="5"/>
          </p:nvPr>
        </p:nvSpPr>
        <p:spPr/>
        <p:txBody>
          <a:bodyPr/>
          <a:lstStyle/>
          <a:p>
            <a:fld id="{30C8F37A-5198-4D76-A8D9-E6067C3C608A}" type="slidenum">
              <a:rPr lang="en-US" smtClean="0"/>
              <a:t>19</a:t>
            </a:fld>
            <a:endParaRPr lang="en-US" dirty="0"/>
          </a:p>
        </p:txBody>
      </p:sp>
    </p:spTree>
    <p:extLst>
      <p:ext uri="{BB962C8B-B14F-4D97-AF65-F5344CB8AC3E}">
        <p14:creationId xmlns:p14="http://schemas.microsoft.com/office/powerpoint/2010/main" val="3638808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98E54-BAF8-7540-250D-7526E63C3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AB234-CCD7-636B-B8FB-9582600936A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3B691B4-BA14-C7DD-ACFF-71D2F1C7D53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dirty="0"/>
          </a:p>
        </p:txBody>
      </p:sp>
      <p:sp>
        <p:nvSpPr>
          <p:cNvPr id="4" name="Slide Number Placeholder 3">
            <a:extLst>
              <a:ext uri="{FF2B5EF4-FFF2-40B4-BE49-F238E27FC236}">
                <a16:creationId xmlns:a16="http://schemas.microsoft.com/office/drawing/2014/main" id="{5BBA008F-F80C-D3C9-DE8E-99261B923FF1}"/>
              </a:ext>
            </a:extLst>
          </p:cNvPr>
          <p:cNvSpPr>
            <a:spLocks noGrp="1"/>
          </p:cNvSpPr>
          <p:nvPr>
            <p:ph type="sldNum" sz="quarter" idx="5"/>
          </p:nvPr>
        </p:nvSpPr>
        <p:spPr/>
        <p:txBody>
          <a:bodyPr/>
          <a:lstStyle/>
          <a:p>
            <a:fld id="{30C8F37A-5198-4D76-A8D9-E6067C3C608A}" type="slidenum">
              <a:rPr lang="en-US" smtClean="0"/>
              <a:t>20</a:t>
            </a:fld>
            <a:endParaRPr lang="en-US" dirty="0"/>
          </a:p>
        </p:txBody>
      </p:sp>
    </p:spTree>
    <p:extLst>
      <p:ext uri="{BB962C8B-B14F-4D97-AF65-F5344CB8AC3E}">
        <p14:creationId xmlns:p14="http://schemas.microsoft.com/office/powerpoint/2010/main" val="3865668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sz="1400" dirty="0">
              <a:solidFill>
                <a:schemeClr val="tx1"/>
              </a:solidFill>
            </a:endParaRPr>
          </a:p>
        </p:txBody>
      </p:sp>
      <p:sp>
        <p:nvSpPr>
          <p:cNvPr id="4" name="Slide Number Placeholder 3"/>
          <p:cNvSpPr>
            <a:spLocks noGrp="1"/>
          </p:cNvSpPr>
          <p:nvPr>
            <p:ph type="sldNum" sz="quarter" idx="5"/>
          </p:nvPr>
        </p:nvSpPr>
        <p:spPr/>
        <p:txBody>
          <a:bodyPr/>
          <a:lstStyle/>
          <a:p>
            <a:fld id="{30C8F37A-5198-4D76-A8D9-E6067C3C608A}" type="slidenum">
              <a:rPr lang="en-US" smtClean="0"/>
              <a:t>21</a:t>
            </a:fld>
            <a:endParaRPr lang="en-US" dirty="0"/>
          </a:p>
        </p:txBody>
      </p:sp>
    </p:spTree>
    <p:extLst>
      <p:ext uri="{BB962C8B-B14F-4D97-AF65-F5344CB8AC3E}">
        <p14:creationId xmlns:p14="http://schemas.microsoft.com/office/powerpoint/2010/main" val="771120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C8F37A-5198-4D76-A8D9-E6067C3C608A}" type="slidenum">
              <a:rPr lang="en-US" smtClean="0"/>
              <a:t>22</a:t>
            </a:fld>
            <a:endParaRPr lang="en-US" dirty="0"/>
          </a:p>
        </p:txBody>
      </p:sp>
    </p:spTree>
    <p:extLst>
      <p:ext uri="{BB962C8B-B14F-4D97-AF65-F5344CB8AC3E}">
        <p14:creationId xmlns:p14="http://schemas.microsoft.com/office/powerpoint/2010/main" val="11670110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9563-B7B3-FD7D-119B-76FE8D556D6D}"/>
              </a:ext>
            </a:extLst>
          </p:cNvPr>
          <p:cNvSpPr>
            <a:spLocks noGrp="1"/>
          </p:cNvSpPr>
          <p:nvPr>
            <p:ph type="ctrTitle"/>
          </p:nvPr>
        </p:nvSpPr>
        <p:spPr>
          <a:xfrm>
            <a:off x="838199" y="2847975"/>
            <a:ext cx="10525125" cy="714375"/>
          </a:xfrm>
          <a:prstGeom prst="rect">
            <a:avLst/>
          </a:prstGeom>
        </p:spPr>
        <p:txBody>
          <a:bodyPr anchor="t"/>
          <a:lstStyle>
            <a:lvl1pPr algn="l">
              <a:defRPr sz="5000" b="0">
                <a:solidFill>
                  <a:schemeClr val="bg1"/>
                </a:solidFill>
                <a:latin typeface="Futura PT Bold" panose="020B0902020204020203" pitchFamily="34" charset="0"/>
                <a:ea typeface="Tahoma" panose="020B0604030504040204" pitchFamily="34" charset="0"/>
                <a:cs typeface="Arial" panose="020B0604020202020204" pitchFamily="34" charset="0"/>
              </a:defRPr>
            </a:lvl1pPr>
          </a:lstStyle>
          <a:p>
            <a:r>
              <a:rPr lang="en-US"/>
              <a:t>Click to edit Master title style</a:t>
            </a:r>
            <a:endParaRPr lang="en-PH" dirty="0"/>
          </a:p>
        </p:txBody>
      </p:sp>
      <p:sp>
        <p:nvSpPr>
          <p:cNvPr id="3" name="Subtitle 2">
            <a:extLst>
              <a:ext uri="{FF2B5EF4-FFF2-40B4-BE49-F238E27FC236}">
                <a16:creationId xmlns:a16="http://schemas.microsoft.com/office/drawing/2014/main" id="{1ECBB6B8-6A56-FF41-1DC9-479754BF5C15}"/>
              </a:ext>
            </a:extLst>
          </p:cNvPr>
          <p:cNvSpPr>
            <a:spLocks noGrp="1"/>
          </p:cNvSpPr>
          <p:nvPr>
            <p:ph type="subTitle" idx="1"/>
          </p:nvPr>
        </p:nvSpPr>
        <p:spPr>
          <a:xfrm>
            <a:off x="838199" y="4143375"/>
            <a:ext cx="10525125" cy="438150"/>
          </a:xfrm>
          <a:prstGeom prst="rect">
            <a:avLst/>
          </a:prstGeom>
        </p:spPr>
        <p:txBody>
          <a:bodyPr/>
          <a:lstStyle>
            <a:lvl1pPr marL="0" indent="0" algn="l">
              <a:buNone/>
              <a:defRPr sz="2400">
                <a:solidFill>
                  <a:schemeClr val="bg1"/>
                </a:solidFill>
                <a:latin typeface="Futura PT Demi" panose="020B07020202040203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dirty="0"/>
          </a:p>
        </p:txBody>
      </p:sp>
      <p:pic>
        <p:nvPicPr>
          <p:cNvPr id="5" name="Picture 4" descr="A logo of a department of budget management&#10;&#10;AI-generated content may be incorrect.">
            <a:extLst>
              <a:ext uri="{FF2B5EF4-FFF2-40B4-BE49-F238E27FC236}">
                <a16:creationId xmlns:a16="http://schemas.microsoft.com/office/drawing/2014/main" id="{824F8945-FF9F-8F50-F006-6171741EF6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8200" y="790575"/>
            <a:ext cx="1476375" cy="1476375"/>
          </a:xfrm>
          <a:prstGeom prst="rect">
            <a:avLst/>
          </a:prstGeom>
        </p:spPr>
      </p:pic>
    </p:spTree>
    <p:extLst>
      <p:ext uri="{BB962C8B-B14F-4D97-AF65-F5344CB8AC3E}">
        <p14:creationId xmlns:p14="http://schemas.microsoft.com/office/powerpoint/2010/main" val="347137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2E272-FBB4-6647-4E18-7D0B6B52DC55}"/>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4" name="Content Placeholder 2">
            <a:extLst>
              <a:ext uri="{FF2B5EF4-FFF2-40B4-BE49-F238E27FC236}">
                <a16:creationId xmlns:a16="http://schemas.microsoft.com/office/drawing/2014/main" id="{A206A022-1782-D6AE-E341-18160211E7DB}"/>
              </a:ext>
            </a:extLst>
          </p:cNvPr>
          <p:cNvSpPr>
            <a:spLocks noGrp="1"/>
          </p:cNvSpPr>
          <p:nvPr>
            <p:ph idx="1"/>
          </p:nvPr>
        </p:nvSpPr>
        <p:spPr>
          <a:xfrm>
            <a:off x="838200" y="1390650"/>
            <a:ext cx="10515600" cy="46577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675724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C673-DF75-A6F1-A808-2AB62F3CF8ED}"/>
              </a:ext>
            </a:extLst>
          </p:cNvPr>
          <p:cNvSpPr>
            <a:spLocks noGrp="1"/>
          </p:cNvSpPr>
          <p:nvPr>
            <p:ph type="title"/>
          </p:nvPr>
        </p:nvSpPr>
        <p:spPr>
          <a:xfrm>
            <a:off x="495300" y="2752725"/>
            <a:ext cx="10852150" cy="828675"/>
          </a:xfrm>
          <a:prstGeom prst="rect">
            <a:avLst/>
          </a:prstGeom>
        </p:spPr>
        <p:txBody>
          <a:bodyPr anchor="t"/>
          <a:lstStyle>
            <a:lvl1pPr>
              <a:defRPr sz="5500" b="0">
                <a:solidFill>
                  <a:schemeClr val="bg1"/>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Text Placeholder 2">
            <a:extLst>
              <a:ext uri="{FF2B5EF4-FFF2-40B4-BE49-F238E27FC236}">
                <a16:creationId xmlns:a16="http://schemas.microsoft.com/office/drawing/2014/main" id="{D04FC9AE-7D14-DE75-F299-B76D693275C5}"/>
              </a:ext>
            </a:extLst>
          </p:cNvPr>
          <p:cNvSpPr>
            <a:spLocks noGrp="1"/>
          </p:cNvSpPr>
          <p:nvPr>
            <p:ph type="body" idx="1"/>
          </p:nvPr>
        </p:nvSpPr>
        <p:spPr>
          <a:xfrm>
            <a:off x="495300" y="3800476"/>
            <a:ext cx="10852150" cy="361949"/>
          </a:xfrm>
          <a:prstGeom prst="rect">
            <a:avLst/>
          </a:prstGeom>
        </p:spPr>
        <p:txBody>
          <a:bodyPr/>
          <a:lstStyle>
            <a:lvl1pPr marL="0" indent="0">
              <a:buNone/>
              <a:defRPr sz="2400">
                <a:solidFill>
                  <a:schemeClr val="bg1"/>
                </a:solidFill>
                <a:latin typeface="Futura PT Demi" panose="020B0702020204020303" pitchFamily="34" charset="0"/>
                <a:cs typeface="Arial" panose="020B06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890734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F45F-1FFA-E5B9-0400-5E3C69B414E9}"/>
              </a:ext>
            </a:extLst>
          </p:cNvPr>
          <p:cNvSpPr>
            <a:spLocks noGrp="1"/>
          </p:cNvSpPr>
          <p:nvPr>
            <p:ph type="title"/>
          </p:nvPr>
        </p:nvSpPr>
        <p:spPr>
          <a:xfrm>
            <a:off x="447674" y="709613"/>
            <a:ext cx="10906125" cy="509588"/>
          </a:xfrm>
          <a:prstGeom prst="rect">
            <a:avLst/>
          </a:prstGeom>
        </p:spPr>
        <p:txBody>
          <a:bodyPr/>
          <a:lstStyle>
            <a:lvl1pPr>
              <a:defRPr sz="4000" b="1">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Content Placeholder 2">
            <a:extLst>
              <a:ext uri="{FF2B5EF4-FFF2-40B4-BE49-F238E27FC236}">
                <a16:creationId xmlns:a16="http://schemas.microsoft.com/office/drawing/2014/main" id="{6B916C70-88F1-6ADE-FACA-6F6669234266}"/>
              </a:ext>
            </a:extLst>
          </p:cNvPr>
          <p:cNvSpPr>
            <a:spLocks noGrp="1"/>
          </p:cNvSpPr>
          <p:nvPr>
            <p:ph sz="half" idx="1"/>
          </p:nvPr>
        </p:nvSpPr>
        <p:spPr>
          <a:xfrm>
            <a:off x="838200" y="1825625"/>
            <a:ext cx="5181600" cy="42132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4" name="Content Placeholder 3">
            <a:extLst>
              <a:ext uri="{FF2B5EF4-FFF2-40B4-BE49-F238E27FC236}">
                <a16:creationId xmlns:a16="http://schemas.microsoft.com/office/drawing/2014/main" id="{E6221421-52CB-21E6-B76E-1F2489928176}"/>
              </a:ext>
            </a:extLst>
          </p:cNvPr>
          <p:cNvSpPr>
            <a:spLocks noGrp="1"/>
          </p:cNvSpPr>
          <p:nvPr>
            <p:ph sz="half" idx="2"/>
          </p:nvPr>
        </p:nvSpPr>
        <p:spPr>
          <a:xfrm>
            <a:off x="6172200" y="1825625"/>
            <a:ext cx="5181600" cy="42132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4066861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8F8B1-A55E-EDAE-3C0F-AEB14B0D8656}"/>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Text Placeholder 2">
            <a:extLst>
              <a:ext uri="{FF2B5EF4-FFF2-40B4-BE49-F238E27FC236}">
                <a16:creationId xmlns:a16="http://schemas.microsoft.com/office/drawing/2014/main" id="{BFE9D0A2-E35A-3E32-B524-A1CC777192CC}"/>
              </a:ext>
            </a:extLst>
          </p:cNvPr>
          <p:cNvSpPr>
            <a:spLocks noGrp="1"/>
          </p:cNvSpPr>
          <p:nvPr>
            <p:ph type="body" idx="1"/>
          </p:nvPr>
        </p:nvSpPr>
        <p:spPr>
          <a:xfrm>
            <a:off x="839788" y="1528763"/>
            <a:ext cx="5157787" cy="376237"/>
          </a:xfrm>
          <a:prstGeom prst="rect">
            <a:avLst/>
          </a:prstGeom>
        </p:spPr>
        <p:txBody>
          <a:bodyPr anchor="t"/>
          <a:lstStyle>
            <a:lvl1pPr marL="0" indent="0">
              <a:buNone/>
              <a:defRPr sz="2400" b="0">
                <a:solidFill>
                  <a:srgbClr val="AA8300"/>
                </a:solidFill>
                <a:latin typeface="Futura PT Bold" panose="020B0902020204020203"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9ED76-2F58-7048-BF67-08525527B5D1}"/>
              </a:ext>
            </a:extLst>
          </p:cNvPr>
          <p:cNvSpPr>
            <a:spLocks noGrp="1"/>
          </p:cNvSpPr>
          <p:nvPr>
            <p:ph sz="half" idx="2"/>
          </p:nvPr>
        </p:nvSpPr>
        <p:spPr>
          <a:xfrm>
            <a:off x="839788" y="2085974"/>
            <a:ext cx="5157787" cy="391477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5" name="Text Placeholder 4">
            <a:extLst>
              <a:ext uri="{FF2B5EF4-FFF2-40B4-BE49-F238E27FC236}">
                <a16:creationId xmlns:a16="http://schemas.microsoft.com/office/drawing/2014/main" id="{EDE38021-4511-E9C1-2564-54249AA4B88F}"/>
              </a:ext>
            </a:extLst>
          </p:cNvPr>
          <p:cNvSpPr>
            <a:spLocks noGrp="1"/>
          </p:cNvSpPr>
          <p:nvPr>
            <p:ph type="body" sz="quarter" idx="3"/>
          </p:nvPr>
        </p:nvSpPr>
        <p:spPr>
          <a:xfrm>
            <a:off x="6172200" y="1528763"/>
            <a:ext cx="5183188" cy="376237"/>
          </a:xfrm>
          <a:prstGeom prst="rect">
            <a:avLst/>
          </a:prstGeom>
        </p:spPr>
        <p:txBody>
          <a:bodyPr anchor="t"/>
          <a:lstStyle>
            <a:lvl1pPr marL="0" indent="0">
              <a:buNone/>
              <a:defRPr sz="2400" b="0">
                <a:solidFill>
                  <a:srgbClr val="AA8300"/>
                </a:solidFill>
                <a:latin typeface="Futura PT Bold" panose="020B0902020204020203"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8F88D6-1541-F980-6ABE-C5BD8BED2798}"/>
              </a:ext>
            </a:extLst>
          </p:cNvPr>
          <p:cNvSpPr>
            <a:spLocks noGrp="1"/>
          </p:cNvSpPr>
          <p:nvPr>
            <p:ph sz="quarter" idx="4"/>
          </p:nvPr>
        </p:nvSpPr>
        <p:spPr>
          <a:xfrm>
            <a:off x="6172200" y="2085974"/>
            <a:ext cx="5183188" cy="391477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2269186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519F0E0-C7B7-A49B-3FB3-92782EF22C1E}"/>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Tree>
    <p:extLst>
      <p:ext uri="{BB962C8B-B14F-4D97-AF65-F5344CB8AC3E}">
        <p14:creationId xmlns:p14="http://schemas.microsoft.com/office/powerpoint/2010/main" val="3935794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0908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016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C59D-4310-E835-031E-714CFE6A7C29}"/>
              </a:ext>
            </a:extLst>
          </p:cNvPr>
          <p:cNvSpPr>
            <a:spLocks noGrp="1"/>
          </p:cNvSpPr>
          <p:nvPr>
            <p:ph type="ctrTitle"/>
          </p:nvPr>
        </p:nvSpPr>
        <p:spPr>
          <a:xfrm>
            <a:off x="716601" y="2384862"/>
            <a:ext cx="10758795" cy="714375"/>
          </a:xfrm>
        </p:spPr>
        <p:txBody>
          <a:bodyPr/>
          <a:lstStyle/>
          <a:p>
            <a:pPr algn="ctr"/>
            <a:r>
              <a:rPr lang="en-PH" b="1" dirty="0">
                <a:solidFill>
                  <a:schemeClr val="tx1"/>
                </a:solidFill>
              </a:rPr>
              <a:t>Preparation of the FY 2027 Budget:</a:t>
            </a:r>
          </a:p>
        </p:txBody>
      </p:sp>
      <p:sp>
        <p:nvSpPr>
          <p:cNvPr id="3" name="Subtitle 2">
            <a:extLst>
              <a:ext uri="{FF2B5EF4-FFF2-40B4-BE49-F238E27FC236}">
                <a16:creationId xmlns:a16="http://schemas.microsoft.com/office/drawing/2014/main" id="{CB09376E-F8D5-C2A8-27BD-4465D20F8F44}"/>
              </a:ext>
            </a:extLst>
          </p:cNvPr>
          <p:cNvSpPr>
            <a:spLocks noGrp="1"/>
          </p:cNvSpPr>
          <p:nvPr>
            <p:ph type="subTitle" idx="1"/>
          </p:nvPr>
        </p:nvSpPr>
        <p:spPr>
          <a:xfrm>
            <a:off x="1237710" y="3209925"/>
            <a:ext cx="9716575" cy="438150"/>
          </a:xfrm>
        </p:spPr>
        <p:txBody>
          <a:bodyPr/>
          <a:lstStyle/>
          <a:p>
            <a:pPr algn="ctr"/>
            <a:r>
              <a:rPr lang="en-PH" sz="3200" b="1" dirty="0">
                <a:solidFill>
                  <a:schemeClr val="tx1"/>
                </a:solidFill>
              </a:rPr>
              <a:t>Guidelines on the Formulation of Tier 1 and Tier 2</a:t>
            </a:r>
          </a:p>
        </p:txBody>
      </p:sp>
      <p:sp>
        <p:nvSpPr>
          <p:cNvPr id="4" name="Subtitle 2">
            <a:extLst>
              <a:ext uri="{FF2B5EF4-FFF2-40B4-BE49-F238E27FC236}">
                <a16:creationId xmlns:a16="http://schemas.microsoft.com/office/drawing/2014/main" id="{0957F4AC-8398-FE82-6FD0-3898477A5EB3}"/>
              </a:ext>
            </a:extLst>
          </p:cNvPr>
          <p:cNvSpPr txBox="1">
            <a:spLocks/>
          </p:cNvSpPr>
          <p:nvPr/>
        </p:nvSpPr>
        <p:spPr>
          <a:xfrm>
            <a:off x="833437" y="5041499"/>
            <a:ext cx="10525125" cy="43815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Futura PT Demi" panose="020B0702020204020303"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H" b="1" dirty="0">
                <a:solidFill>
                  <a:schemeClr val="tx1"/>
                </a:solidFill>
              </a:rPr>
              <a:t>Director Vivien V. Labastilla</a:t>
            </a:r>
          </a:p>
          <a:p>
            <a:r>
              <a:rPr lang="en-PH" dirty="0">
                <a:solidFill>
                  <a:schemeClr val="tx1"/>
                </a:solidFill>
              </a:rPr>
              <a:t>Department of Budget and Management</a:t>
            </a:r>
          </a:p>
          <a:p>
            <a:r>
              <a:rPr lang="en-PH" dirty="0">
                <a:solidFill>
                  <a:schemeClr val="tx1"/>
                </a:solidFill>
              </a:rPr>
              <a:t>Budget and Management Bureau - F</a:t>
            </a:r>
          </a:p>
        </p:txBody>
      </p:sp>
    </p:spTree>
    <p:extLst>
      <p:ext uri="{BB962C8B-B14F-4D97-AF65-F5344CB8AC3E}">
        <p14:creationId xmlns:p14="http://schemas.microsoft.com/office/powerpoint/2010/main" val="3149022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A2F2-25FA-9818-55B4-121F69AEBE31}"/>
              </a:ext>
            </a:extLst>
          </p:cNvPr>
          <p:cNvSpPr>
            <a:spLocks noGrp="1"/>
          </p:cNvSpPr>
          <p:nvPr>
            <p:ph type="title"/>
          </p:nvPr>
        </p:nvSpPr>
        <p:spPr>
          <a:xfrm>
            <a:off x="2952749" y="809010"/>
            <a:ext cx="6286500" cy="561975"/>
          </a:xfrm>
        </p:spPr>
        <p:txBody>
          <a:bodyPr/>
          <a:lstStyle/>
          <a:p>
            <a:pPr algn="ctr"/>
            <a:r>
              <a:rPr lang="en-US" sz="4400" b="1" dirty="0">
                <a:solidFill>
                  <a:srgbClr val="705500"/>
                </a:solidFill>
              </a:rPr>
              <a:t>Outline of Presentation</a:t>
            </a:r>
          </a:p>
        </p:txBody>
      </p:sp>
      <p:sp>
        <p:nvSpPr>
          <p:cNvPr id="3" name="Content Placeholder 2">
            <a:extLst>
              <a:ext uri="{FF2B5EF4-FFF2-40B4-BE49-F238E27FC236}">
                <a16:creationId xmlns:a16="http://schemas.microsoft.com/office/drawing/2014/main" id="{56B204C0-5165-1A5B-507A-E1BC30929B0F}"/>
              </a:ext>
            </a:extLst>
          </p:cNvPr>
          <p:cNvSpPr>
            <a:spLocks noGrp="1"/>
          </p:cNvSpPr>
          <p:nvPr>
            <p:ph idx="1"/>
          </p:nvPr>
        </p:nvSpPr>
        <p:spPr>
          <a:xfrm>
            <a:off x="432617" y="1920369"/>
            <a:ext cx="11326763" cy="3703683"/>
          </a:xfrm>
        </p:spPr>
        <p:txBody>
          <a:bodyPr anchor="ctr"/>
          <a:lstStyle/>
          <a:p>
            <a:pPr>
              <a:buFont typeface="Wingdings" panose="05000000000000000000" pitchFamily="2" charset="2"/>
              <a:buChar char="Ø"/>
            </a:pPr>
            <a:r>
              <a:rPr lang="en-US" sz="3600" b="1" dirty="0">
                <a:latin typeface="Futura Std Book" panose="020B0502020204020303"/>
                <a:ea typeface="Tahoma" panose="020B0604030504040204" pitchFamily="34" charset="0"/>
                <a:cs typeface="Tahoma" panose="020B0604030504040204" pitchFamily="34" charset="0"/>
              </a:rPr>
              <a:t>Guidelines in the Formulation of Tier 1 &amp; 2 Budget</a:t>
            </a:r>
          </a:p>
          <a:p>
            <a:pPr marL="0" indent="0">
              <a:buNone/>
            </a:pPr>
            <a:endParaRPr lang="en-US" sz="400" b="1" dirty="0">
              <a:latin typeface="Futura Std Book" panose="020B0502020204020303"/>
              <a:ea typeface="Tahoma" panose="020B0604030504040204" pitchFamily="34" charset="0"/>
              <a:cs typeface="Tahoma" panose="020B0604030504040204" pitchFamily="34" charset="0"/>
            </a:endParaRPr>
          </a:p>
          <a:p>
            <a:r>
              <a:rPr lang="en-US" sz="3600" b="1" dirty="0">
                <a:latin typeface="Futura Std Book" panose="020B0502020204020303"/>
                <a:ea typeface="Tahoma" panose="020B0604030504040204" pitchFamily="34" charset="0"/>
                <a:cs typeface="Tahoma" panose="020B0604030504040204" pitchFamily="34" charset="0"/>
              </a:rPr>
              <a:t>Tier 1 and Tier 2 inclusions for agency budget:</a:t>
            </a:r>
          </a:p>
          <a:p>
            <a:pPr marL="1031875" lvl="1" indent="-342900"/>
            <a:r>
              <a:rPr lang="en-US" sz="3600" dirty="0">
                <a:latin typeface="Futura Std Book" panose="020B0502020204020303"/>
                <a:ea typeface="Tahoma" panose="020B0604030504040204" pitchFamily="34" charset="0"/>
                <a:cs typeface="Tahoma" panose="020B0604030504040204" pitchFamily="34" charset="0"/>
              </a:rPr>
              <a:t>Personnel Services (PS)</a:t>
            </a:r>
          </a:p>
          <a:p>
            <a:pPr marL="1031875" lvl="1" indent="-342900"/>
            <a:r>
              <a:rPr lang="en-US" sz="3600" dirty="0">
                <a:latin typeface="Futura Std Book" panose="020B0502020204020303"/>
                <a:ea typeface="Tahoma" panose="020B0604030504040204" pitchFamily="34" charset="0"/>
                <a:cs typeface="Tahoma" panose="020B0604030504040204" pitchFamily="34" charset="0"/>
              </a:rPr>
              <a:t>Maintenance and Other Operating Expenses (MOOE)</a:t>
            </a:r>
          </a:p>
          <a:p>
            <a:pPr marL="1031875" lvl="1" indent="-342900"/>
            <a:r>
              <a:rPr lang="en-US" sz="3600" dirty="0">
                <a:latin typeface="Futura Std Book" panose="020B0502020204020303"/>
                <a:ea typeface="Tahoma" panose="020B0604030504040204" pitchFamily="34" charset="0"/>
                <a:cs typeface="Tahoma" panose="020B0604030504040204" pitchFamily="34" charset="0"/>
              </a:rPr>
              <a:t>Capital Outlays (CO)</a:t>
            </a:r>
          </a:p>
        </p:txBody>
      </p:sp>
    </p:spTree>
    <p:extLst>
      <p:ext uri="{BB962C8B-B14F-4D97-AF65-F5344CB8AC3E}">
        <p14:creationId xmlns:p14="http://schemas.microsoft.com/office/powerpoint/2010/main" val="1930279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EE7D3-AA77-3351-3FF3-BE045A44FAFE}"/>
              </a:ext>
            </a:extLst>
          </p:cNvPr>
          <p:cNvSpPr>
            <a:spLocks noGrp="1"/>
          </p:cNvSpPr>
          <p:nvPr>
            <p:ph type="title"/>
          </p:nvPr>
        </p:nvSpPr>
        <p:spPr>
          <a:xfrm>
            <a:off x="1047132" y="896381"/>
            <a:ext cx="10097729" cy="828675"/>
          </a:xfrm>
        </p:spPr>
        <p:txBody>
          <a:bodyPr/>
          <a:lstStyle/>
          <a:p>
            <a:pPr algn="ctr"/>
            <a:r>
              <a:rPr lang="en-US" sz="4400" b="1" dirty="0">
                <a:solidFill>
                  <a:schemeClr val="tx1"/>
                </a:solidFill>
                <a:latin typeface="Futura LT Book" panose="02000504030000020003"/>
                <a:ea typeface="Tahoma" panose="020B0604030504040204" pitchFamily="34" charset="0"/>
                <a:cs typeface="Tahoma" panose="020B0604030504040204" pitchFamily="34" charset="0"/>
              </a:rPr>
              <a:t>Two-tier Budgeting Approach (2TBA) </a:t>
            </a:r>
            <a:endParaRPr lang="en-US" sz="4400" b="1" dirty="0"/>
          </a:p>
        </p:txBody>
      </p:sp>
      <p:sp>
        <p:nvSpPr>
          <p:cNvPr id="3" name="Text Placeholder 2">
            <a:extLst>
              <a:ext uri="{FF2B5EF4-FFF2-40B4-BE49-F238E27FC236}">
                <a16:creationId xmlns:a16="http://schemas.microsoft.com/office/drawing/2014/main" id="{AD4EE88E-C7E9-FB08-7309-BEEC58B76626}"/>
              </a:ext>
            </a:extLst>
          </p:cNvPr>
          <p:cNvSpPr>
            <a:spLocks noGrp="1"/>
          </p:cNvSpPr>
          <p:nvPr>
            <p:ph type="body" idx="1"/>
          </p:nvPr>
        </p:nvSpPr>
        <p:spPr>
          <a:xfrm>
            <a:off x="1047132" y="2306036"/>
            <a:ext cx="10097729" cy="2599891"/>
          </a:xfrm>
          <a:noFill/>
          <a:effectLst>
            <a:softEdge rad="317500"/>
          </a:effectLst>
        </p:spPr>
        <p:txBody>
          <a:bodyPr/>
          <a:lstStyle/>
          <a:p>
            <a:pPr algn="just"/>
            <a:r>
              <a:rPr lang="en-US" sz="3600" dirty="0">
                <a:solidFill>
                  <a:schemeClr val="tx1"/>
                </a:solidFill>
                <a:latin typeface="Futura Std Book" panose="020B0502020204020303"/>
              </a:rPr>
              <a:t>Separates discussion and deliberation about </a:t>
            </a:r>
            <a:r>
              <a:rPr lang="en-US" sz="3600" b="1" dirty="0">
                <a:solidFill>
                  <a:schemeClr val="tx1"/>
                </a:solidFill>
                <a:latin typeface="Futura Std Book" panose="020B0502020204020303"/>
              </a:rPr>
              <a:t>ongoing/existing </a:t>
            </a:r>
            <a:r>
              <a:rPr lang="en-US" sz="3600" dirty="0">
                <a:solidFill>
                  <a:schemeClr val="tx1"/>
                </a:solidFill>
                <a:latin typeface="Futura Std Book" panose="020B0502020204020303"/>
              </a:rPr>
              <a:t>programs/projects from consideration of </a:t>
            </a:r>
            <a:r>
              <a:rPr lang="en-US" sz="3600" b="1" dirty="0">
                <a:solidFill>
                  <a:schemeClr val="tx1"/>
                </a:solidFill>
                <a:latin typeface="Futura Std Book" panose="020B0502020204020303"/>
              </a:rPr>
              <a:t>entirely new </a:t>
            </a:r>
            <a:r>
              <a:rPr lang="en-US" sz="3600" dirty="0">
                <a:solidFill>
                  <a:schemeClr val="tx1"/>
                </a:solidFill>
                <a:latin typeface="Futura Std Book" panose="020B0502020204020303"/>
              </a:rPr>
              <a:t>spending proposals, including proposals for the expansion of existing activities.</a:t>
            </a:r>
          </a:p>
        </p:txBody>
      </p:sp>
    </p:spTree>
    <p:extLst>
      <p:ext uri="{BB962C8B-B14F-4D97-AF65-F5344CB8AC3E}">
        <p14:creationId xmlns:p14="http://schemas.microsoft.com/office/powerpoint/2010/main" val="1180520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5D32-C391-FE13-904D-7BCA7DC3D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9CEB8-ADB1-3A93-E19D-1992DC8697BF}"/>
              </a:ext>
            </a:extLst>
          </p:cNvPr>
          <p:cNvSpPr>
            <a:spLocks noGrp="1"/>
          </p:cNvSpPr>
          <p:nvPr>
            <p:ph type="title"/>
          </p:nvPr>
        </p:nvSpPr>
        <p:spPr>
          <a:xfrm>
            <a:off x="669925" y="720597"/>
            <a:ext cx="10852150" cy="828675"/>
          </a:xfrm>
        </p:spPr>
        <p:txBody>
          <a:bodyPr/>
          <a:lstStyle/>
          <a:p>
            <a:pPr algn="ctr"/>
            <a:r>
              <a:rPr lang="en-US" sz="4400" b="1" dirty="0">
                <a:solidFill>
                  <a:schemeClr val="tx1"/>
                </a:solidFill>
                <a:latin typeface="Futura LT Book" panose="02000504030000020003"/>
                <a:ea typeface="Tahoma" panose="020B0604030504040204" pitchFamily="34" charset="0"/>
                <a:cs typeface="Tahoma" panose="020B0604030504040204" pitchFamily="34" charset="0"/>
              </a:rPr>
              <a:t>Forward Estimates </a:t>
            </a:r>
            <a:endParaRPr lang="en-PH" sz="4400" b="1" dirty="0">
              <a:solidFill>
                <a:schemeClr val="tx1"/>
              </a:solidFill>
              <a:latin typeface="Futura LT Book" panose="02000504030000020003"/>
            </a:endParaRPr>
          </a:p>
        </p:txBody>
      </p:sp>
      <p:sp>
        <p:nvSpPr>
          <p:cNvPr id="3" name="Text Placeholder 2">
            <a:extLst>
              <a:ext uri="{FF2B5EF4-FFF2-40B4-BE49-F238E27FC236}">
                <a16:creationId xmlns:a16="http://schemas.microsoft.com/office/drawing/2014/main" id="{2F6810B8-8FD0-9010-07D8-943F0EBD7F2D}"/>
              </a:ext>
            </a:extLst>
          </p:cNvPr>
          <p:cNvSpPr>
            <a:spLocks noGrp="1"/>
          </p:cNvSpPr>
          <p:nvPr>
            <p:ph type="body" idx="1"/>
          </p:nvPr>
        </p:nvSpPr>
        <p:spPr>
          <a:xfrm>
            <a:off x="1058389" y="2021411"/>
            <a:ext cx="10212872" cy="2058877"/>
          </a:xfrm>
          <a:noFill/>
          <a:effectLst>
            <a:softEdge rad="127000"/>
          </a:effectLst>
        </p:spPr>
        <p:txBody>
          <a:bodyPr/>
          <a:lstStyle/>
          <a:p>
            <a:pPr algn="just"/>
            <a:r>
              <a:rPr lang="en-US" sz="3600" dirty="0">
                <a:solidFill>
                  <a:schemeClr val="tx1"/>
                </a:solidFill>
                <a:latin typeface="Futura Std Book"/>
                <a:ea typeface="Times New Roman" panose="02020603050405020304" pitchFamily="18" charset="0"/>
              </a:rPr>
              <a:t>Three-year estimate of the future costs of ongoing policies and existing P/A/Ps </a:t>
            </a:r>
            <a:r>
              <a:rPr lang="en-US" sz="3600" b="1" u="sng" dirty="0">
                <a:solidFill>
                  <a:schemeClr val="tx1"/>
                </a:solidFill>
                <a:latin typeface="Futura Std Book"/>
                <a:ea typeface="Times New Roman" panose="02020603050405020304" pitchFamily="18" charset="0"/>
              </a:rPr>
              <a:t>considering any expansion/reduction of the said P/A/Ps.</a:t>
            </a:r>
            <a:endParaRPr lang="en-PH" sz="3600" dirty="0">
              <a:solidFill>
                <a:schemeClr val="tx1"/>
              </a:solidFill>
              <a:latin typeface="Futura Std Book"/>
              <a:ea typeface="Times New Roman" panose="02020603050405020304" pitchFamily="18" charset="0"/>
            </a:endParaRPr>
          </a:p>
        </p:txBody>
      </p:sp>
    </p:spTree>
    <p:extLst>
      <p:ext uri="{BB962C8B-B14F-4D97-AF65-F5344CB8AC3E}">
        <p14:creationId xmlns:p14="http://schemas.microsoft.com/office/powerpoint/2010/main" val="2690924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6363-5F69-59F7-43C1-F200DF66389F}"/>
              </a:ext>
            </a:extLst>
          </p:cNvPr>
          <p:cNvSpPr>
            <a:spLocks noGrp="1"/>
          </p:cNvSpPr>
          <p:nvPr>
            <p:ph type="title"/>
          </p:nvPr>
        </p:nvSpPr>
        <p:spPr>
          <a:xfrm>
            <a:off x="1351762" y="646260"/>
            <a:ext cx="9488476" cy="561975"/>
          </a:xfrm>
        </p:spPr>
        <p:txBody>
          <a:bodyPr/>
          <a:lstStyle/>
          <a:p>
            <a:r>
              <a:rPr lang="en-US" b="1" dirty="0">
                <a:solidFill>
                  <a:srgbClr val="705500"/>
                </a:solidFill>
              </a:rPr>
              <a:t>Definition of Tier 1 and Tier 2 Proposals</a:t>
            </a:r>
          </a:p>
        </p:txBody>
      </p:sp>
      <p:sp>
        <p:nvSpPr>
          <p:cNvPr id="6" name="TextBox 5">
            <a:extLst>
              <a:ext uri="{FF2B5EF4-FFF2-40B4-BE49-F238E27FC236}">
                <a16:creationId xmlns:a16="http://schemas.microsoft.com/office/drawing/2014/main" id="{A8055D73-BC08-25E9-7FF5-94B033537EA6}"/>
              </a:ext>
            </a:extLst>
          </p:cNvPr>
          <p:cNvSpPr txBox="1"/>
          <p:nvPr/>
        </p:nvSpPr>
        <p:spPr>
          <a:xfrm>
            <a:off x="1446123" y="1899272"/>
            <a:ext cx="1170513" cy="523220"/>
          </a:xfrm>
          <a:prstGeom prst="rect">
            <a:avLst/>
          </a:prstGeom>
          <a:noFill/>
        </p:spPr>
        <p:txBody>
          <a:bodyPr wrap="none" rtlCol="0">
            <a:spAutoFit/>
          </a:bodyPr>
          <a:lstStyle/>
          <a:p>
            <a:r>
              <a:rPr lang="en-US" sz="2800" b="1" dirty="0"/>
              <a:t>TIER 1</a:t>
            </a:r>
          </a:p>
        </p:txBody>
      </p:sp>
      <p:sp>
        <p:nvSpPr>
          <p:cNvPr id="7" name="TextBox 6">
            <a:extLst>
              <a:ext uri="{FF2B5EF4-FFF2-40B4-BE49-F238E27FC236}">
                <a16:creationId xmlns:a16="http://schemas.microsoft.com/office/drawing/2014/main" id="{6CACA656-EC23-1DAB-0915-D15A9E51A263}"/>
              </a:ext>
            </a:extLst>
          </p:cNvPr>
          <p:cNvSpPr txBox="1"/>
          <p:nvPr/>
        </p:nvSpPr>
        <p:spPr>
          <a:xfrm>
            <a:off x="5739179" y="1865418"/>
            <a:ext cx="1170513" cy="523220"/>
          </a:xfrm>
          <a:prstGeom prst="rect">
            <a:avLst/>
          </a:prstGeom>
          <a:noFill/>
        </p:spPr>
        <p:txBody>
          <a:bodyPr wrap="none" rtlCol="0">
            <a:spAutoFit/>
          </a:bodyPr>
          <a:lstStyle/>
          <a:p>
            <a:r>
              <a:rPr lang="en-US" sz="2800" b="1" dirty="0"/>
              <a:t>TIER 2</a:t>
            </a:r>
          </a:p>
        </p:txBody>
      </p:sp>
      <p:sp>
        <p:nvSpPr>
          <p:cNvPr id="4" name="TextBox 3">
            <a:extLst>
              <a:ext uri="{FF2B5EF4-FFF2-40B4-BE49-F238E27FC236}">
                <a16:creationId xmlns:a16="http://schemas.microsoft.com/office/drawing/2014/main" id="{0C68031B-F4C8-D0CA-96C4-A9D585AA2435}"/>
              </a:ext>
            </a:extLst>
          </p:cNvPr>
          <p:cNvSpPr txBox="1"/>
          <p:nvPr/>
        </p:nvSpPr>
        <p:spPr>
          <a:xfrm>
            <a:off x="422821" y="2760865"/>
            <a:ext cx="3180247" cy="1938992"/>
          </a:xfrm>
          <a:prstGeom prst="rect">
            <a:avLst/>
          </a:prstGeom>
          <a:noFill/>
        </p:spPr>
        <p:txBody>
          <a:bodyPr wrap="square">
            <a:spAutoFit/>
          </a:bodyPr>
          <a:lstStyle/>
          <a:p>
            <a:pPr lvl="0" algn="ctr"/>
            <a:r>
              <a:rPr lang="en-PH" sz="2400" b="1" dirty="0">
                <a:latin typeface="Futura Std Book"/>
              </a:rPr>
              <a:t>Ongoing Spending</a:t>
            </a:r>
          </a:p>
          <a:p>
            <a:pPr lvl="0" algn="ctr"/>
            <a:endParaRPr lang="en-PH" sz="2400" b="1" dirty="0">
              <a:latin typeface="Futura Std Book"/>
            </a:endParaRPr>
          </a:p>
          <a:p>
            <a:pPr lvl="0" algn="ctr"/>
            <a:endParaRPr lang="en-PH" sz="2400" b="1" dirty="0">
              <a:latin typeface="Futura Std Book"/>
            </a:endParaRPr>
          </a:p>
          <a:p>
            <a:pPr lvl="0" algn="ctr"/>
            <a:endParaRPr lang="en-PH" sz="2400" b="1" dirty="0">
              <a:latin typeface="Futura Std Book"/>
            </a:endParaRPr>
          </a:p>
          <a:p>
            <a:pPr lvl="0" algn="ctr"/>
            <a:r>
              <a:rPr lang="en-PH" sz="2400" b="1" dirty="0">
                <a:latin typeface="Futura Std Book"/>
              </a:rPr>
              <a:t>Forward Estimates</a:t>
            </a:r>
          </a:p>
        </p:txBody>
      </p:sp>
      <p:sp>
        <p:nvSpPr>
          <p:cNvPr id="5" name="TextBox 4">
            <a:extLst>
              <a:ext uri="{FF2B5EF4-FFF2-40B4-BE49-F238E27FC236}">
                <a16:creationId xmlns:a16="http://schemas.microsoft.com/office/drawing/2014/main" id="{84656914-B116-87F1-8559-CA3D88798CCE}"/>
              </a:ext>
            </a:extLst>
          </p:cNvPr>
          <p:cNvSpPr txBox="1"/>
          <p:nvPr/>
        </p:nvSpPr>
        <p:spPr>
          <a:xfrm>
            <a:off x="4505009" y="2760865"/>
            <a:ext cx="3601984" cy="2308324"/>
          </a:xfrm>
          <a:prstGeom prst="rect">
            <a:avLst/>
          </a:prstGeom>
          <a:noFill/>
        </p:spPr>
        <p:txBody>
          <a:bodyPr wrap="square">
            <a:spAutoFit/>
          </a:bodyPr>
          <a:lstStyle/>
          <a:p>
            <a:pPr lvl="0" algn="ctr"/>
            <a:r>
              <a:rPr lang="en-PH" sz="2400" b="1" dirty="0">
                <a:latin typeface="Futura Std Book"/>
              </a:rPr>
              <a:t>New Spending Proposals</a:t>
            </a:r>
          </a:p>
          <a:p>
            <a:pPr lvl="0" algn="ctr"/>
            <a:endParaRPr lang="en-PH" sz="2400" b="1" dirty="0">
              <a:latin typeface="Futura Std Book"/>
            </a:endParaRPr>
          </a:p>
          <a:p>
            <a:pPr lvl="0" algn="ctr"/>
            <a:r>
              <a:rPr lang="en-PH" sz="2400" b="1" dirty="0">
                <a:latin typeface="Futura Std Book"/>
              </a:rPr>
              <a:t>Available Amount for  charging to Fiscal Space</a:t>
            </a:r>
          </a:p>
        </p:txBody>
      </p:sp>
      <p:sp>
        <p:nvSpPr>
          <p:cNvPr id="8" name="TextBox 7">
            <a:extLst>
              <a:ext uri="{FF2B5EF4-FFF2-40B4-BE49-F238E27FC236}">
                <a16:creationId xmlns:a16="http://schemas.microsoft.com/office/drawing/2014/main" id="{8DB2F3D2-B8BD-55C5-4040-BD0DFB01787F}"/>
              </a:ext>
            </a:extLst>
          </p:cNvPr>
          <p:cNvSpPr txBox="1"/>
          <p:nvPr/>
        </p:nvSpPr>
        <p:spPr>
          <a:xfrm>
            <a:off x="9804201" y="1865418"/>
            <a:ext cx="867545" cy="523220"/>
          </a:xfrm>
          <a:prstGeom prst="rect">
            <a:avLst/>
          </a:prstGeom>
          <a:noFill/>
        </p:spPr>
        <p:txBody>
          <a:bodyPr wrap="none" rtlCol="0">
            <a:spAutoFit/>
          </a:bodyPr>
          <a:lstStyle/>
          <a:p>
            <a:r>
              <a:rPr lang="en-US" sz="2800" b="1" dirty="0"/>
              <a:t>NEP</a:t>
            </a:r>
          </a:p>
        </p:txBody>
      </p:sp>
      <p:sp>
        <p:nvSpPr>
          <p:cNvPr id="9" name="TextBox 8">
            <a:extLst>
              <a:ext uri="{FF2B5EF4-FFF2-40B4-BE49-F238E27FC236}">
                <a16:creationId xmlns:a16="http://schemas.microsoft.com/office/drawing/2014/main" id="{8D8BD524-894F-A005-F658-2943452B3A1C}"/>
              </a:ext>
            </a:extLst>
          </p:cNvPr>
          <p:cNvSpPr txBox="1"/>
          <p:nvPr/>
        </p:nvSpPr>
        <p:spPr>
          <a:xfrm>
            <a:off x="8590016" y="3314863"/>
            <a:ext cx="3601984" cy="1200329"/>
          </a:xfrm>
          <a:prstGeom prst="rect">
            <a:avLst/>
          </a:prstGeom>
          <a:noFill/>
        </p:spPr>
        <p:txBody>
          <a:bodyPr wrap="square">
            <a:spAutoFit/>
          </a:bodyPr>
          <a:lstStyle/>
          <a:p>
            <a:pPr lvl="0" algn="ctr"/>
            <a:r>
              <a:rPr lang="en-PH" sz="2400" b="1" dirty="0">
                <a:latin typeface="Futura Std Book"/>
              </a:rPr>
              <a:t>Total President's Budget Proposal to Congress</a:t>
            </a:r>
          </a:p>
        </p:txBody>
      </p:sp>
      <p:sp>
        <p:nvSpPr>
          <p:cNvPr id="11" name="Plus Sign 10">
            <a:extLst>
              <a:ext uri="{FF2B5EF4-FFF2-40B4-BE49-F238E27FC236}">
                <a16:creationId xmlns:a16="http://schemas.microsoft.com/office/drawing/2014/main" id="{3B5F767C-E153-5191-E6E8-32FF267B308A}"/>
              </a:ext>
            </a:extLst>
          </p:cNvPr>
          <p:cNvSpPr/>
          <p:nvPr/>
        </p:nvSpPr>
        <p:spPr>
          <a:xfrm>
            <a:off x="3462692" y="3345950"/>
            <a:ext cx="1118587" cy="1074198"/>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Equals 11">
            <a:extLst>
              <a:ext uri="{FF2B5EF4-FFF2-40B4-BE49-F238E27FC236}">
                <a16:creationId xmlns:a16="http://schemas.microsoft.com/office/drawing/2014/main" id="{2DC5CEC9-3D6E-D780-0EAB-6AFA6AD06DB9}"/>
              </a:ext>
            </a:extLst>
          </p:cNvPr>
          <p:cNvSpPr/>
          <p:nvPr/>
        </p:nvSpPr>
        <p:spPr>
          <a:xfrm>
            <a:off x="7997694" y="3513257"/>
            <a:ext cx="852444" cy="707887"/>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extBox 2">
            <a:extLst>
              <a:ext uri="{FF2B5EF4-FFF2-40B4-BE49-F238E27FC236}">
                <a16:creationId xmlns:a16="http://schemas.microsoft.com/office/drawing/2014/main" id="{193DEB4E-B9D9-4848-A332-FEA477E3099B}"/>
              </a:ext>
            </a:extLst>
          </p:cNvPr>
          <p:cNvSpPr txBox="1"/>
          <p:nvPr/>
        </p:nvSpPr>
        <p:spPr>
          <a:xfrm>
            <a:off x="747713" y="3205481"/>
            <a:ext cx="2533816" cy="1015663"/>
          </a:xfrm>
          <a:prstGeom prst="rect">
            <a:avLst/>
          </a:prstGeom>
          <a:noFill/>
        </p:spPr>
        <p:txBody>
          <a:bodyPr wrap="square" rtlCol="0">
            <a:spAutoFit/>
          </a:bodyPr>
          <a:lstStyle/>
          <a:p>
            <a:pPr algn="just"/>
            <a:r>
              <a:rPr lang="en-US" sz="2000" dirty="0">
                <a:latin typeface="Futura Std Book"/>
              </a:rPr>
              <a:t>Estimated actual cash requirements for ongoing P/A/Ps</a:t>
            </a:r>
            <a:endParaRPr lang="en-PH" sz="2000" dirty="0">
              <a:latin typeface="Futura Std Book"/>
            </a:endParaRPr>
          </a:p>
        </p:txBody>
      </p:sp>
    </p:spTree>
    <p:extLst>
      <p:ext uri="{BB962C8B-B14F-4D97-AF65-F5344CB8AC3E}">
        <p14:creationId xmlns:p14="http://schemas.microsoft.com/office/powerpoint/2010/main" val="3107849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A149C-1BAB-4AF4-7617-E1F27E057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3934-4AD6-D240-95E1-2F24EE2E7AF6}"/>
              </a:ext>
            </a:extLst>
          </p:cNvPr>
          <p:cNvSpPr>
            <a:spLocks noGrp="1"/>
          </p:cNvSpPr>
          <p:nvPr>
            <p:ph type="title"/>
          </p:nvPr>
        </p:nvSpPr>
        <p:spPr>
          <a:xfrm>
            <a:off x="669925" y="388909"/>
            <a:ext cx="10852150" cy="828675"/>
          </a:xfrm>
        </p:spPr>
        <p:txBody>
          <a:bodyPr/>
          <a:lstStyle/>
          <a:p>
            <a:pPr algn="ctr"/>
            <a:r>
              <a:rPr lang="en-US" sz="4400" dirty="0"/>
              <a:t> </a:t>
            </a:r>
            <a:r>
              <a:rPr lang="en-US" sz="4400" b="1" dirty="0">
                <a:solidFill>
                  <a:schemeClr val="tx1"/>
                </a:solidFill>
                <a:latin typeface="Futura LT Book" panose="02000504030000020003"/>
                <a:ea typeface="Tahoma" panose="020B0604030504040204" pitchFamily="34" charset="0"/>
                <a:cs typeface="Tahoma" panose="020B0604030504040204" pitchFamily="34" charset="0"/>
              </a:rPr>
              <a:t>Composition of Tier 1 and 2 Proposals</a:t>
            </a:r>
            <a:endParaRPr lang="en-PH" sz="4400" b="1" dirty="0">
              <a:solidFill>
                <a:schemeClr val="tx1"/>
              </a:solidFill>
              <a:latin typeface="Futura LT Book" panose="02000504030000020003"/>
            </a:endParaRPr>
          </a:p>
        </p:txBody>
      </p:sp>
      <p:graphicFrame>
        <p:nvGraphicFramePr>
          <p:cNvPr id="4" name="Table 3">
            <a:extLst>
              <a:ext uri="{FF2B5EF4-FFF2-40B4-BE49-F238E27FC236}">
                <a16:creationId xmlns:a16="http://schemas.microsoft.com/office/drawing/2014/main" id="{DA323C04-1D30-FC49-957B-CD2E3A00B906}"/>
              </a:ext>
            </a:extLst>
          </p:cNvPr>
          <p:cNvGraphicFramePr>
            <a:graphicFrameLocks noGrp="1"/>
          </p:cNvGraphicFramePr>
          <p:nvPr>
            <p:extLst>
              <p:ext uri="{D42A27DB-BD31-4B8C-83A1-F6EECF244321}">
                <p14:modId xmlns:p14="http://schemas.microsoft.com/office/powerpoint/2010/main" val="4286665133"/>
              </p:ext>
            </p:extLst>
          </p:nvPr>
        </p:nvGraphicFramePr>
        <p:xfrm>
          <a:off x="1142567" y="1296241"/>
          <a:ext cx="9889500" cy="4436766"/>
        </p:xfrm>
        <a:graphic>
          <a:graphicData uri="http://schemas.openxmlformats.org/drawingml/2006/table">
            <a:tbl>
              <a:tblPr firstRow="1" bandRow="1">
                <a:effectLst>
                  <a:reflection blurRad="6350" stA="50000" endA="300" endPos="38500" dist="50800" dir="5400000" sy="-100000" algn="bl" rotWithShape="0"/>
                </a:effectLst>
                <a:tableStyleId>{0E3FDE45-AF77-4B5C-9715-49D594BDF05E}</a:tableStyleId>
              </a:tblPr>
              <a:tblGrid>
                <a:gridCol w="1638475">
                  <a:extLst>
                    <a:ext uri="{9D8B030D-6E8A-4147-A177-3AD203B41FA5}">
                      <a16:colId xmlns:a16="http://schemas.microsoft.com/office/drawing/2014/main" val="2286487548"/>
                    </a:ext>
                  </a:extLst>
                </a:gridCol>
                <a:gridCol w="8251025">
                  <a:extLst>
                    <a:ext uri="{9D8B030D-6E8A-4147-A177-3AD203B41FA5}">
                      <a16:colId xmlns:a16="http://schemas.microsoft.com/office/drawing/2014/main" val="1438256091"/>
                    </a:ext>
                  </a:extLst>
                </a:gridCol>
              </a:tblGrid>
              <a:tr h="907884">
                <a:tc>
                  <a:txBody>
                    <a:bodyPr/>
                    <a:lstStyle/>
                    <a:p>
                      <a:r>
                        <a:rPr lang="en-US" sz="2400" b="1" dirty="0"/>
                        <a:t>Tier 1</a:t>
                      </a:r>
                    </a:p>
                  </a:txBody>
                  <a:tcPr>
                    <a:solidFill>
                      <a:srgbClr val="FFC000"/>
                    </a:solidFill>
                  </a:tcPr>
                </a:tc>
                <a:tc>
                  <a:txBody>
                    <a:bodyPr/>
                    <a:lstStyle/>
                    <a:p>
                      <a:pPr marL="285750" lvl="0" indent="-285750" algn="just">
                        <a:buFont typeface="Wingdings" panose="05000000000000000000" pitchFamily="2" charset="2"/>
                        <a:buChar char="ü"/>
                      </a:pPr>
                      <a:r>
                        <a:rPr lang="en-PH" sz="2400" b="1" dirty="0">
                          <a:solidFill>
                            <a:schemeClr val="tx1"/>
                          </a:solidFill>
                        </a:rPr>
                        <a:t>Formulated </a:t>
                      </a:r>
                      <a:r>
                        <a:rPr lang="en-PH" sz="2400" b="0" dirty="0">
                          <a:solidFill>
                            <a:schemeClr val="tx1"/>
                          </a:solidFill>
                        </a:rPr>
                        <a:t>FEs for </a:t>
                      </a:r>
                      <a:r>
                        <a:rPr lang="en-PH" sz="2400" b="1" dirty="0">
                          <a:solidFill>
                            <a:schemeClr val="tx1"/>
                          </a:solidFill>
                        </a:rPr>
                        <a:t>FYs 2027 </a:t>
                      </a:r>
                      <a:r>
                        <a:rPr lang="en-PH" sz="2400" b="1" dirty="0">
                          <a:solidFill>
                            <a:srgbClr val="FF0000"/>
                          </a:solidFill>
                        </a:rPr>
                        <a:t>- </a:t>
                      </a:r>
                      <a:r>
                        <a:rPr lang="en-PH" sz="2400" b="1" dirty="0">
                          <a:solidFill>
                            <a:schemeClr val="tx1"/>
                          </a:solidFill>
                        </a:rPr>
                        <a:t>2029 </a:t>
                      </a:r>
                      <a:r>
                        <a:rPr lang="en-PH" sz="2400" b="0" dirty="0">
                          <a:solidFill>
                            <a:schemeClr val="tx1"/>
                          </a:solidFill>
                        </a:rPr>
                        <a:t>(Per Annex A of NBM No. 156)</a:t>
                      </a:r>
                    </a:p>
                  </a:txBody>
                  <a:tcPr>
                    <a:solidFill>
                      <a:srgbClr val="FFC000"/>
                    </a:solidFill>
                  </a:tcPr>
                </a:tc>
                <a:extLst>
                  <a:ext uri="{0D108BD9-81ED-4DB2-BD59-A6C34878D82A}">
                    <a16:rowId xmlns:a16="http://schemas.microsoft.com/office/drawing/2014/main" val="2367526880"/>
                  </a:ext>
                </a:extLst>
              </a:tr>
              <a:tr h="3528882">
                <a:tc>
                  <a:txBody>
                    <a:bodyPr/>
                    <a:lstStyle/>
                    <a:p>
                      <a:r>
                        <a:rPr lang="en-US" sz="2400" b="1" dirty="0"/>
                        <a:t>Tier 2</a:t>
                      </a:r>
                    </a:p>
                  </a:txBody>
                  <a:tcPr>
                    <a:solidFill>
                      <a:srgbClr val="FFC000"/>
                    </a:solidFill>
                  </a:tcPr>
                </a:tc>
                <a:tc>
                  <a:txBody>
                    <a:bodyPr/>
                    <a:lstStyle/>
                    <a:p>
                      <a:pPr marL="285750" lvl="0" indent="-285750" algn="just">
                        <a:buFont typeface="Wingdings" panose="05000000000000000000" pitchFamily="2" charset="2"/>
                        <a:buChar char="ü"/>
                      </a:pPr>
                      <a:r>
                        <a:rPr lang="en-PH" sz="2400" b="1" dirty="0">
                          <a:solidFill>
                            <a:schemeClr val="tx1"/>
                          </a:solidFill>
                        </a:rPr>
                        <a:t>High priority </a:t>
                      </a:r>
                      <a:r>
                        <a:rPr lang="en-PH" sz="2400" b="0" dirty="0">
                          <a:solidFill>
                            <a:schemeClr val="tx1"/>
                          </a:solidFill>
                        </a:rPr>
                        <a:t>new or expanded P/A/Ps </a:t>
                      </a:r>
                      <a:r>
                        <a:rPr lang="en-US" altLang="en-PH" sz="2400" b="0" dirty="0">
                          <a:solidFill>
                            <a:schemeClr val="tx1"/>
                          </a:solidFill>
                        </a:rPr>
                        <a:t>which are </a:t>
                      </a:r>
                      <a:r>
                        <a:rPr lang="en-PH" sz="2400" b="1" dirty="0">
                          <a:solidFill>
                            <a:schemeClr val="tx1"/>
                          </a:solidFill>
                        </a:rPr>
                        <a:t>implementation-ready </a:t>
                      </a:r>
                      <a:r>
                        <a:rPr lang="en-US" sz="2400" dirty="0">
                          <a:solidFill>
                            <a:schemeClr val="tx1"/>
                          </a:solidFill>
                        </a:rPr>
                        <a:t>and properly endorsed by authoritative bodies, when applicable</a:t>
                      </a:r>
                      <a:endParaRPr lang="en-PH" sz="2400" b="1" dirty="0">
                        <a:solidFill>
                          <a:schemeClr val="tx1"/>
                        </a:solidFill>
                      </a:endParaRPr>
                    </a:p>
                    <a:p>
                      <a:pPr marL="285750" lvl="0" indent="-285750" algn="just">
                        <a:buFont typeface="Wingdings" panose="05000000000000000000" pitchFamily="2" charset="2"/>
                        <a:buChar char="ü"/>
                      </a:pPr>
                      <a:endParaRPr lang="en-PH" sz="1200" b="1" dirty="0">
                        <a:solidFill>
                          <a:schemeClr val="tx1"/>
                        </a:solidFill>
                      </a:endParaRPr>
                    </a:p>
                    <a:p>
                      <a:pPr marL="285750" lvl="0" indent="-285750" algn="just">
                        <a:buFont typeface="Wingdings" panose="05000000000000000000" pitchFamily="2" charset="2"/>
                        <a:buChar char="ü"/>
                      </a:pPr>
                      <a:r>
                        <a:rPr lang="en-PH" sz="2400" b="0" dirty="0">
                          <a:solidFill>
                            <a:schemeClr val="tx1"/>
                          </a:solidFill>
                        </a:rPr>
                        <a:t>Proposals for the </a:t>
                      </a:r>
                      <a:r>
                        <a:rPr lang="en-PH" sz="2400" b="1" dirty="0">
                          <a:solidFill>
                            <a:schemeClr val="tx1"/>
                          </a:solidFill>
                        </a:rPr>
                        <a:t>scaling up </a:t>
                      </a:r>
                      <a:r>
                        <a:rPr lang="en-PH" sz="2400" b="0" dirty="0">
                          <a:solidFill>
                            <a:schemeClr val="tx1"/>
                          </a:solidFill>
                        </a:rPr>
                        <a:t>of activities in terms of </a:t>
                      </a:r>
                      <a:r>
                        <a:rPr lang="en-PH" sz="2400" b="1" dirty="0">
                          <a:solidFill>
                            <a:schemeClr val="tx1"/>
                          </a:solidFill>
                        </a:rPr>
                        <a:t>policy change</a:t>
                      </a:r>
                    </a:p>
                    <a:p>
                      <a:pPr marL="285750" lvl="0" indent="-285750" algn="just">
                        <a:buFont typeface="Wingdings" panose="05000000000000000000" pitchFamily="2" charset="2"/>
                        <a:buChar char="ü"/>
                      </a:pPr>
                      <a:endParaRPr lang="en-PH" sz="1050" b="1" dirty="0">
                        <a:solidFill>
                          <a:schemeClr val="tx1"/>
                        </a:solidFill>
                      </a:endParaRPr>
                    </a:p>
                    <a:p>
                      <a:pPr marL="285750" lvl="0" indent="-285750" algn="just">
                        <a:buFont typeface="Wingdings" panose="05000000000000000000" pitchFamily="2" charset="2"/>
                        <a:buChar char="ü"/>
                      </a:pPr>
                      <a:r>
                        <a:rPr lang="en-PH" sz="2400" b="1" dirty="0">
                          <a:solidFill>
                            <a:schemeClr val="tx1"/>
                          </a:solidFill>
                        </a:rPr>
                        <a:t>Essential </a:t>
                      </a:r>
                      <a:r>
                        <a:rPr lang="en-PH" sz="2400" b="0" dirty="0">
                          <a:solidFill>
                            <a:schemeClr val="tx1"/>
                          </a:solidFill>
                        </a:rPr>
                        <a:t>operations, maintenance, asset replacement and minor capital costs, including funding required for capacity-building programs to LGUs.</a:t>
                      </a:r>
                    </a:p>
                    <a:p>
                      <a:pPr lvl="0" algn="just"/>
                      <a:endParaRPr lang="en-PH" sz="600" b="1" dirty="0">
                        <a:solidFill>
                          <a:schemeClr val="tx1"/>
                        </a:solidFill>
                      </a:endParaRPr>
                    </a:p>
                  </a:txBody>
                  <a:tcPr>
                    <a:solidFill>
                      <a:srgbClr val="FFC000"/>
                    </a:solidFill>
                  </a:tcPr>
                </a:tc>
                <a:extLst>
                  <a:ext uri="{0D108BD9-81ED-4DB2-BD59-A6C34878D82A}">
                    <a16:rowId xmlns:a16="http://schemas.microsoft.com/office/drawing/2014/main" val="2828792096"/>
                  </a:ext>
                </a:extLst>
              </a:tr>
            </a:tbl>
          </a:graphicData>
        </a:graphic>
      </p:graphicFrame>
    </p:spTree>
    <p:extLst>
      <p:ext uri="{BB962C8B-B14F-4D97-AF65-F5344CB8AC3E}">
        <p14:creationId xmlns:p14="http://schemas.microsoft.com/office/powerpoint/2010/main" val="1868581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E4FF-46D0-6D5A-F83A-5C337E05EE6D}"/>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B31980DA-7016-2297-4AA0-60ED97881D4E}"/>
              </a:ext>
            </a:extLst>
          </p:cNvPr>
          <p:cNvSpPr txBox="1">
            <a:spLocks/>
          </p:cNvSpPr>
          <p:nvPr/>
        </p:nvSpPr>
        <p:spPr>
          <a:xfrm>
            <a:off x="961000" y="1476247"/>
            <a:ext cx="10407650" cy="4800728"/>
          </a:xfrm>
          <a:prstGeom prst="rect">
            <a:avLst/>
          </a:prstGeom>
          <a:noFill/>
          <a:effectLst>
            <a:softEdge rad="127000"/>
          </a:effec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3200" dirty="0"/>
              <a:t>In evaluating the total budgetary requirements, or Tier 1 and Tier 2 budget levels, the following shall be considered:</a:t>
            </a:r>
          </a:p>
          <a:p>
            <a:pPr marL="571500" indent="-292100" algn="just">
              <a:lnSpc>
                <a:spcPct val="100000"/>
              </a:lnSpc>
            </a:pPr>
            <a:r>
              <a:rPr lang="en-US" sz="3200" dirty="0"/>
              <a:t>Balances of Special Accounts in the General Fund (SAGF) as of December 31, 2025 less FY 2026 estimated expenditures; and</a:t>
            </a:r>
          </a:p>
          <a:p>
            <a:pPr marL="571500" indent="-292100" algn="just">
              <a:lnSpc>
                <a:spcPct val="100000"/>
              </a:lnSpc>
            </a:pPr>
            <a:r>
              <a:rPr lang="en-US" sz="3200" dirty="0"/>
              <a:t>Progress status or physical performance of ongoing/existing P/A/Ps, agencies' absorptive capacity, and the implementation-readiness of new projects, among others. </a:t>
            </a:r>
            <a:endParaRPr lang="en-PH" sz="3200" dirty="0">
              <a:latin typeface="Futura Std Book"/>
              <a:ea typeface="Times New Roman" panose="02020603050405020304" pitchFamily="18" charset="0"/>
            </a:endParaRPr>
          </a:p>
        </p:txBody>
      </p:sp>
      <p:cxnSp>
        <p:nvCxnSpPr>
          <p:cNvPr id="6" name="Straight Connector 5">
            <a:extLst>
              <a:ext uri="{FF2B5EF4-FFF2-40B4-BE49-F238E27FC236}">
                <a16:creationId xmlns:a16="http://schemas.microsoft.com/office/drawing/2014/main" id="{65FCEA9C-E82E-25FD-E0F2-F126C0A7FC6D}"/>
              </a:ext>
            </a:extLst>
          </p:cNvPr>
          <p:cNvCxnSpPr>
            <a:cxnSpLocks/>
          </p:cNvCxnSpPr>
          <p:nvPr/>
        </p:nvCxnSpPr>
        <p:spPr>
          <a:xfrm>
            <a:off x="1218175" y="1193800"/>
            <a:ext cx="9970525"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9011054-CB22-2715-9505-8A1CAB17E06A}"/>
              </a:ext>
            </a:extLst>
          </p:cNvPr>
          <p:cNvSpPr txBox="1">
            <a:spLocks/>
          </p:cNvSpPr>
          <p:nvPr/>
        </p:nvSpPr>
        <p:spPr>
          <a:xfrm>
            <a:off x="738750" y="581025"/>
            <a:ext cx="10852150" cy="8286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 </a:t>
            </a:r>
            <a:r>
              <a:rPr lang="en-US" sz="3600" b="1" dirty="0">
                <a:latin typeface="Futura LT Book" panose="02000504030000020003"/>
                <a:ea typeface="Tahoma" panose="020B0604030504040204" pitchFamily="34" charset="0"/>
                <a:cs typeface="Tahoma" panose="020B0604030504040204" pitchFamily="34" charset="0"/>
              </a:rPr>
              <a:t>Composition of Tier 1 and 2 Proposals (cont.)</a:t>
            </a:r>
            <a:endParaRPr lang="en-PH" sz="3600" b="1" dirty="0">
              <a:latin typeface="Futura LT Book" panose="02000504030000020003"/>
            </a:endParaRPr>
          </a:p>
        </p:txBody>
      </p:sp>
    </p:spTree>
    <p:extLst>
      <p:ext uri="{BB962C8B-B14F-4D97-AF65-F5344CB8AC3E}">
        <p14:creationId xmlns:p14="http://schemas.microsoft.com/office/powerpoint/2010/main" val="2881163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ECCF-2509-931A-C4FE-2EF474661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5E21F-D34E-04EE-5805-C8EC9DB6283D}"/>
              </a:ext>
            </a:extLst>
          </p:cNvPr>
          <p:cNvSpPr>
            <a:spLocks noGrp="1"/>
          </p:cNvSpPr>
          <p:nvPr>
            <p:ph type="title"/>
          </p:nvPr>
        </p:nvSpPr>
        <p:spPr>
          <a:xfrm>
            <a:off x="959223" y="1490436"/>
            <a:ext cx="10273553" cy="3498423"/>
          </a:xfrm>
        </p:spPr>
        <p:txBody>
          <a:bodyPr/>
          <a:lstStyle/>
          <a:p>
            <a:pPr algn="ctr"/>
            <a:r>
              <a:rPr lang="en-US" b="1" dirty="0">
                <a:solidFill>
                  <a:schemeClr val="tx1"/>
                </a:solidFill>
              </a:rPr>
              <a:t>Updated and New Guidelines in the Formulation of </a:t>
            </a:r>
            <a:br>
              <a:rPr lang="en-US" b="1" dirty="0">
                <a:solidFill>
                  <a:schemeClr val="tx1"/>
                </a:solidFill>
              </a:rPr>
            </a:br>
            <a:r>
              <a:rPr lang="en-US" b="1" dirty="0">
                <a:solidFill>
                  <a:schemeClr val="tx1"/>
                </a:solidFill>
              </a:rPr>
              <a:t>Tier 1 and Tier 2</a:t>
            </a:r>
          </a:p>
        </p:txBody>
      </p:sp>
    </p:spTree>
    <p:extLst>
      <p:ext uri="{BB962C8B-B14F-4D97-AF65-F5344CB8AC3E}">
        <p14:creationId xmlns:p14="http://schemas.microsoft.com/office/powerpoint/2010/main" val="3891019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238C-86E3-C8DF-FB22-4CC47C353D2B}"/>
              </a:ext>
            </a:extLst>
          </p:cNvPr>
          <p:cNvSpPr>
            <a:spLocks noGrp="1"/>
          </p:cNvSpPr>
          <p:nvPr>
            <p:ph type="title"/>
          </p:nvPr>
        </p:nvSpPr>
        <p:spPr>
          <a:xfrm>
            <a:off x="2105946" y="1611460"/>
            <a:ext cx="7980106" cy="828675"/>
          </a:xfrm>
        </p:spPr>
        <p:txBody>
          <a:bodyPr/>
          <a:lstStyle/>
          <a:p>
            <a:pPr algn="ctr"/>
            <a:r>
              <a:rPr lang="en-US" b="1" dirty="0">
                <a:solidFill>
                  <a:schemeClr val="tx1"/>
                </a:solidFill>
              </a:rPr>
              <a:t>TIER 1</a:t>
            </a:r>
          </a:p>
        </p:txBody>
      </p:sp>
      <p:sp>
        <p:nvSpPr>
          <p:cNvPr id="3" name="Text Placeholder 2">
            <a:extLst>
              <a:ext uri="{FF2B5EF4-FFF2-40B4-BE49-F238E27FC236}">
                <a16:creationId xmlns:a16="http://schemas.microsoft.com/office/drawing/2014/main" id="{D6730429-B012-E334-4D37-DBE30ED3D786}"/>
              </a:ext>
            </a:extLst>
          </p:cNvPr>
          <p:cNvSpPr>
            <a:spLocks noGrp="1"/>
          </p:cNvSpPr>
          <p:nvPr>
            <p:ph type="body" idx="1"/>
          </p:nvPr>
        </p:nvSpPr>
        <p:spPr>
          <a:xfrm>
            <a:off x="2022371" y="2556063"/>
            <a:ext cx="8147255" cy="361949"/>
          </a:xfrm>
        </p:spPr>
        <p:txBody>
          <a:bodyPr/>
          <a:lstStyle/>
          <a:p>
            <a:pPr algn="ctr"/>
            <a:r>
              <a:rPr lang="en-US" sz="3600" b="1" dirty="0">
                <a:solidFill>
                  <a:schemeClr val="tx1"/>
                </a:solidFill>
                <a:latin typeface="Futura Std Book"/>
              </a:rPr>
              <a:t>PS, MOOE, and CO</a:t>
            </a:r>
          </a:p>
        </p:txBody>
      </p:sp>
    </p:spTree>
    <p:extLst>
      <p:ext uri="{BB962C8B-B14F-4D97-AF65-F5344CB8AC3E}">
        <p14:creationId xmlns:p14="http://schemas.microsoft.com/office/powerpoint/2010/main" val="2579172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A73933F-753E-D2EB-01D0-B2084E8F34EC}"/>
              </a:ext>
            </a:extLst>
          </p:cNvPr>
          <p:cNvSpPr txBox="1">
            <a:spLocks/>
          </p:cNvSpPr>
          <p:nvPr/>
        </p:nvSpPr>
        <p:spPr>
          <a:xfrm>
            <a:off x="4754827" y="260642"/>
            <a:ext cx="26823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1 - PS</a:t>
            </a:r>
          </a:p>
        </p:txBody>
      </p:sp>
      <p:graphicFrame>
        <p:nvGraphicFramePr>
          <p:cNvPr id="4" name="Content Placeholder 6">
            <a:extLst>
              <a:ext uri="{FF2B5EF4-FFF2-40B4-BE49-F238E27FC236}">
                <a16:creationId xmlns:a16="http://schemas.microsoft.com/office/drawing/2014/main" id="{9837BB21-3D9F-5B7C-AEA5-0817A062CF19}"/>
              </a:ext>
            </a:extLst>
          </p:cNvPr>
          <p:cNvGraphicFramePr>
            <a:graphicFrameLocks/>
          </p:cNvGraphicFramePr>
          <p:nvPr>
            <p:extLst>
              <p:ext uri="{D42A27DB-BD31-4B8C-83A1-F6EECF244321}">
                <p14:modId xmlns:p14="http://schemas.microsoft.com/office/powerpoint/2010/main" val="2094317484"/>
              </p:ext>
            </p:extLst>
          </p:nvPr>
        </p:nvGraphicFramePr>
        <p:xfrm>
          <a:off x="482203" y="954741"/>
          <a:ext cx="11028479" cy="5008048"/>
        </p:xfrm>
        <a:graphic>
          <a:graphicData uri="http://schemas.openxmlformats.org/drawingml/2006/table">
            <a:tbl>
              <a:tblPr firstRow="1" bandRow="1">
                <a:tableStyleId>{5DA37D80-6434-44D0-A028-1B22A696006F}</a:tableStyleId>
              </a:tblPr>
              <a:tblGrid>
                <a:gridCol w="11028479">
                  <a:extLst>
                    <a:ext uri="{9D8B030D-6E8A-4147-A177-3AD203B41FA5}">
                      <a16:colId xmlns:a16="http://schemas.microsoft.com/office/drawing/2014/main" val="1145802900"/>
                    </a:ext>
                  </a:extLst>
                </a:gridCol>
              </a:tblGrid>
              <a:tr h="739588">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3000" dirty="0">
                          <a:solidFill>
                            <a:schemeClr val="tx1"/>
                          </a:solidFill>
                          <a:latin typeface="+mn-lt"/>
                          <a:ea typeface="Times New Roman" panose="02020603050405020304" pitchFamily="18" charset="0"/>
                        </a:rPr>
                        <a:t>For Judiciary, Congress, and agencies vested with fiscal autonomy:</a:t>
                      </a:r>
                      <a:endParaRPr lang="en-US" sz="3000" dirty="0">
                        <a:solidFill>
                          <a:schemeClr val="tx1"/>
                        </a:solidFill>
                        <a:latin typeface="+mn-lt"/>
                      </a:endParaRPr>
                    </a:p>
                  </a:txBody>
                  <a:tcPr/>
                </a:tc>
                <a:extLst>
                  <a:ext uri="{0D108BD9-81ED-4DB2-BD59-A6C34878D82A}">
                    <a16:rowId xmlns:a16="http://schemas.microsoft.com/office/drawing/2014/main" val="2532636760"/>
                  </a:ext>
                </a:extLst>
              </a:tr>
              <a:tr h="1960133">
                <a:tc>
                  <a:txBody>
                    <a:bodyPr/>
                    <a:lstStyle/>
                    <a:p>
                      <a:pPr marL="5778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latin typeface="+mn-lt"/>
                        </a:rPr>
                        <a:t>Salary and allowances of all </a:t>
                      </a:r>
                      <a:r>
                        <a:rPr lang="en-US" sz="3000" b="1" dirty="0">
                          <a:latin typeface="+mn-lt"/>
                        </a:rPr>
                        <a:t>filled </a:t>
                      </a:r>
                      <a:r>
                        <a:rPr lang="en-US" sz="3000" b="1" u="sng" dirty="0">
                          <a:latin typeface="+mn-lt"/>
                        </a:rPr>
                        <a:t>and</a:t>
                      </a:r>
                      <a:r>
                        <a:rPr lang="en-US" sz="3000" b="1" dirty="0">
                          <a:latin typeface="+mn-lt"/>
                        </a:rPr>
                        <a:t> unfilled </a:t>
                      </a:r>
                      <a:r>
                        <a:rPr lang="en-US" sz="3000" dirty="0">
                          <a:latin typeface="+mn-lt"/>
                        </a:rPr>
                        <a:t>positions reported in the GMIS as of December 31, 2025, based on the </a:t>
                      </a:r>
                      <a:r>
                        <a:rPr lang="en-US" sz="3000" b="1" dirty="0">
                          <a:latin typeface="+mn-lt"/>
                        </a:rPr>
                        <a:t>fourth tranche </a:t>
                      </a:r>
                      <a:r>
                        <a:rPr lang="en-US" sz="3000" dirty="0">
                          <a:latin typeface="+mn-lt"/>
                        </a:rPr>
                        <a:t>of the updated salary schedule under EO No. 64, s. 2024 </a:t>
                      </a:r>
                      <a:endParaRPr lang="en-US" sz="3000" dirty="0">
                        <a:solidFill>
                          <a:schemeClr val="tx1"/>
                        </a:solidFill>
                        <a:latin typeface="+mn-lt"/>
                      </a:endParaRPr>
                    </a:p>
                  </a:txBody>
                  <a:tcPr/>
                </a:tc>
                <a:extLst>
                  <a:ext uri="{0D108BD9-81ED-4DB2-BD59-A6C34878D82A}">
                    <a16:rowId xmlns:a16="http://schemas.microsoft.com/office/drawing/2014/main" val="3961659244"/>
                  </a:ext>
                </a:extLst>
              </a:tr>
              <a:tr h="274768">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1" dirty="0">
                          <a:latin typeface="+mn-lt"/>
                        </a:rPr>
                        <a:t>For other Agencies: </a:t>
                      </a:r>
                      <a:endParaRPr lang="en-US" sz="3000" b="1" dirty="0">
                        <a:solidFill>
                          <a:schemeClr val="bg1"/>
                        </a:solidFill>
                        <a:latin typeface="+mn-lt"/>
                      </a:endParaRPr>
                    </a:p>
                  </a:txBody>
                  <a:tcPr/>
                </a:tc>
                <a:extLst>
                  <a:ext uri="{0D108BD9-81ED-4DB2-BD59-A6C34878D82A}">
                    <a16:rowId xmlns:a16="http://schemas.microsoft.com/office/drawing/2014/main" val="4185424013"/>
                  </a:ext>
                </a:extLst>
              </a:tr>
              <a:tr h="1493435">
                <a:tc>
                  <a:txBody>
                    <a:bodyPr/>
                    <a:lstStyle/>
                    <a:p>
                      <a:pPr marL="5778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latin typeface="+mn-lt"/>
                        </a:rPr>
                        <a:t>Salary of all </a:t>
                      </a:r>
                      <a:r>
                        <a:rPr lang="en-US" sz="3000" b="1" dirty="0">
                          <a:latin typeface="+mn-lt"/>
                        </a:rPr>
                        <a:t>filled</a:t>
                      </a:r>
                      <a:r>
                        <a:rPr lang="en-US" sz="3000" dirty="0">
                          <a:latin typeface="+mn-lt"/>
                        </a:rPr>
                        <a:t> positions reported in the GMIS as of December 31, 2025, based on the </a:t>
                      </a:r>
                      <a:r>
                        <a:rPr lang="en-US" sz="3000" b="1" dirty="0">
                          <a:latin typeface="+mn-lt"/>
                        </a:rPr>
                        <a:t>fourth tranche </a:t>
                      </a:r>
                      <a:r>
                        <a:rPr lang="en-US" sz="3000" dirty="0">
                          <a:latin typeface="+mn-lt"/>
                        </a:rPr>
                        <a:t>of the updated salary schedule under EO No. 64, s. 2024 </a:t>
                      </a:r>
                      <a:endParaRPr lang="en-US" sz="3000" dirty="0">
                        <a:solidFill>
                          <a:schemeClr val="tx1"/>
                        </a:solidFill>
                        <a:latin typeface="+mn-lt"/>
                      </a:endParaRPr>
                    </a:p>
                  </a:txBody>
                  <a:tcPr/>
                </a:tc>
                <a:extLst>
                  <a:ext uri="{0D108BD9-81ED-4DB2-BD59-A6C34878D82A}">
                    <a16:rowId xmlns:a16="http://schemas.microsoft.com/office/drawing/2014/main" val="503225138"/>
                  </a:ext>
                </a:extLst>
              </a:tr>
            </a:tbl>
          </a:graphicData>
        </a:graphic>
      </p:graphicFrame>
    </p:spTree>
    <p:extLst>
      <p:ext uri="{BB962C8B-B14F-4D97-AF65-F5344CB8AC3E}">
        <p14:creationId xmlns:p14="http://schemas.microsoft.com/office/powerpoint/2010/main" val="3154285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582C3-1057-1016-0A71-A9BB00C4A0B4}"/>
            </a:ext>
          </a:extLst>
        </p:cNvPr>
        <p:cNvGrpSpPr/>
        <p:nvPr/>
      </p:nvGrpSpPr>
      <p:grpSpPr>
        <a:xfrm>
          <a:off x="0" y="0"/>
          <a:ext cx="0" cy="0"/>
          <a:chOff x="0" y="0"/>
          <a:chExt cx="0" cy="0"/>
        </a:xfrm>
      </p:grpSpPr>
      <p:graphicFrame>
        <p:nvGraphicFramePr>
          <p:cNvPr id="4" name="Content Placeholder 6">
            <a:extLst>
              <a:ext uri="{FF2B5EF4-FFF2-40B4-BE49-F238E27FC236}">
                <a16:creationId xmlns:a16="http://schemas.microsoft.com/office/drawing/2014/main" id="{9D3B6D8D-58E1-A10B-876B-BC16B5254912}"/>
              </a:ext>
            </a:extLst>
          </p:cNvPr>
          <p:cNvGraphicFramePr>
            <a:graphicFrameLocks/>
          </p:cNvGraphicFramePr>
          <p:nvPr>
            <p:extLst>
              <p:ext uri="{D42A27DB-BD31-4B8C-83A1-F6EECF244321}">
                <p14:modId xmlns:p14="http://schemas.microsoft.com/office/powerpoint/2010/main" val="1038830254"/>
              </p:ext>
            </p:extLst>
          </p:nvPr>
        </p:nvGraphicFramePr>
        <p:xfrm>
          <a:off x="385007" y="978921"/>
          <a:ext cx="11421982" cy="4572000"/>
        </p:xfrm>
        <a:graphic>
          <a:graphicData uri="http://schemas.openxmlformats.org/drawingml/2006/table">
            <a:tbl>
              <a:tblPr firstRow="1" bandRow="1">
                <a:tableStyleId>{5DA37D80-6434-44D0-A028-1B22A696006F}</a:tableStyleId>
              </a:tblPr>
              <a:tblGrid>
                <a:gridCol w="11421982">
                  <a:extLst>
                    <a:ext uri="{9D8B030D-6E8A-4147-A177-3AD203B41FA5}">
                      <a16:colId xmlns:a16="http://schemas.microsoft.com/office/drawing/2014/main" val="1145802900"/>
                    </a:ext>
                  </a:extLst>
                </a:gridCol>
              </a:tblGrid>
              <a:tr h="3663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000" dirty="0"/>
                        <a:t>For all Agencies: </a:t>
                      </a:r>
                      <a:endParaRPr lang="en-US" sz="3000" dirty="0">
                        <a:solidFill>
                          <a:schemeClr val="bg1"/>
                        </a:solidFill>
                        <a:latin typeface="Futura Std Book" panose="020B0502020204020303"/>
                      </a:endParaRPr>
                    </a:p>
                  </a:txBody>
                  <a:tcPr/>
                </a:tc>
                <a:extLst>
                  <a:ext uri="{0D108BD9-81ED-4DB2-BD59-A6C34878D82A}">
                    <a16:rowId xmlns:a16="http://schemas.microsoft.com/office/drawing/2014/main" val="2532636760"/>
                  </a:ext>
                </a:extLst>
              </a:tr>
              <a:tr h="370840">
                <a:tc>
                  <a:txBody>
                    <a:bodyPr/>
                    <a:lstStyle/>
                    <a:p>
                      <a:pPr marL="631825"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t>Other standard allowances, benefits and incentives of filled positions reported in the GMIS as of December 31, 2025 such as PERA, Uniform/Clothing Allowance, Mid-Year Bonus, Year-End Bonus, Cash Gift, </a:t>
                      </a:r>
                      <a:r>
                        <a:rPr lang="en-US" sz="3000" b="1" dirty="0"/>
                        <a:t>Medical Allowance</a:t>
                      </a:r>
                      <a:r>
                        <a:rPr lang="en-US" sz="3000" dirty="0"/>
                        <a:t>, PEI, and RATA </a:t>
                      </a:r>
                      <a:endParaRPr lang="en-US" sz="3000" dirty="0">
                        <a:solidFill>
                          <a:schemeClr val="tx1"/>
                        </a:solidFill>
                        <a:latin typeface="Futura Std Book" panose="020B0502020204020303"/>
                      </a:endParaRPr>
                    </a:p>
                  </a:txBody>
                  <a:tcPr/>
                </a:tc>
                <a:extLst>
                  <a:ext uri="{0D108BD9-81ED-4DB2-BD59-A6C34878D82A}">
                    <a16:rowId xmlns:a16="http://schemas.microsoft.com/office/drawing/2014/main" val="396165924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1" dirty="0"/>
                        <a:t>For specific Agencies: </a:t>
                      </a:r>
                      <a:endParaRPr lang="en-US" sz="3000" b="1" dirty="0">
                        <a:solidFill>
                          <a:schemeClr val="bg1"/>
                        </a:solidFill>
                        <a:latin typeface="Futura Std Book" panose="020B0502020204020303"/>
                      </a:endParaRPr>
                    </a:p>
                  </a:txBody>
                  <a:tcPr/>
                </a:tc>
                <a:extLst>
                  <a:ext uri="{0D108BD9-81ED-4DB2-BD59-A6C34878D82A}">
                    <a16:rowId xmlns:a16="http://schemas.microsoft.com/office/drawing/2014/main" val="1852300519"/>
                  </a:ext>
                </a:extLst>
              </a:tr>
              <a:tr h="370840">
                <a:tc>
                  <a:txBody>
                    <a:bodyPr/>
                    <a:lstStyle/>
                    <a:p>
                      <a:pPr marL="631825"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t>Subsistence Allowance of military personnel in the DND, and uniformed personnel in the DILG, PCG, NAMRIA, and BuCor.</a:t>
                      </a:r>
                      <a:endParaRPr lang="en-US" sz="3000" dirty="0">
                        <a:solidFill>
                          <a:schemeClr val="tx1"/>
                        </a:solidFill>
                        <a:latin typeface="Futura Std Book" panose="020B0502020204020303"/>
                      </a:endParaRPr>
                    </a:p>
                  </a:txBody>
                  <a:tcPr/>
                </a:tc>
                <a:extLst>
                  <a:ext uri="{0D108BD9-81ED-4DB2-BD59-A6C34878D82A}">
                    <a16:rowId xmlns:a16="http://schemas.microsoft.com/office/drawing/2014/main" val="1533915141"/>
                  </a:ext>
                </a:extLst>
              </a:tr>
              <a:tr h="370840">
                <a:tc>
                  <a:txBody>
                    <a:bodyPr/>
                    <a:lstStyle/>
                    <a:p>
                      <a:pPr marL="631825"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t>Allowances of Foreign Service Personnel.</a:t>
                      </a:r>
                      <a:endParaRPr lang="en-US" sz="3000" dirty="0">
                        <a:solidFill>
                          <a:schemeClr val="tx1"/>
                        </a:solidFill>
                        <a:latin typeface="Futura Std Book" panose="020B0502020204020303"/>
                      </a:endParaRPr>
                    </a:p>
                  </a:txBody>
                  <a:tcPr/>
                </a:tc>
                <a:extLst>
                  <a:ext uri="{0D108BD9-81ED-4DB2-BD59-A6C34878D82A}">
                    <a16:rowId xmlns:a16="http://schemas.microsoft.com/office/drawing/2014/main" val="174008093"/>
                  </a:ext>
                </a:extLst>
              </a:tr>
            </a:tbl>
          </a:graphicData>
        </a:graphic>
      </p:graphicFrame>
      <p:sp>
        <p:nvSpPr>
          <p:cNvPr id="5" name="Title 1">
            <a:extLst>
              <a:ext uri="{FF2B5EF4-FFF2-40B4-BE49-F238E27FC236}">
                <a16:creationId xmlns:a16="http://schemas.microsoft.com/office/drawing/2014/main" id="{FF8EF279-7235-629E-657C-DF719ED87E3F}"/>
              </a:ext>
            </a:extLst>
          </p:cNvPr>
          <p:cNvSpPr txBox="1">
            <a:spLocks/>
          </p:cNvSpPr>
          <p:nvPr/>
        </p:nvSpPr>
        <p:spPr>
          <a:xfrm>
            <a:off x="4754826" y="206853"/>
            <a:ext cx="26823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1 - PS</a:t>
            </a:r>
          </a:p>
        </p:txBody>
      </p:sp>
    </p:spTree>
    <p:extLst>
      <p:ext uri="{BB962C8B-B14F-4D97-AF65-F5344CB8AC3E}">
        <p14:creationId xmlns:p14="http://schemas.microsoft.com/office/powerpoint/2010/main" val="2454499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72BD-A95E-398F-54E7-7A487D8F9C7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46B4D9F-3FBD-5000-9609-6EB177A91959}"/>
              </a:ext>
            </a:extLst>
          </p:cNvPr>
          <p:cNvSpPr txBox="1">
            <a:spLocks/>
          </p:cNvSpPr>
          <p:nvPr/>
        </p:nvSpPr>
        <p:spPr>
          <a:xfrm>
            <a:off x="4018227" y="144556"/>
            <a:ext cx="41555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1 - MOOE</a:t>
            </a:r>
          </a:p>
        </p:txBody>
      </p:sp>
      <p:graphicFrame>
        <p:nvGraphicFramePr>
          <p:cNvPr id="4" name="Content Placeholder 6">
            <a:extLst>
              <a:ext uri="{FF2B5EF4-FFF2-40B4-BE49-F238E27FC236}">
                <a16:creationId xmlns:a16="http://schemas.microsoft.com/office/drawing/2014/main" id="{9CB58489-8533-D95B-CFA7-D18C92955597}"/>
              </a:ext>
            </a:extLst>
          </p:cNvPr>
          <p:cNvGraphicFramePr>
            <a:graphicFrameLocks/>
          </p:cNvGraphicFramePr>
          <p:nvPr>
            <p:extLst>
              <p:ext uri="{D42A27DB-BD31-4B8C-83A1-F6EECF244321}">
                <p14:modId xmlns:p14="http://schemas.microsoft.com/office/powerpoint/2010/main" val="1296344887"/>
              </p:ext>
            </p:extLst>
          </p:nvPr>
        </p:nvGraphicFramePr>
        <p:xfrm>
          <a:off x="770018" y="878429"/>
          <a:ext cx="10651962" cy="5212080"/>
        </p:xfrm>
        <a:graphic>
          <a:graphicData uri="http://schemas.openxmlformats.org/drawingml/2006/table">
            <a:tbl>
              <a:tblPr firstRow="1" bandRow="1">
                <a:tableStyleId>{5DA37D80-6434-44D0-A028-1B22A696006F}</a:tableStyleId>
              </a:tblPr>
              <a:tblGrid>
                <a:gridCol w="10651962">
                  <a:extLst>
                    <a:ext uri="{9D8B030D-6E8A-4147-A177-3AD203B41FA5}">
                      <a16:colId xmlns:a16="http://schemas.microsoft.com/office/drawing/2014/main" val="1145802900"/>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dirty="0"/>
                        <a:t>Regular and recurring services covered by contracts or MYCA, </a:t>
                      </a:r>
                      <a:r>
                        <a:rPr lang="en-US" sz="3000" b="1" dirty="0"/>
                        <a:t>including the renewal of services</a:t>
                      </a:r>
                      <a:endParaRPr lang="en-US" sz="3000" b="1" dirty="0">
                        <a:solidFill>
                          <a:schemeClr val="tx1"/>
                        </a:solidFill>
                        <a:latin typeface="Futura Std Book" panose="020B0502020204020303"/>
                      </a:endParaRPr>
                    </a:p>
                  </a:txBody>
                  <a:tcPr/>
                </a:tc>
                <a:extLst>
                  <a:ext uri="{0D108BD9-81ED-4DB2-BD59-A6C34878D82A}">
                    <a16:rowId xmlns:a16="http://schemas.microsoft.com/office/drawing/2014/main" val="1585852196"/>
                  </a:ext>
                </a:extLst>
              </a:tr>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dirty="0"/>
                        <a:t>Other budgetary items which are not provided in the FY 2026 NEP but covers the following: </a:t>
                      </a:r>
                    </a:p>
                    <a:p>
                      <a:pPr marL="688975" marR="0" lvl="0" indent="-403225"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3000" b="0" dirty="0"/>
                        <a:t>Reasonable costs needed to ensure the operation of newly-completed facilities and camps/bases, and </a:t>
                      </a:r>
                      <a:r>
                        <a:rPr lang="en-US" sz="3000" b="1" dirty="0"/>
                        <a:t>newly-established campuses created/recognized by law</a:t>
                      </a:r>
                      <a:r>
                        <a:rPr lang="en-US" sz="3000" b="0" dirty="0"/>
                        <a:t>, as of December 2025 but not provided in the FY 2026 budget; and </a:t>
                      </a:r>
                    </a:p>
                    <a:p>
                      <a:pPr marL="688975" marR="0" lvl="0" indent="-403225"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3000" b="0" dirty="0"/>
                        <a:t>Office accommodation and equipment costs for newly-approved filled positions </a:t>
                      </a:r>
                      <a:endParaRPr lang="en-US" sz="3000" b="0" dirty="0">
                        <a:solidFill>
                          <a:schemeClr val="tx1"/>
                        </a:solidFill>
                        <a:latin typeface="Futura Std Book" panose="020B0502020204020303"/>
                      </a:endParaRPr>
                    </a:p>
                  </a:txBody>
                  <a:tcPr/>
                </a:tc>
                <a:extLst>
                  <a:ext uri="{0D108BD9-81ED-4DB2-BD59-A6C34878D82A}">
                    <a16:rowId xmlns:a16="http://schemas.microsoft.com/office/drawing/2014/main" val="719286814"/>
                  </a:ext>
                </a:extLst>
              </a:tr>
            </a:tbl>
          </a:graphicData>
        </a:graphic>
      </p:graphicFrame>
    </p:spTree>
    <p:extLst>
      <p:ext uri="{BB962C8B-B14F-4D97-AF65-F5344CB8AC3E}">
        <p14:creationId xmlns:p14="http://schemas.microsoft.com/office/powerpoint/2010/main" val="325296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D348B-C3EC-5850-7901-A2BCCF247B45}"/>
            </a:ext>
          </a:extLst>
        </p:cNvPr>
        <p:cNvGrpSpPr/>
        <p:nvPr/>
      </p:nvGrpSpPr>
      <p:grpSpPr>
        <a:xfrm>
          <a:off x="0" y="0"/>
          <a:ext cx="0" cy="0"/>
          <a:chOff x="0" y="0"/>
          <a:chExt cx="0" cy="0"/>
        </a:xfrm>
      </p:grpSpPr>
      <p:graphicFrame>
        <p:nvGraphicFramePr>
          <p:cNvPr id="4" name="Content Placeholder 6">
            <a:extLst>
              <a:ext uri="{FF2B5EF4-FFF2-40B4-BE49-F238E27FC236}">
                <a16:creationId xmlns:a16="http://schemas.microsoft.com/office/drawing/2014/main" id="{E9246028-BECE-FF81-2E36-40E359B20EC6}"/>
              </a:ext>
            </a:extLst>
          </p:cNvPr>
          <p:cNvGraphicFramePr>
            <a:graphicFrameLocks/>
          </p:cNvGraphicFramePr>
          <p:nvPr>
            <p:extLst>
              <p:ext uri="{D42A27DB-BD31-4B8C-83A1-F6EECF244321}">
                <p14:modId xmlns:p14="http://schemas.microsoft.com/office/powerpoint/2010/main" val="4245768739"/>
              </p:ext>
            </p:extLst>
          </p:nvPr>
        </p:nvGraphicFramePr>
        <p:xfrm>
          <a:off x="813073" y="1201158"/>
          <a:ext cx="10565852" cy="3291840"/>
        </p:xfrm>
        <a:graphic>
          <a:graphicData uri="http://schemas.openxmlformats.org/drawingml/2006/table">
            <a:tbl>
              <a:tblPr firstRow="1" bandRow="1">
                <a:tableStyleId>{5DA37D80-6434-44D0-A028-1B22A696006F}</a:tableStyleId>
              </a:tblPr>
              <a:tblGrid>
                <a:gridCol w="10565852">
                  <a:extLst>
                    <a:ext uri="{9D8B030D-6E8A-4147-A177-3AD203B41FA5}">
                      <a16:colId xmlns:a16="http://schemas.microsoft.com/office/drawing/2014/main" val="1145802900"/>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dirty="0"/>
                        <a:t>Budget requirements for the ongoing implementation of the FHE for SUCs and the CHED, in the case of LUCs, and </a:t>
                      </a:r>
                      <a:r>
                        <a:rPr lang="en-US" sz="3000" b="1" dirty="0"/>
                        <a:t>Free Technical-Vocational Education and Training (TVET), in the case of state-run Technical-Vocational Institutions under the Technical Education and Skills Development Authority (TESDA)</a:t>
                      </a:r>
                      <a:r>
                        <a:rPr lang="en-US" sz="3000" b="0" dirty="0"/>
                        <a:t>, based on the projected number of enrollees for the academic year.</a:t>
                      </a:r>
                      <a:endParaRPr lang="en-US" sz="3000" b="0" dirty="0">
                        <a:solidFill>
                          <a:schemeClr val="tx1"/>
                        </a:solidFill>
                        <a:latin typeface="Futura Std Book" panose="020B0502020204020303"/>
                      </a:endParaRPr>
                    </a:p>
                  </a:txBody>
                  <a:tcPr/>
                </a:tc>
                <a:extLst>
                  <a:ext uri="{0D108BD9-81ED-4DB2-BD59-A6C34878D82A}">
                    <a16:rowId xmlns:a16="http://schemas.microsoft.com/office/drawing/2014/main" val="1549814348"/>
                  </a:ext>
                </a:extLst>
              </a:tr>
            </a:tbl>
          </a:graphicData>
        </a:graphic>
      </p:graphicFrame>
      <p:sp>
        <p:nvSpPr>
          <p:cNvPr id="6" name="Title 1">
            <a:extLst>
              <a:ext uri="{FF2B5EF4-FFF2-40B4-BE49-F238E27FC236}">
                <a16:creationId xmlns:a16="http://schemas.microsoft.com/office/drawing/2014/main" id="{2B5FD99A-EAFC-FA77-C9D8-03AD70281F4B}"/>
              </a:ext>
            </a:extLst>
          </p:cNvPr>
          <p:cNvSpPr txBox="1">
            <a:spLocks/>
          </p:cNvSpPr>
          <p:nvPr/>
        </p:nvSpPr>
        <p:spPr>
          <a:xfrm>
            <a:off x="4018226" y="279027"/>
            <a:ext cx="41555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1 - MOOE</a:t>
            </a:r>
          </a:p>
        </p:txBody>
      </p:sp>
    </p:spTree>
    <p:extLst>
      <p:ext uri="{BB962C8B-B14F-4D97-AF65-F5344CB8AC3E}">
        <p14:creationId xmlns:p14="http://schemas.microsoft.com/office/powerpoint/2010/main" val="1584540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0223D-CB14-7505-963E-6714EF34E25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C6C7BA5-9D82-CFFA-B780-20CF3CF22421}"/>
              </a:ext>
            </a:extLst>
          </p:cNvPr>
          <p:cNvSpPr txBox="1">
            <a:spLocks/>
          </p:cNvSpPr>
          <p:nvPr/>
        </p:nvSpPr>
        <p:spPr>
          <a:xfrm>
            <a:off x="4018224" y="197150"/>
            <a:ext cx="4155545" cy="51722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1 - CO</a:t>
            </a:r>
          </a:p>
        </p:txBody>
      </p:sp>
      <p:graphicFrame>
        <p:nvGraphicFramePr>
          <p:cNvPr id="2" name="Content Placeholder 6">
            <a:extLst>
              <a:ext uri="{FF2B5EF4-FFF2-40B4-BE49-F238E27FC236}">
                <a16:creationId xmlns:a16="http://schemas.microsoft.com/office/drawing/2014/main" id="{D3106B2D-E0EA-4ED6-3DA3-72E269E3186A}"/>
              </a:ext>
            </a:extLst>
          </p:cNvPr>
          <p:cNvGraphicFramePr>
            <a:graphicFrameLocks/>
          </p:cNvGraphicFramePr>
          <p:nvPr>
            <p:extLst>
              <p:ext uri="{D42A27DB-BD31-4B8C-83A1-F6EECF244321}">
                <p14:modId xmlns:p14="http://schemas.microsoft.com/office/powerpoint/2010/main" val="361979893"/>
              </p:ext>
            </p:extLst>
          </p:nvPr>
        </p:nvGraphicFramePr>
        <p:xfrm>
          <a:off x="589429" y="714375"/>
          <a:ext cx="11013141" cy="5652587"/>
        </p:xfrm>
        <a:graphic>
          <a:graphicData uri="http://schemas.openxmlformats.org/drawingml/2006/table">
            <a:tbl>
              <a:tblPr firstRow="1" bandRow="1">
                <a:tableStyleId>{5DA37D80-6434-44D0-A028-1B22A696006F}</a:tableStyleId>
              </a:tblPr>
              <a:tblGrid>
                <a:gridCol w="11013141">
                  <a:extLst>
                    <a:ext uri="{9D8B030D-6E8A-4147-A177-3AD203B41FA5}">
                      <a16:colId xmlns:a16="http://schemas.microsoft.com/office/drawing/2014/main" val="1145802900"/>
                    </a:ext>
                  </a:extLst>
                </a:gridCol>
              </a:tblGrid>
              <a:tr h="2890881">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0" dirty="0"/>
                        <a:t>Replacement of motor vehicles for the same purpose and/or intended user that will reach their end-of productive/useful/economic life by FY 2027 per DBM-established guidelines, supported with an updated motor vehicle inventory and re-fleeting program, as well as proof of disposal of retired assets if applicable.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b="0" dirty="0">
                          <a:solidFill>
                            <a:srgbClr val="FF0000"/>
                          </a:solidFill>
                        </a:rPr>
                        <a:t>Said vehicles shall be replaced with electric vehicles when available in the market and/or in the locality pursuant to the Electric Vehicle Industry Development and the CREVI.</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dirty="0"/>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dirty="0">
                          <a:solidFill>
                            <a:srgbClr val="FF0000"/>
                          </a:solidFill>
                        </a:rPr>
                        <a:t>Vehicles used in the exercise of executive functions of officials shall be prioritized as much as possible in the replacement with electric vehicles.</a:t>
                      </a:r>
                    </a:p>
                  </a:txBody>
                  <a:tcPr/>
                </a:tc>
                <a:extLst>
                  <a:ext uri="{0D108BD9-81ED-4DB2-BD59-A6C34878D82A}">
                    <a16:rowId xmlns:a16="http://schemas.microsoft.com/office/drawing/2014/main" val="350048458"/>
                  </a:ext>
                </a:extLst>
              </a:tr>
              <a:tr h="1492067">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b="0" dirty="0"/>
                        <a:t>Replacement of unserviceable Equipment, Furniture and Fixtures, supported with an inventory of equipment, market study, proof of disposal and indicative annual procurement plan</a:t>
                      </a:r>
                      <a:endParaRPr lang="en-US" sz="3000" b="0" dirty="0">
                        <a:solidFill>
                          <a:schemeClr val="tx1"/>
                        </a:solidFill>
                        <a:latin typeface="Futura Std Book" panose="020B0502020204020303"/>
                      </a:endParaRPr>
                    </a:p>
                  </a:txBody>
                  <a:tcPr/>
                </a:tc>
                <a:extLst>
                  <a:ext uri="{0D108BD9-81ED-4DB2-BD59-A6C34878D82A}">
                    <a16:rowId xmlns:a16="http://schemas.microsoft.com/office/drawing/2014/main" val="1742905831"/>
                  </a:ext>
                </a:extLst>
              </a:tr>
            </a:tbl>
          </a:graphicData>
        </a:graphic>
      </p:graphicFrame>
    </p:spTree>
    <p:extLst>
      <p:ext uri="{BB962C8B-B14F-4D97-AF65-F5344CB8AC3E}">
        <p14:creationId xmlns:p14="http://schemas.microsoft.com/office/powerpoint/2010/main" val="3121470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088A6-5881-B407-FD1B-379CD012D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E33A9-DBDF-1FF9-029C-58CAF2BA65A4}"/>
              </a:ext>
            </a:extLst>
          </p:cNvPr>
          <p:cNvSpPr>
            <a:spLocks noGrp="1"/>
          </p:cNvSpPr>
          <p:nvPr>
            <p:ph type="title"/>
          </p:nvPr>
        </p:nvSpPr>
        <p:spPr>
          <a:xfrm>
            <a:off x="2105946" y="1611460"/>
            <a:ext cx="7980106" cy="828675"/>
          </a:xfrm>
        </p:spPr>
        <p:txBody>
          <a:bodyPr/>
          <a:lstStyle/>
          <a:p>
            <a:pPr algn="ctr"/>
            <a:r>
              <a:rPr lang="en-US" b="1" dirty="0">
                <a:solidFill>
                  <a:schemeClr val="tx1"/>
                </a:solidFill>
              </a:rPr>
              <a:t>TIER 2</a:t>
            </a:r>
          </a:p>
        </p:txBody>
      </p:sp>
      <p:sp>
        <p:nvSpPr>
          <p:cNvPr id="3" name="Text Placeholder 2">
            <a:extLst>
              <a:ext uri="{FF2B5EF4-FFF2-40B4-BE49-F238E27FC236}">
                <a16:creationId xmlns:a16="http://schemas.microsoft.com/office/drawing/2014/main" id="{5E205576-342F-1126-7AD6-2F590CAD90D4}"/>
              </a:ext>
            </a:extLst>
          </p:cNvPr>
          <p:cNvSpPr>
            <a:spLocks noGrp="1"/>
          </p:cNvSpPr>
          <p:nvPr>
            <p:ph type="body" idx="1"/>
          </p:nvPr>
        </p:nvSpPr>
        <p:spPr>
          <a:xfrm>
            <a:off x="2022371" y="2556063"/>
            <a:ext cx="8147255" cy="361949"/>
          </a:xfrm>
        </p:spPr>
        <p:txBody>
          <a:bodyPr/>
          <a:lstStyle/>
          <a:p>
            <a:pPr algn="ctr"/>
            <a:r>
              <a:rPr lang="en-US" sz="3600" b="1" dirty="0">
                <a:solidFill>
                  <a:schemeClr val="tx1"/>
                </a:solidFill>
                <a:latin typeface="Futura Std Book"/>
              </a:rPr>
              <a:t>MOOE and CO</a:t>
            </a:r>
          </a:p>
        </p:txBody>
      </p:sp>
    </p:spTree>
    <p:extLst>
      <p:ext uri="{BB962C8B-B14F-4D97-AF65-F5344CB8AC3E}">
        <p14:creationId xmlns:p14="http://schemas.microsoft.com/office/powerpoint/2010/main" val="3824702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02DBF-E3D3-B863-AB03-2DE2968F939B}"/>
            </a:ext>
          </a:extLst>
        </p:cNvPr>
        <p:cNvGrpSpPr/>
        <p:nvPr/>
      </p:nvGrpSpPr>
      <p:grpSpPr>
        <a:xfrm>
          <a:off x="0" y="0"/>
          <a:ext cx="0" cy="0"/>
          <a:chOff x="0" y="0"/>
          <a:chExt cx="0" cy="0"/>
        </a:xfrm>
      </p:grpSpPr>
      <p:graphicFrame>
        <p:nvGraphicFramePr>
          <p:cNvPr id="6" name="Content Placeholder 6">
            <a:extLst>
              <a:ext uri="{FF2B5EF4-FFF2-40B4-BE49-F238E27FC236}">
                <a16:creationId xmlns:a16="http://schemas.microsoft.com/office/drawing/2014/main" id="{3F4E611C-E00C-DEAB-AF5C-9C4B212C689D}"/>
              </a:ext>
            </a:extLst>
          </p:cNvPr>
          <p:cNvGraphicFramePr>
            <a:graphicFrameLocks/>
          </p:cNvGraphicFramePr>
          <p:nvPr>
            <p:extLst>
              <p:ext uri="{D42A27DB-BD31-4B8C-83A1-F6EECF244321}">
                <p14:modId xmlns:p14="http://schemas.microsoft.com/office/powerpoint/2010/main" val="3440513381"/>
              </p:ext>
            </p:extLst>
          </p:nvPr>
        </p:nvGraphicFramePr>
        <p:xfrm>
          <a:off x="1032647" y="1591123"/>
          <a:ext cx="10126703" cy="2377440"/>
        </p:xfrm>
        <a:graphic>
          <a:graphicData uri="http://schemas.openxmlformats.org/drawingml/2006/table">
            <a:tbl>
              <a:tblPr firstRow="1" bandRow="1">
                <a:tableStyleId>{5DA37D80-6434-44D0-A028-1B22A696006F}</a:tableStyleId>
              </a:tblPr>
              <a:tblGrid>
                <a:gridCol w="10126703">
                  <a:extLst>
                    <a:ext uri="{9D8B030D-6E8A-4147-A177-3AD203B41FA5}">
                      <a16:colId xmlns:a16="http://schemas.microsoft.com/office/drawing/2014/main" val="1145802900"/>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000" dirty="0"/>
                        <a:t>For government agencies covered by R.A. No. 12231 or the Government Optimization Act, resources required for the conduct of organizational review and study and preparation of Optimization Plan as requisites for optimization.</a:t>
                      </a:r>
                      <a:endParaRPr lang="en-US" sz="3000" b="0" dirty="0">
                        <a:solidFill>
                          <a:schemeClr val="tx1"/>
                        </a:solidFill>
                        <a:latin typeface="Futura Std Book" panose="020B0502020204020303"/>
                      </a:endParaRPr>
                    </a:p>
                  </a:txBody>
                  <a:tcPr/>
                </a:tc>
                <a:extLst>
                  <a:ext uri="{0D108BD9-81ED-4DB2-BD59-A6C34878D82A}">
                    <a16:rowId xmlns:a16="http://schemas.microsoft.com/office/drawing/2014/main" val="518811689"/>
                  </a:ext>
                </a:extLst>
              </a:tr>
            </a:tbl>
          </a:graphicData>
        </a:graphic>
      </p:graphicFrame>
      <p:sp>
        <p:nvSpPr>
          <p:cNvPr id="7" name="Title 1">
            <a:extLst>
              <a:ext uri="{FF2B5EF4-FFF2-40B4-BE49-F238E27FC236}">
                <a16:creationId xmlns:a16="http://schemas.microsoft.com/office/drawing/2014/main" id="{C91A15F4-AA58-6B31-76CD-096ADB30BCA5}"/>
              </a:ext>
            </a:extLst>
          </p:cNvPr>
          <p:cNvSpPr txBox="1">
            <a:spLocks/>
          </p:cNvSpPr>
          <p:nvPr/>
        </p:nvSpPr>
        <p:spPr>
          <a:xfrm>
            <a:off x="3713425" y="420953"/>
            <a:ext cx="47651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2 - MOOE</a:t>
            </a:r>
          </a:p>
        </p:txBody>
      </p:sp>
    </p:spTree>
    <p:extLst>
      <p:ext uri="{BB962C8B-B14F-4D97-AF65-F5344CB8AC3E}">
        <p14:creationId xmlns:p14="http://schemas.microsoft.com/office/powerpoint/2010/main" val="95742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61E14-C612-EBAA-4A99-A6DC547578E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F26D54F-F3CA-0C56-5F2D-D4A302A6CE8A}"/>
              </a:ext>
            </a:extLst>
          </p:cNvPr>
          <p:cNvSpPr txBox="1">
            <a:spLocks/>
          </p:cNvSpPr>
          <p:nvPr/>
        </p:nvSpPr>
        <p:spPr>
          <a:xfrm>
            <a:off x="3713426" y="368529"/>
            <a:ext cx="4765145"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TIER 2 - CO</a:t>
            </a:r>
          </a:p>
        </p:txBody>
      </p:sp>
      <p:graphicFrame>
        <p:nvGraphicFramePr>
          <p:cNvPr id="2" name="Content Placeholder 6">
            <a:extLst>
              <a:ext uri="{FF2B5EF4-FFF2-40B4-BE49-F238E27FC236}">
                <a16:creationId xmlns:a16="http://schemas.microsoft.com/office/drawing/2014/main" id="{78FC31B8-962F-7A02-7BEF-99C8514681DC}"/>
              </a:ext>
            </a:extLst>
          </p:cNvPr>
          <p:cNvGraphicFramePr>
            <a:graphicFrameLocks/>
          </p:cNvGraphicFramePr>
          <p:nvPr>
            <p:extLst>
              <p:ext uri="{D42A27DB-BD31-4B8C-83A1-F6EECF244321}">
                <p14:modId xmlns:p14="http://schemas.microsoft.com/office/powerpoint/2010/main" val="2092782139"/>
              </p:ext>
            </p:extLst>
          </p:nvPr>
        </p:nvGraphicFramePr>
        <p:xfrm>
          <a:off x="1088121" y="1347052"/>
          <a:ext cx="10015756" cy="3657600"/>
        </p:xfrm>
        <a:graphic>
          <a:graphicData uri="http://schemas.openxmlformats.org/drawingml/2006/table">
            <a:tbl>
              <a:tblPr firstRow="1" bandRow="1">
                <a:tableStyleId>{5DA37D80-6434-44D0-A028-1B22A696006F}</a:tableStyleId>
              </a:tblPr>
              <a:tblGrid>
                <a:gridCol w="10015756">
                  <a:extLst>
                    <a:ext uri="{9D8B030D-6E8A-4147-A177-3AD203B41FA5}">
                      <a16:colId xmlns:a16="http://schemas.microsoft.com/office/drawing/2014/main" val="1145802900"/>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dirty="0"/>
                        <a:t>Proposed requirement for the purchase of electric vehicles, when available in the market and/or in the locality, for additional/newly-entitled officials and/or functions of a newly-created agency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800" b="0" dirty="0"/>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b="1" dirty="0"/>
                    </a:p>
                    <a:p>
                      <a:pPr marL="288925"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1" dirty="0"/>
                        <a:t>Vehicles used in the exercise of executive functions of officials shall be prioritized as much as possible in the purchase of electric vehicles </a:t>
                      </a:r>
                      <a:endParaRPr lang="en-US" sz="2800" b="1" dirty="0">
                        <a:solidFill>
                          <a:schemeClr val="tx1"/>
                        </a:solidFill>
                        <a:latin typeface="Futura Std Book" panose="020B0502020204020303"/>
                      </a:endParaRPr>
                    </a:p>
                  </a:txBody>
                  <a:tcPr/>
                </a:tc>
                <a:extLst>
                  <a:ext uri="{0D108BD9-81ED-4DB2-BD59-A6C34878D82A}">
                    <a16:rowId xmlns:a16="http://schemas.microsoft.com/office/drawing/2014/main" val="274792856"/>
                  </a:ext>
                </a:extLst>
              </a:tr>
            </a:tbl>
          </a:graphicData>
        </a:graphic>
      </p:graphicFrame>
    </p:spTree>
    <p:extLst>
      <p:ext uri="{BB962C8B-B14F-4D97-AF65-F5344CB8AC3E}">
        <p14:creationId xmlns:p14="http://schemas.microsoft.com/office/powerpoint/2010/main" val="2710297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2678-CE4E-E89F-7DB7-65186E276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2C853-5519-9130-A810-C4D4077DFF99}"/>
              </a:ext>
            </a:extLst>
          </p:cNvPr>
          <p:cNvSpPr>
            <a:spLocks noGrp="1"/>
          </p:cNvSpPr>
          <p:nvPr>
            <p:ph type="title"/>
          </p:nvPr>
        </p:nvSpPr>
        <p:spPr>
          <a:xfrm>
            <a:off x="2105946" y="1611460"/>
            <a:ext cx="7980106" cy="828675"/>
          </a:xfrm>
        </p:spPr>
        <p:txBody>
          <a:bodyPr/>
          <a:lstStyle/>
          <a:p>
            <a:pPr algn="ctr"/>
            <a:r>
              <a:rPr lang="en-US" b="1" dirty="0">
                <a:solidFill>
                  <a:schemeClr val="tx1"/>
                </a:solidFill>
              </a:rPr>
              <a:t>TIER 1 &amp; TIER 2</a:t>
            </a:r>
          </a:p>
        </p:txBody>
      </p:sp>
      <p:sp>
        <p:nvSpPr>
          <p:cNvPr id="3" name="Text Placeholder 2">
            <a:extLst>
              <a:ext uri="{FF2B5EF4-FFF2-40B4-BE49-F238E27FC236}">
                <a16:creationId xmlns:a16="http://schemas.microsoft.com/office/drawing/2014/main" id="{CAB6FC04-A26A-789A-3811-B293C7FAF799}"/>
              </a:ext>
            </a:extLst>
          </p:cNvPr>
          <p:cNvSpPr>
            <a:spLocks noGrp="1"/>
          </p:cNvSpPr>
          <p:nvPr>
            <p:ph type="body" idx="1"/>
          </p:nvPr>
        </p:nvSpPr>
        <p:spPr>
          <a:xfrm>
            <a:off x="2022371" y="2556063"/>
            <a:ext cx="8147255" cy="361949"/>
          </a:xfrm>
        </p:spPr>
        <p:txBody>
          <a:bodyPr/>
          <a:lstStyle/>
          <a:p>
            <a:pPr algn="ctr"/>
            <a:r>
              <a:rPr lang="en-US" sz="3600" b="1" dirty="0">
                <a:solidFill>
                  <a:schemeClr val="tx1"/>
                </a:solidFill>
                <a:latin typeface="Futura Std Book"/>
              </a:rPr>
              <a:t>PS, MOOE, and CO</a:t>
            </a:r>
          </a:p>
        </p:txBody>
      </p:sp>
    </p:spTree>
    <p:extLst>
      <p:ext uri="{BB962C8B-B14F-4D97-AF65-F5344CB8AC3E}">
        <p14:creationId xmlns:p14="http://schemas.microsoft.com/office/powerpoint/2010/main" val="751839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CA5AC-6929-220A-AE4F-62E59EB04DC7}"/>
            </a:ext>
          </a:extLst>
        </p:cNvPr>
        <p:cNvGrpSpPr/>
        <p:nvPr/>
      </p:nvGrpSpPr>
      <p:grpSpPr>
        <a:xfrm>
          <a:off x="0" y="0"/>
          <a:ext cx="0" cy="0"/>
          <a:chOff x="0" y="0"/>
          <a:chExt cx="0" cy="0"/>
        </a:xfrm>
      </p:grpSpPr>
      <p:graphicFrame>
        <p:nvGraphicFramePr>
          <p:cNvPr id="2" name="Content Placeholder 6">
            <a:extLst>
              <a:ext uri="{FF2B5EF4-FFF2-40B4-BE49-F238E27FC236}">
                <a16:creationId xmlns:a16="http://schemas.microsoft.com/office/drawing/2014/main" id="{D9B0990C-80B9-66FF-8675-847A11B53724}"/>
              </a:ext>
            </a:extLst>
          </p:cNvPr>
          <p:cNvGraphicFramePr>
            <a:graphicFrameLocks/>
          </p:cNvGraphicFramePr>
          <p:nvPr>
            <p:extLst>
              <p:ext uri="{D42A27DB-BD31-4B8C-83A1-F6EECF244321}">
                <p14:modId xmlns:p14="http://schemas.microsoft.com/office/powerpoint/2010/main" val="4243619822"/>
              </p:ext>
            </p:extLst>
          </p:nvPr>
        </p:nvGraphicFramePr>
        <p:xfrm>
          <a:off x="510989" y="1511278"/>
          <a:ext cx="11170022" cy="4450080"/>
        </p:xfrm>
        <a:graphic>
          <a:graphicData uri="http://schemas.openxmlformats.org/drawingml/2006/table">
            <a:tbl>
              <a:tblPr firstRow="1" bandRow="1">
                <a:tableStyleId>{5DA37D80-6434-44D0-A028-1B22A696006F}</a:tableStyleId>
              </a:tblPr>
              <a:tblGrid>
                <a:gridCol w="11170022">
                  <a:extLst>
                    <a:ext uri="{9D8B030D-6E8A-4147-A177-3AD203B41FA5}">
                      <a16:colId xmlns:a16="http://schemas.microsoft.com/office/drawing/2014/main" val="1145802900"/>
                    </a:ext>
                  </a:extLst>
                </a:gridCol>
              </a:tblGrid>
              <a:tr h="1975455">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0" dirty="0"/>
                        <a:t>Funding requirements for eligible P/A/Ps, consistent with the agency's mandate under its applicable law, to be charged against the fund balances of the SAGF as of December 31, 2025* less FY 2026 estimated expenditures. Any additional funding requests that cannot be covered by said balances may be considered under the new general appropriations subject to existing budgeting policies, and guidelines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b="1"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dirty="0">
                          <a:solidFill>
                            <a:schemeClr val="tx1"/>
                          </a:solidFill>
                        </a:rPr>
                        <a:t>*</a:t>
                      </a:r>
                      <a:r>
                        <a:rPr lang="en-US" sz="2400" b="0" dirty="0"/>
                        <a:t>shall be equivalent to the fund balance as of December 31, 2024 plus 2025 actual remitted collections as certified by the </a:t>
                      </a:r>
                      <a:r>
                        <a:rPr lang="en-US" sz="2400" b="0" dirty="0" err="1"/>
                        <a:t>BTr</a:t>
                      </a:r>
                      <a:r>
                        <a:rPr lang="en-US" sz="2400" b="0" dirty="0"/>
                        <a:t>, less 2025 actual obligations.</a:t>
                      </a:r>
                      <a:endParaRPr lang="en-US" sz="2400" b="0" dirty="0">
                        <a:solidFill>
                          <a:schemeClr val="tx1"/>
                        </a:solidFill>
                      </a:endParaRPr>
                    </a:p>
                  </a:txBody>
                  <a:tcPr/>
                </a:tc>
                <a:extLst>
                  <a:ext uri="{0D108BD9-81ED-4DB2-BD59-A6C34878D82A}">
                    <a16:rowId xmlns:a16="http://schemas.microsoft.com/office/drawing/2014/main" val="1549814348"/>
                  </a:ext>
                </a:extLst>
              </a:tr>
            </a:tbl>
          </a:graphicData>
        </a:graphic>
      </p:graphicFrame>
      <p:sp>
        <p:nvSpPr>
          <p:cNvPr id="6" name="Title 1">
            <a:extLst>
              <a:ext uri="{FF2B5EF4-FFF2-40B4-BE49-F238E27FC236}">
                <a16:creationId xmlns:a16="http://schemas.microsoft.com/office/drawing/2014/main" id="{894D6188-EC53-ED50-0D78-8D66A386DEE9}"/>
              </a:ext>
            </a:extLst>
          </p:cNvPr>
          <p:cNvSpPr txBox="1">
            <a:spLocks/>
          </p:cNvSpPr>
          <p:nvPr/>
        </p:nvSpPr>
        <p:spPr>
          <a:xfrm>
            <a:off x="434789" y="180270"/>
            <a:ext cx="11322422"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New Provision for PS, MOOE, and CO</a:t>
            </a:r>
          </a:p>
          <a:p>
            <a:pPr algn="ctr">
              <a:spcAft>
                <a:spcPts val="600"/>
              </a:spcAft>
            </a:pPr>
            <a:r>
              <a:rPr lang="en-US" b="1" dirty="0">
                <a:solidFill>
                  <a:schemeClr val="tx1"/>
                </a:solidFill>
                <a:latin typeface="Futura Std Book"/>
                <a:ea typeface="Times New Roman" panose="02020603050405020304" pitchFamily="18" charset="0"/>
              </a:rPr>
              <a:t>(Tier 1 &amp; Tier 2)</a:t>
            </a:r>
          </a:p>
        </p:txBody>
      </p:sp>
    </p:spTree>
    <p:extLst>
      <p:ext uri="{BB962C8B-B14F-4D97-AF65-F5344CB8AC3E}">
        <p14:creationId xmlns:p14="http://schemas.microsoft.com/office/powerpoint/2010/main" val="71240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FDAA4-B104-0819-8FF5-AF3E429E60C3}"/>
            </a:ext>
          </a:extLst>
        </p:cNvPr>
        <p:cNvGrpSpPr/>
        <p:nvPr/>
      </p:nvGrpSpPr>
      <p:grpSpPr>
        <a:xfrm>
          <a:off x="0" y="0"/>
          <a:ext cx="0" cy="0"/>
          <a:chOff x="0" y="0"/>
          <a:chExt cx="0" cy="0"/>
        </a:xfrm>
      </p:grpSpPr>
      <p:graphicFrame>
        <p:nvGraphicFramePr>
          <p:cNvPr id="2" name="Content Placeholder 6">
            <a:extLst>
              <a:ext uri="{FF2B5EF4-FFF2-40B4-BE49-F238E27FC236}">
                <a16:creationId xmlns:a16="http://schemas.microsoft.com/office/drawing/2014/main" id="{F46A3C0A-CB7D-2812-F92A-1D8F9C5FB8FE}"/>
              </a:ext>
            </a:extLst>
          </p:cNvPr>
          <p:cNvGraphicFramePr>
            <a:graphicFrameLocks/>
          </p:cNvGraphicFramePr>
          <p:nvPr>
            <p:extLst>
              <p:ext uri="{D42A27DB-BD31-4B8C-83A1-F6EECF244321}">
                <p14:modId xmlns:p14="http://schemas.microsoft.com/office/powerpoint/2010/main" val="686594454"/>
              </p:ext>
            </p:extLst>
          </p:nvPr>
        </p:nvGraphicFramePr>
        <p:xfrm>
          <a:off x="434789" y="1659197"/>
          <a:ext cx="11170024" cy="4084320"/>
        </p:xfrm>
        <a:graphic>
          <a:graphicData uri="http://schemas.openxmlformats.org/drawingml/2006/table">
            <a:tbl>
              <a:tblPr firstRow="1" bandRow="1">
                <a:tableStyleId>{5DA37D80-6434-44D0-A028-1B22A696006F}</a:tableStyleId>
              </a:tblPr>
              <a:tblGrid>
                <a:gridCol w="1559858">
                  <a:extLst>
                    <a:ext uri="{9D8B030D-6E8A-4147-A177-3AD203B41FA5}">
                      <a16:colId xmlns:a16="http://schemas.microsoft.com/office/drawing/2014/main" val="1145802900"/>
                    </a:ext>
                  </a:extLst>
                </a:gridCol>
                <a:gridCol w="9610166">
                  <a:extLst>
                    <a:ext uri="{9D8B030D-6E8A-4147-A177-3AD203B41FA5}">
                      <a16:colId xmlns:a16="http://schemas.microsoft.com/office/drawing/2014/main" val="1116119231"/>
                    </a:ext>
                  </a:extLst>
                </a:gridCol>
              </a:tblGrid>
              <a:tr h="613927">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b="1" dirty="0">
                          <a:solidFill>
                            <a:schemeClr val="tx1"/>
                          </a:solidFill>
                        </a:rPr>
                        <a:t>ICT Provisions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1" dirty="0">
                          <a:solidFill>
                            <a:schemeClr val="tx1"/>
                          </a:solidFill>
                        </a:rPr>
                        <a:t>MOOE/CO</a:t>
                      </a:r>
                    </a:p>
                  </a:txBody>
                  <a:tcPr anchor="ctr"/>
                </a:tc>
                <a:extLst>
                  <a:ext uri="{0D108BD9-81ED-4DB2-BD59-A6C34878D82A}">
                    <a16:rowId xmlns:a16="http://schemas.microsoft.com/office/drawing/2014/main" val="1549814348"/>
                  </a:ext>
                </a:extLst>
              </a:tr>
              <a:tr h="104100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1" dirty="0">
                          <a:solidFill>
                            <a:schemeClr val="tx1"/>
                          </a:solidFill>
                        </a:rPr>
                        <a:t>Tier 1</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dirty="0"/>
                        <a:t>Ongoing ICT P/A/Ps supported by the [agency’s] </a:t>
                      </a:r>
                      <a:r>
                        <a:rPr lang="en-US" sz="3000" b="1" dirty="0"/>
                        <a:t>MITHI-endorsed ISSP</a:t>
                      </a:r>
                      <a:r>
                        <a:rPr lang="en-US" sz="3000" dirty="0"/>
                        <a:t>, consistent with the guidelines to be issued by the MSC</a:t>
                      </a:r>
                    </a:p>
                  </a:txBody>
                  <a:tcPr/>
                </a:tc>
                <a:extLst>
                  <a:ext uri="{0D108BD9-81ED-4DB2-BD59-A6C34878D82A}">
                    <a16:rowId xmlns:a16="http://schemas.microsoft.com/office/drawing/2014/main" val="2470494093"/>
                  </a:ext>
                </a:extLst>
              </a:tr>
              <a:tr h="120707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b="1" dirty="0">
                          <a:solidFill>
                            <a:schemeClr val="tx1"/>
                          </a:solidFill>
                        </a:rPr>
                        <a:t>Tier 2</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000" dirty="0"/>
                        <a:t>New/expanded ICT P/A/Ps </a:t>
                      </a:r>
                      <a:r>
                        <a:rPr lang="en-US" sz="3000" b="1" dirty="0"/>
                        <a:t>endorsed by the MSC and which are in accordance with the ISSP submission to MITHI</a:t>
                      </a:r>
                      <a:r>
                        <a:rPr lang="en-US" sz="3000" dirty="0"/>
                        <a:t>, consistent with the guidelines to be issued by the MSC.</a:t>
                      </a:r>
                    </a:p>
                  </a:txBody>
                  <a:tcPr/>
                </a:tc>
                <a:extLst>
                  <a:ext uri="{0D108BD9-81ED-4DB2-BD59-A6C34878D82A}">
                    <a16:rowId xmlns:a16="http://schemas.microsoft.com/office/drawing/2014/main" val="3626009721"/>
                  </a:ext>
                </a:extLst>
              </a:tr>
            </a:tbl>
          </a:graphicData>
        </a:graphic>
      </p:graphicFrame>
      <p:sp>
        <p:nvSpPr>
          <p:cNvPr id="6" name="Title 1">
            <a:extLst>
              <a:ext uri="{FF2B5EF4-FFF2-40B4-BE49-F238E27FC236}">
                <a16:creationId xmlns:a16="http://schemas.microsoft.com/office/drawing/2014/main" id="{98AEB818-0CAF-4EF2-344B-03A8EF6611D4}"/>
              </a:ext>
            </a:extLst>
          </p:cNvPr>
          <p:cNvSpPr txBox="1">
            <a:spLocks/>
          </p:cNvSpPr>
          <p:nvPr/>
        </p:nvSpPr>
        <p:spPr>
          <a:xfrm>
            <a:off x="434789" y="180270"/>
            <a:ext cx="11322422" cy="561975"/>
          </a:xfrm>
          <a:prstGeom prst="rect">
            <a:avLst/>
          </a:prstGeom>
        </p:spPr>
        <p:txBody>
          <a:bodyPr/>
          <a:lstStyle>
            <a:lvl1pPr algn="l" defTabSz="914400" rtl="0" eaLnBrk="1" latinLnBrk="0" hangingPunct="1">
              <a:lnSpc>
                <a:spcPct val="90000"/>
              </a:lnSpc>
              <a:spcBef>
                <a:spcPct val="0"/>
              </a:spcBef>
              <a:buNone/>
              <a:defRPr sz="4000" b="0" kern="1200">
                <a:solidFill>
                  <a:srgbClr val="AA8300"/>
                </a:solidFill>
                <a:latin typeface="Futura PT Bold" panose="020B0902020204020203" pitchFamily="34" charset="0"/>
                <a:ea typeface="+mj-ea"/>
                <a:cs typeface="Arial" panose="020B0604020202020204" pitchFamily="34" charset="0"/>
              </a:defRPr>
            </a:lvl1pPr>
          </a:lstStyle>
          <a:p>
            <a:pPr algn="ctr">
              <a:spcAft>
                <a:spcPts val="600"/>
              </a:spcAft>
            </a:pPr>
            <a:r>
              <a:rPr lang="en-US" b="1" dirty="0">
                <a:solidFill>
                  <a:schemeClr val="tx1"/>
                </a:solidFill>
                <a:latin typeface="Futura Std Book"/>
                <a:ea typeface="Times New Roman" panose="02020603050405020304" pitchFamily="18" charset="0"/>
              </a:rPr>
              <a:t>Updated provision for MOOE and/or CO</a:t>
            </a:r>
          </a:p>
          <a:p>
            <a:pPr algn="ctr">
              <a:spcAft>
                <a:spcPts val="600"/>
              </a:spcAft>
            </a:pPr>
            <a:r>
              <a:rPr lang="en-US" sz="3600" b="1" dirty="0">
                <a:solidFill>
                  <a:schemeClr val="tx1"/>
                </a:solidFill>
                <a:latin typeface="Futura Std Book"/>
                <a:ea typeface="Times New Roman" panose="02020603050405020304" pitchFamily="18" charset="0"/>
              </a:rPr>
              <a:t>(Tier 1 &amp; Tier 2)</a:t>
            </a:r>
          </a:p>
        </p:txBody>
      </p:sp>
    </p:spTree>
    <p:extLst>
      <p:ext uri="{BB962C8B-B14F-4D97-AF65-F5344CB8AC3E}">
        <p14:creationId xmlns:p14="http://schemas.microsoft.com/office/powerpoint/2010/main" val="2363736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5577C-DD1F-EB8A-9EE6-4E3A55A3FEA9}"/>
              </a:ext>
            </a:extLst>
          </p:cNvPr>
          <p:cNvSpPr>
            <a:spLocks noGrp="1"/>
          </p:cNvSpPr>
          <p:nvPr>
            <p:ph type="title"/>
          </p:nvPr>
        </p:nvSpPr>
        <p:spPr>
          <a:xfrm>
            <a:off x="983224" y="1251697"/>
            <a:ext cx="10515600" cy="4969809"/>
          </a:xfrm>
        </p:spPr>
        <p:txBody>
          <a:bodyPr/>
          <a:lstStyle/>
          <a:p>
            <a:r>
              <a:rPr lang="en-US" sz="3600" dirty="0">
                <a:solidFill>
                  <a:schemeClr val="tx1"/>
                </a:solidFill>
              </a:rPr>
              <a:t>Government budgeting does not simply end with the allocation of funds. It is grounded in transparency, carried out with responsibility, and fulfilled through accountability. </a:t>
            </a:r>
            <a:br>
              <a:rPr lang="en-US" sz="3600" dirty="0">
                <a:solidFill>
                  <a:schemeClr val="tx1"/>
                </a:solidFill>
              </a:rPr>
            </a:br>
            <a:br>
              <a:rPr lang="en-US" sz="3600" dirty="0">
                <a:solidFill>
                  <a:schemeClr val="tx1"/>
                </a:solidFill>
              </a:rPr>
            </a:br>
            <a:r>
              <a:rPr lang="en-US" sz="3600" dirty="0">
                <a:solidFill>
                  <a:schemeClr val="tx1"/>
                </a:solidFill>
              </a:rPr>
              <a:t>As public servants, it is a duty and a privilege – </a:t>
            </a:r>
            <a:r>
              <a:rPr lang="en-US" sz="3600" i="1" dirty="0" err="1">
                <a:solidFill>
                  <a:schemeClr val="tx1"/>
                </a:solidFill>
              </a:rPr>
              <a:t>isang</a:t>
            </a:r>
            <a:r>
              <a:rPr lang="en-US" sz="3600" i="1" dirty="0">
                <a:solidFill>
                  <a:schemeClr val="tx1"/>
                </a:solidFill>
              </a:rPr>
              <a:t> </a:t>
            </a:r>
            <a:r>
              <a:rPr lang="en-US" sz="3600" i="1" dirty="0" err="1">
                <a:solidFill>
                  <a:schemeClr val="tx1"/>
                </a:solidFill>
              </a:rPr>
              <a:t>pananagutan</a:t>
            </a:r>
            <a:r>
              <a:rPr lang="en-US" sz="3600" i="1" dirty="0">
                <a:solidFill>
                  <a:schemeClr val="tx1"/>
                </a:solidFill>
              </a:rPr>
              <a:t> at </a:t>
            </a:r>
            <a:r>
              <a:rPr lang="en-US" sz="3600" i="1" dirty="0" err="1">
                <a:solidFill>
                  <a:schemeClr val="tx1"/>
                </a:solidFill>
              </a:rPr>
              <a:t>isang</a:t>
            </a:r>
            <a:r>
              <a:rPr lang="en-US" sz="3600" i="1" dirty="0">
                <a:solidFill>
                  <a:schemeClr val="tx1"/>
                </a:solidFill>
              </a:rPr>
              <a:t> </a:t>
            </a:r>
            <a:r>
              <a:rPr lang="en-US" sz="3600" i="1" dirty="0" err="1">
                <a:solidFill>
                  <a:schemeClr val="tx1"/>
                </a:solidFill>
              </a:rPr>
              <a:t>karangalan</a:t>
            </a:r>
            <a:r>
              <a:rPr lang="en-US" sz="3600" i="1" dirty="0">
                <a:solidFill>
                  <a:schemeClr val="tx1"/>
                </a:solidFill>
              </a:rPr>
              <a:t> </a:t>
            </a:r>
            <a:r>
              <a:rPr lang="en-US" sz="3600" dirty="0">
                <a:solidFill>
                  <a:schemeClr val="tx1"/>
                </a:solidFill>
              </a:rPr>
              <a:t>– to serve the people and protect the public trust.</a:t>
            </a:r>
            <a:endParaRPr lang="en-PH" sz="3600" dirty="0">
              <a:solidFill>
                <a:schemeClr val="tx1"/>
              </a:solidFill>
            </a:endParaRPr>
          </a:p>
        </p:txBody>
      </p:sp>
    </p:spTree>
    <p:extLst>
      <p:ext uri="{BB962C8B-B14F-4D97-AF65-F5344CB8AC3E}">
        <p14:creationId xmlns:p14="http://schemas.microsoft.com/office/powerpoint/2010/main" val="4117529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377E0F-CE1E-802E-C7E5-BF7293F35E94}"/>
              </a:ext>
            </a:extLst>
          </p:cNvPr>
          <p:cNvSpPr txBox="1"/>
          <p:nvPr/>
        </p:nvSpPr>
        <p:spPr>
          <a:xfrm>
            <a:off x="4075254" y="2505670"/>
            <a:ext cx="4041491" cy="923330"/>
          </a:xfrm>
          <a:prstGeom prst="rect">
            <a:avLst/>
          </a:prstGeom>
          <a:noFill/>
        </p:spPr>
        <p:txBody>
          <a:bodyPr wrap="none" rtlCol="0">
            <a:spAutoFit/>
          </a:bodyPr>
          <a:lstStyle/>
          <a:p>
            <a:r>
              <a:rPr lang="en-US" sz="5400" b="1" dirty="0">
                <a:latin typeface="Tahoma" panose="020B0604030504040204" pitchFamily="34" charset="0"/>
                <a:ea typeface="Tahoma" panose="020B0604030504040204" pitchFamily="34" charset="0"/>
                <a:cs typeface="Tahoma" panose="020B0604030504040204" pitchFamily="34" charset="0"/>
              </a:rPr>
              <a:t>Thank you!</a:t>
            </a:r>
          </a:p>
        </p:txBody>
      </p:sp>
    </p:spTree>
    <p:extLst>
      <p:ext uri="{BB962C8B-B14F-4D97-AF65-F5344CB8AC3E}">
        <p14:creationId xmlns:p14="http://schemas.microsoft.com/office/powerpoint/2010/main" val="723108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7 Budget Fora Presentation Template" id="{B9F8EBEE-D870-4DE4-B0A5-F8FD4B714F5D}" vid="{F84E38C9-FA54-4E46-BA11-400EA3D35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2027 Budget Fora Presentation Template</Template>
  <TotalTime>7976</TotalTime>
  <Words>1247</Words>
  <Application>Microsoft Office PowerPoint</Application>
  <PresentationFormat>Widescreen</PresentationFormat>
  <Paragraphs>118</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Aptos</vt:lpstr>
      <vt:lpstr>Arial</vt:lpstr>
      <vt:lpstr>Courier New</vt:lpstr>
      <vt:lpstr>Futura LT Book</vt:lpstr>
      <vt:lpstr>Futura PT Bold</vt:lpstr>
      <vt:lpstr>Futura PT Demi</vt:lpstr>
      <vt:lpstr>Futura Std Book</vt:lpstr>
      <vt:lpstr>Tahoma</vt:lpstr>
      <vt:lpstr>Wingdings</vt:lpstr>
      <vt:lpstr>Office Theme</vt:lpstr>
      <vt:lpstr>Preparation of the FY 2027 Budget:</vt:lpstr>
      <vt:lpstr>Outline of Presentation</vt:lpstr>
      <vt:lpstr>Two-tier Budgeting Approach (2TBA) </vt:lpstr>
      <vt:lpstr>Forward Estimates </vt:lpstr>
      <vt:lpstr>Definition of Tier 1 and Tier 2 Proposals</vt:lpstr>
      <vt:lpstr> Composition of Tier 1 and 2 Proposals</vt:lpstr>
      <vt:lpstr>PowerPoint Presentation</vt:lpstr>
      <vt:lpstr>Updated and New Guidelines in the Formulation of  Tier 1 and Tier 2</vt:lpstr>
      <vt:lpstr>TIER 1</vt:lpstr>
      <vt:lpstr>PowerPoint Presentation</vt:lpstr>
      <vt:lpstr>PowerPoint Presentation</vt:lpstr>
      <vt:lpstr>PowerPoint Presentation</vt:lpstr>
      <vt:lpstr>PowerPoint Presentation</vt:lpstr>
      <vt:lpstr>PowerPoint Presentation</vt:lpstr>
      <vt:lpstr>TIER 2</vt:lpstr>
      <vt:lpstr>PowerPoint Presentation</vt:lpstr>
      <vt:lpstr>PowerPoint Presentation</vt:lpstr>
      <vt:lpstr>TIER 1 &amp; TIER 2</vt:lpstr>
      <vt:lpstr>PowerPoint Presentation</vt:lpstr>
      <vt:lpstr>PowerPoint Presentation</vt:lpstr>
      <vt:lpstr>Government budgeting does not simply end with the allocation of funds. It is grounded in transparency, carried out with responsibility, and fulfilled through accountability.   As public servants, it is a duty and a privilege – isang pananagutan at isang karangalan – to serve the people and protect the public trust.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Ma. Soraya E. Salvador</dc:creator>
  <cp:lastModifiedBy>Jon Marthin T. Teope</cp:lastModifiedBy>
  <cp:revision>58</cp:revision>
  <cp:lastPrinted>2026-01-24T07:19:54Z</cp:lastPrinted>
  <dcterms:created xsi:type="dcterms:W3CDTF">2025-12-15T07:45:48Z</dcterms:created>
  <dcterms:modified xsi:type="dcterms:W3CDTF">2026-01-28T08:42:46Z</dcterms:modified>
</cp:coreProperties>
</file>